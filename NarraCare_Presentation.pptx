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e598af2fd434f2a" /><Relationship Type="http://schemas.openxmlformats.org/officeDocument/2006/relationships/extended-properties" Target="/docProps/app.xml" Id="R152b56c3e68043ce" /><Relationship Type="http://schemas.openxmlformats.org/officeDocument/2006/relationships/officeDocument" Target="/ppt/presentation.xml" Id="R826cba5bf17848ee" /></Relationships>
</file>

<file path=ppt/presentation.xml><?xml version="1.0" encoding="utf-8"?>
<p:presentation xmlns:p="http://schemas.openxmlformats.org/presentationml/2006/main">
  <p:sldMasterIdLst>
    <p:sldMasterId xmlns:r="http://schemas.openxmlformats.org/officeDocument/2006/relationships" id="2147483648" r:id="R610305bbaf03487f"/>
  </p:sldMasterIdLst>
  <p:notesMasterIdLst>
    <p:notesMasterId xmlns:r="http://schemas.openxmlformats.org/officeDocument/2006/relationships" r:id="R6795859d667e4cbc"/>
  </p:notesMasterIdLst>
  <p:sldIdLst>
    <p:sldId xmlns:r="http://schemas.openxmlformats.org/officeDocument/2006/relationships" id="256" r:id="R7f1e51e104b84685"/>
    <p:sldId xmlns:r="http://schemas.openxmlformats.org/officeDocument/2006/relationships" id="257" r:id="Rabccc59a532546e5"/>
    <p:sldId xmlns:r="http://schemas.openxmlformats.org/officeDocument/2006/relationships" id="258" r:id="R5510919322a94ae7"/>
    <p:sldId xmlns:r="http://schemas.openxmlformats.org/officeDocument/2006/relationships" id="259" r:id="R9488cf5ec7234e5b"/>
    <p:sldId xmlns:r="http://schemas.openxmlformats.org/officeDocument/2006/relationships" id="260" r:id="R9990d7845b964c30"/>
    <p:sldId xmlns:r="http://schemas.openxmlformats.org/officeDocument/2006/relationships" id="261" r:id="Ra3333366ac5b492c"/>
    <p:sldId xmlns:r="http://schemas.openxmlformats.org/officeDocument/2006/relationships" id="262" r:id="R9f54a9e8248048fa"/>
    <p:sldId xmlns:r="http://schemas.openxmlformats.org/officeDocument/2006/relationships" id="263" r:id="R3f0d92adc681472b"/>
    <p:sldId xmlns:r="http://schemas.openxmlformats.org/officeDocument/2006/relationships" id="264" r:id="Rbf4fbba564394bc9"/>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6be989f839844f4" /><Relationship Type="http://schemas.openxmlformats.org/officeDocument/2006/relationships/slideMaster" Target="/ppt/slideMasters/slideMaster1.xml" Id="R610305bbaf03487f" /><Relationship Type="http://schemas.openxmlformats.org/officeDocument/2006/relationships/notesMaster" Target="/ppt/notesMasters/notesMaster1.xml" Id="R6795859d667e4cbc" /><Relationship Type="http://schemas.openxmlformats.org/officeDocument/2006/relationships/presProps" Target="/ppt/presProps.xml" Id="Rab41a03db3124131" /><Relationship Type="http://schemas.openxmlformats.org/officeDocument/2006/relationships/viewProps" Target="/ppt/viewProps.xml" Id="Rf504053fe1364d83" /><Relationship Type="http://schemas.openxmlformats.org/officeDocument/2006/relationships/tableStyles" Target="/ppt/tableStyles.xml" Id="R8a64ba6327b54edd" /><Relationship Type="http://schemas.openxmlformats.org/officeDocument/2006/relationships/slide" Target="/ppt/slides/slide1.xml" Id="R7f1e51e104b84685" /><Relationship Type="http://schemas.openxmlformats.org/officeDocument/2006/relationships/slide" Target="/ppt/slides/slide2.xml" Id="Rabccc59a532546e5" /><Relationship Type="http://schemas.openxmlformats.org/officeDocument/2006/relationships/slide" Target="/ppt/slides/slide3.xml" Id="R5510919322a94ae7" /><Relationship Type="http://schemas.openxmlformats.org/officeDocument/2006/relationships/slide" Target="/ppt/slides/slide4.xml" Id="R9488cf5ec7234e5b" /><Relationship Type="http://schemas.openxmlformats.org/officeDocument/2006/relationships/slide" Target="/ppt/slides/slide5.xml" Id="R9990d7845b964c30" /><Relationship Type="http://schemas.openxmlformats.org/officeDocument/2006/relationships/slide" Target="/ppt/slides/slide6.xml" Id="Ra3333366ac5b492c" /><Relationship Type="http://schemas.openxmlformats.org/officeDocument/2006/relationships/slide" Target="/ppt/slides/slide7.xml" Id="R9f54a9e8248048fa" /><Relationship Type="http://schemas.openxmlformats.org/officeDocument/2006/relationships/slide" Target="/ppt/slides/slide8.xml" Id="R3f0d92adc681472b" /><Relationship Type="http://schemas.openxmlformats.org/officeDocument/2006/relationships/slide" Target="/ppt/slides/slide9.xml" Id="Rbf4fbba564394b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854678a0f148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12b261ca36b4d5f" /><Relationship Type="http://schemas.openxmlformats.org/officeDocument/2006/relationships/notesMaster" Target="/ppt/notesMasters/notesMaster1.xml" Id="R2bdc3c5fb7d24a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b11e634dcb4b28" /><Relationship Type="http://schemas.openxmlformats.org/officeDocument/2006/relationships/notesMaster" Target="/ppt/notesMasters/notesMaster1.xml" Id="R78cf7ab8836240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1e4850ebfc4d01" /><Relationship Type="http://schemas.openxmlformats.org/officeDocument/2006/relationships/notesMaster" Target="/ppt/notesMasters/notesMaster1.xml" Id="Rae6e98eff9e741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c566e549ea249ee" /><Relationship Type="http://schemas.openxmlformats.org/officeDocument/2006/relationships/notesMaster" Target="/ppt/notesMasters/notesMaster1.xml" Id="R6f9167a453c04365"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00dd489f4f4dc3" /><Relationship Type="http://schemas.openxmlformats.org/officeDocument/2006/relationships/notesMaster" Target="/ppt/notesMasters/notesMaster1.xml" Id="Rcc2dbf35f8cc4f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ea5a1a338240d9" /><Relationship Type="http://schemas.openxmlformats.org/officeDocument/2006/relationships/notesMaster" Target="/ppt/notesMasters/notesMaster1.xml" Id="R52385d48ce5a42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d09103e5f94507" /><Relationship Type="http://schemas.openxmlformats.org/officeDocument/2006/relationships/notesMaster" Target="/ppt/notesMasters/notesMaster1.xml" Id="Ref26ca54baf94f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31f66ee98134566" /><Relationship Type="http://schemas.openxmlformats.org/officeDocument/2006/relationships/notesMaster" Target="/ppt/notesMasters/notesMaster1.xml" Id="R5518be4f8ef248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c52ea3f78246cd" /><Relationship Type="http://schemas.openxmlformats.org/officeDocument/2006/relationships/notesMaster" Target="/ppt/notesMasters/notesMaster1.xml" Id="Rbfaa7345625847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a:latin typeface="Arial Narrow"/>
                <a:ea typeface="Arial Narrow"/>
                <a:cs typeface="Arial Narrow"/>
              </a:rPr>
              <a:t>0:00–0:12</a:t>
            </a:r>
            <a:endParaRPr sz="1200">
              <a:latin typeface="Arial Narrow"/>
              <a:ea typeface="Arial Narrow"/>
              <a:cs typeface="Arial Narrow"/>
            </a:endParaRPr>
          </a:p>
          <a:p xmlns:a="http://schemas.openxmlformats.org/drawingml/2006/main">
            <a:r>
              <a:rPr sz="1200">
                <a:latin typeface="Arial Narrow"/>
                <a:ea typeface="Arial Narrow"/>
                <a:cs typeface="Arial Narrow"/>
              </a:rPr>
              <a:t>NarraCare recommends daily rehabilitation exercises with safety checks and a narrative companion. We combine an inspectable recommendation pipeline with a gentle adventure experience.</a:t>
            </a:r>
            <a:endParaRPr sz="1200">
              <a:latin typeface="Arial Narrow"/>
              <a:ea typeface="Arial Narrow"/>
              <a:cs typeface="Arial Narrow"/>
            </a:endParaRPr>
          </a:p>
          <a:p xmlns:a="http://schemas.openxmlformats.org/drawingml/2006/main">
            <a:r>
              <a:rPr sz="1200">
                <a:latin typeface="Arial Narrow"/>
                <a:ea typeface="Arial Narrow"/>
                <a:cs typeface="Arial Narrow"/>
              </a:rPr>
              <a:t/>
            </a:r>
            <a:endParaRPr sz="1200">
              <a:latin typeface="Arial Narrow"/>
              <a:ea typeface="Arial Narrow"/>
              <a:cs typeface="Arial Narrow"/>
            </a:endParaRPr>
          </a:p>
          <a:p xmlns:a="http://schemas.openxmlformats.org/drawingml/2006/main">
            <a:r>
              <a:rPr sz="1200">
                <a:latin typeface="Arial Narrow"/>
                <a:ea typeface="Arial Narrow"/>
                <a:cs typeface="Arial Narrow"/>
              </a:rPr>
              <a:t>Sources: NarraCare_Final_Report_Revised.docx sections 1.3, 8; README.md</a:t>
            </a:r>
            <a:endParaRPr sz="1200">
              <a:latin typeface="Arial Narrow"/>
              <a:ea typeface="Arial Narrow"/>
              <a:cs typeface="Arial Narrow"/>
            </a:endParaRPr>
          </a:p>
          <a:p xmlns:a="http://schemas.openxmlformats.org/drawingml/2006/main">
            <a:r>
              <a:rPr sz="1200">
                <a:latin typeface="Arial Narrow"/>
                <a:ea typeface="Arial Narrow"/>
                <a:cs typeface="Arial Narrow"/>
              </a:rPr>
              <a:t>Repository: https://github.com/ZHIQIAN-fine/NarraCare/tree/main</a:t>
            </a:r>
            <a:endParaRPr sz="1200">
              <a:latin typeface="Arial Narrow"/>
              <a:ea typeface="Arial Narrow"/>
              <a:cs typeface="Arial Narrow"/>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100">
                <a:latin typeface="Arial Narrow"/>
                <a:ea typeface="Arial Narrow"/>
                <a:cs typeface="Arial Narrow"/>
              </a:rPr>
              <a:t>0:12–0:35</a:t>
            </a:r>
            <a:endParaRPr sz="1100">
              <a:latin typeface="Arial Narrow"/>
              <a:ea typeface="Arial Narrow"/>
              <a:cs typeface="Arial Narrow"/>
            </a:endParaRPr>
          </a:p>
          <a:p xmlns:a="http://schemas.openxmlformats.org/drawingml/2006/main">
            <a:r>
              <a:rPr sz="1100">
                <a:latin typeface="Arial Narrow"/>
                <a:ea typeface="Arial Narrow"/>
                <a:cs typeface="Arial Narrow"/>
              </a:rPr>
              <a:t>Rehabilitation can feel repetitive, while pain and fatigue change daily. A useful recommender must respect those constraints and make progress understandable. We explore this with twenty synthetic personas, one hundred exercises and sixty-day rollouts, covering knee, shoulder and back rehabilitation.</a:t>
            </a:r>
            <a:endParaRPr sz="1100">
              <a:latin typeface="Arial Narrow"/>
              <a:ea typeface="Arial Narrow"/>
              <a:cs typeface="Arial Narrow"/>
            </a:endParaRPr>
          </a:p>
          <a:p xmlns:a="http://schemas.openxmlformats.org/drawingml/2006/main">
            <a:r>
              <a:rPr sz="1100">
                <a:latin typeface="Arial Narrow"/>
                <a:ea typeface="Arial Narrow"/>
                <a:cs typeface="Arial Narrow"/>
              </a:rPr>
              <a:t/>
            </a:r>
            <a:endParaRPr sz="1100">
              <a:latin typeface="Arial Narrow"/>
              <a:ea typeface="Arial Narrow"/>
              <a:cs typeface="Arial Narrow"/>
            </a:endParaRPr>
          </a:p>
          <a:p xmlns:a="http://schemas.openxmlformats.org/drawingml/2006/main">
            <a:r>
              <a:rPr sz="1100">
                <a:latin typeface="Arial Narrow"/>
                <a:ea typeface="Arial Narrow"/>
                <a:cs typeface="Arial Narrow"/>
              </a:rPr>
              <a:t>Sources: data/user_profiles.json; data/task_library.json; configs/default.yaml</a:t>
            </a:r>
            <a:endParaRPr sz="1100">
              <a:latin typeface="Arial Narrow"/>
              <a:ea typeface="Arial Narrow"/>
              <a:cs typeface="Arial Narrow"/>
            </a:endParaRPr>
          </a:p>
          <a:p xmlns:a="http://schemas.openxmlformats.org/drawingml/2006/main">
            <a:r>
              <a:rPr sz="1100">
                <a:latin typeface="Arial Narrow"/>
                <a:ea typeface="Arial Narrow"/>
                <a:cs typeface="Arial Narrow"/>
              </a:rPr>
              <a:t>Repository: https://github.com/ZHIQIAN-fine/NarraCare/tree/main</a:t>
            </a:r>
            <a:endParaRPr sz="1100">
              <a:latin typeface="Arial Narrow"/>
              <a:ea typeface="Arial Narrow"/>
              <a:cs typeface="Arial Narrow"/>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0:35–1:20</a:t>
            </a:r>
          </a:p>
          <a:p xmlns:a="http://schemas.openxmlformats.org/drawingml/2006/main">
            <a:r>
              <a:t>Every day, the User Simulator supplies symptoms. Safety filters the catalogue before SAPS ranks candidates and checks the shortlist afterwards. The template Narrator presents a task. Simulated feedback drives the Reward Composer and online learning. SAPS adds a sampled Beta safety bonus to LinUCB's reward estimate. We inspect safety twice: IER measures infeasible ungated proposals, while SVR checks accepted tasks. This separates the learner's proposals from what the filter allows.</a:t>
            </a:r>
          </a:p>
          <a:p xmlns:a="http://schemas.openxmlformats.org/drawingml/2006/main">
            <a:r>
              <a:t/>
            </a:r>
          </a:p>
          <a:p xmlns:a="http://schemas.openxmlformats.org/drawingml/2006/main">
            <a:r>
              <a:t>Sources: src/pipeline.py run_single_turn/run_simulation; src/policies/saps.py select/update_safety</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1:20–2:00</a:t>
            </a:r>
          </a:p>
          <a:p xmlns:a="http://schemas.openxmlformats.org/drawingml/2006/main">
            <a:r>
              <a:t>SAPS scores forty-two point zero two, close to LinUCB, without a significant advantage. Random earns more reward, but its infeasible proposal rate is forty point eight two percent, versus SAPS's two point two three percent. More directly, removing Safety from LinUCB produces one hundred seventy-one violating accepted tasks. These results support runtime filtering within our simulator.</a:t>
            </a:r>
          </a:p>
          <a:p xmlns:a="http://schemas.openxmlformats.org/drawingml/2006/main">
            <a:r>
              <a:t/>
            </a:r>
          </a:p>
          <a:p xmlns:a="http://schemas.openxmlformats.org/drawingml/2006/main">
            <a:r>
              <a:t>Sources: evaluation/results/saps_60day.json; linucb_60day.json; random_60day.json; posthoc_svr_60day_seed42.json</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2:00–2:40</a:t>
            </a:r>
          </a:p>
          <a:p xmlns:a="http://schemas.openxmlformats.org/drawingml/2006/main">
            <a:r>
              <a:t>Our demo turns this workflow into a mountain trail with Pip, a supportive companion. Forest, Canyon and Summit mark sixty days of small achievements. Camping makes rest part of the journey, without pressure to push harder. Real task details and safety counts remain visible. The CLI runs the backend; the HTML replays recorded trajectories. Replies change only the presentation. Engagement and adherence benefits still need user evaluation.</a:t>
            </a:r>
          </a:p>
          <a:p xmlns:a="http://schemas.openxmlformats.org/drawingml/2006/main">
            <a:r>
              <a:t/>
            </a:r>
          </a:p>
          <a:p xmlns:a="http://schemas.openxmlformats.org/drawingml/2006/main">
            <a:r>
              <a:t>Sources: demo/index.html embedded U001/saps Day1 and presentation rules; narracare/demo.py; NarraCare_Final_Report_Revised.docx section 7.1</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2:40–3:00</a:t>
            </a:r>
          </a:p>
          <a:p xmlns:a="http://schemas.openxmlformats.org/drawingml/2006/main">
            <a:r>
              <a:t>Our contribution is an inspectable safety-aware architecture, complementary safety metrics and a companion-based application design. Next, we plan a bounded agent that clarifies symptoms and uses existing tools. That extension remains future work. Thank you.</a:t>
            </a:r>
          </a:p>
          <a:p xmlns:a="http://schemas.openxmlformats.org/drawingml/2006/main">
            <a:r>
              <a:t/>
            </a:r>
          </a:p>
          <a:p xmlns:a="http://schemas.openxmlformats.org/drawingml/2006/main">
            <a:r>
              <a:t>Sources: README.md; docs/implementation_notes.md</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Not part of the three-minute talk. See the separate script and Q&amp;A document for direct answers.</a:t>
            </a:r>
          </a:p>
          <a:p xmlns:a="http://schemas.openxmlformats.org/drawingml/2006/main">
            <a:r>
              <a:t/>
            </a:r>
          </a:p>
          <a:p xmlns:a="http://schemas.openxmlformats.org/drawingml/2006/main">
            <a:r>
              <a:t>Sources: evaluation/results/saps_60day.json; evaluation/results/linucb_60day.json; evaluation/results/neuralucb_60day.json; evaluation/results/random_60day.json; evaluation/results/popularity_60day_seed42.json; evaluation/results/rule_based_60day_seed42.json; evaluation/results/epsilon_greedy_60day_seed42.json</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100">
                <a:latin typeface="Arial Narrow"/>
                <a:ea typeface="Arial Narrow"/>
                <a:cs typeface="Arial Narrow"/>
              </a:rPr>
              <a:t>Backup for questions. Not part of the three-minute talk. See the separate script and Q&amp;A document for direct answers.</a:t>
            </a:r>
            <a:endParaRPr sz="1100">
              <a:latin typeface="Arial Narrow"/>
              <a:ea typeface="Arial Narrow"/>
              <a:cs typeface="Arial Narrow"/>
            </a:endParaRPr>
          </a:p>
          <a:p xmlns:a="http://schemas.openxmlformats.org/drawingml/2006/main">
            <a:r>
              <a:rPr sz="1100">
                <a:latin typeface="Arial Narrow"/>
                <a:ea typeface="Arial Narrow"/>
                <a:cs typeface="Arial Narrow"/>
              </a:rPr>
              <a:t/>
            </a:r>
            <a:endParaRPr sz="1100">
              <a:latin typeface="Arial Narrow"/>
              <a:ea typeface="Arial Narrow"/>
              <a:cs typeface="Arial Narrow"/>
            </a:endParaRPr>
          </a:p>
          <a:p xmlns:a="http://schemas.openxmlformats.org/drawingml/2006/main">
            <a:r>
              <a:rPr sz="1100">
                <a:latin typeface="Arial Narrow"/>
                <a:ea typeface="Arial Narrow"/>
                <a:cs typeface="Arial Narrow"/>
              </a:rPr>
              <a:t>Sources: evaluation/results/posthoc_svr_60day_seed42.json; nosafety_svr_posthoc_full.json</a:t>
            </a:r>
            <a:endParaRPr sz="1100">
              <a:latin typeface="Arial Narrow"/>
              <a:ea typeface="Arial Narrow"/>
              <a:cs typeface="Arial Narrow"/>
            </a:endParaRPr>
          </a:p>
          <a:p xmlns:a="http://schemas.openxmlformats.org/drawingml/2006/main">
            <a:r>
              <a:rPr sz="1100">
                <a:latin typeface="Arial Narrow"/>
                <a:ea typeface="Arial Narrow"/>
                <a:cs typeface="Arial Narrow"/>
              </a:rPr>
              <a:t>Repository: https://github.com/ZHIQIAN-fine/NarraCare/tree/main</a:t>
            </a:r>
            <a:endParaRPr sz="1100">
              <a:latin typeface="Arial Narrow"/>
              <a:ea typeface="Arial Narrow"/>
              <a:cs typeface="Arial Narrow"/>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Not part of the three-minute talk. See the separate script and Q&amp;A document for direct answers.</a:t>
            </a:r>
          </a:p>
          <a:p xmlns:a="http://schemas.openxmlformats.org/drawingml/2006/main">
            <a:r>
              <a:t/>
            </a:r>
          </a:p>
          <a:p xmlns:a="http://schemas.openxmlformats.org/drawingml/2006/main">
            <a:r>
              <a:t>Sources: Proposed plan, not implemented; src/pipeline.py run_single_turn/process_feedback/interactive_session; src/memory.py; report sections 4.1 and 8.2</a:t>
            </a:r>
          </a:p>
          <a:p xmlns:a="http://schemas.openxmlformats.org/drawingml/2006/main">
            <a:r>
              <a:t>Repository: https://github.com/ZHIQIAN-fine/NarraCare/tree/main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c361852a414ef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c0a492aac64d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b4749e7834f46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bb6dbd7fca641a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0747f5f780e4f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21b9cffffb41c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a1d3ce5b4194f6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e052103f5ee497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ee815e4a1624ef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289e26fbdc5428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8282213bd9f4459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BFC14EB-F1E3-43E9-A0C4-FF36BA7F2D4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00F0CB56-67AF-4C0A-90B5-4C88D093DDFF}"/>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9104F93B-B1E3-465F-86BF-B1AD6A47021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001D2FB2-B93B-4C90-8492-DF65C7F5E9E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944EE3E-10C7-4447-9E94-E54375DA94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98A4DCA-F2CA-44BE-A9AD-0339C29E6C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3363167-018B-4446-9513-CDD7A530D42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5ADD4C5-E19E-4C6C-B3DC-8ABC0016C02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31A20B18-8432-49DE-A774-DE37A0B65A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41886AD-D26A-4806-87FC-F760D23C8D0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791D94-521D-4453-9928-BD18EF86F9D8}"/>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889FF4A-219F-47C1-9461-A7A970FD8D86}"/>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4509DD1-5E37-4B8B-8E30-5AA24997F0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2A2B6F98-7981-4429-971C-564660260B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9F4CC4B7-1D40-41B4-AF48-8DF4DC757A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F2C8C6-E6D5-48F3-A896-5DE97622319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8B39E46-AF04-4A14-8484-B420236C4F19}"/>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4593D87-7BFC-4807-9894-C82878D75617}"/>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7EF65872-DC30-4329-9058-5CBB659203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16865B28-7ECA-4AF4-9DE2-435377B49C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9C358CC4-5CF6-4257-9742-76114B3207D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9BA325-3839-45EE-A21E-8BAD6CBA9A88}"/>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70CE6E-A7E9-4CD5-8241-F3C6C5322318}"/>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FE68CAD-E80A-4E96-8691-C2EB0E8D420B}"/>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B0152C78-CA55-4A06-AED0-FF5BDFD30FE0}"/>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6726A27-5D05-488C-B26D-CA72F460086C}"/>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0E107D31-8750-4124-B7AD-4C6FE86E0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E1A530AF-A5EA-4142-AE42-580D6DCE08B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1E225A50-3619-4E35-BA47-8D7F25F4C04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D442FB4-64F5-44A2-97B1-B525111D2C4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90A2C46A-83F3-4B6B-A231-BC0D99CCBA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9E9746E5-81A5-4B1C-9B01-0DC2A245C54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A6E40DDD-AE65-4297-ACA9-B020194676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70F16D21-D5D3-43B2-AE8E-C2964828F54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447E6F06-9985-430D-B446-F6B0FFD6BF3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9E9D3D94-4378-4F82-957C-E2474782898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3CF056-9597-4B14-ACA9-A5771C4B7DD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42569B5-726F-483B-88C4-E1A69B276AF7}"/>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39E10D0-8C38-4298-952C-7A1197C2D1EE}"/>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FD1E621-8B19-4F55-B859-E2B4ECD248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19891C37-6531-4244-BE36-34739EA9C5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BBB8E978-6FBC-4D31-9D8E-E47029780B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EC03F57-E6FA-4D45-9432-6C7042CC2AD8}"/>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A329F8A-5CBF-4E28-AB95-5A8F7D2D19A1}"/>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4A7B31FE-C44B-4DA1-9C93-D32FF4F0F24C}"/>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2AE89CC-D627-47BA-996E-037EF1C08CA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998B11F6-2D9C-48A3-9DA8-5C34E04EF96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46F2ACA-17D0-4609-84AD-683D55E332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D3C3C33-2452-4116-92F1-782CDBC147A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11218BD-DA0D-4EC5-8777-60FEA930DCF0}"/>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73E27C8-0E34-4B04-929C-7B279B0653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C67A753B-A018-4363-B1C2-5168BDC5D6B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14195CB-D33B-4259-8D8E-B2227D490C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F056F73-A5EB-483D-B188-2614C706698E}"/>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AB9E42C-6064-4E51-B04E-D87DE5F2361A}"/>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1D19C17-6369-45D8-8634-3697E7E15CD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E8030C79-0529-4E3C-A192-4D893F8F1D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9D79695-544D-4EE1-A94C-5D58EDE5B1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90f19a9ea14daf" /><Relationship Type="http://schemas.openxmlformats.org/officeDocument/2006/relationships/slideLayout" Target="/ppt/slideLayouts/slideLayout1.xml" Id="R2e768cc40cc1473a" /><Relationship Type="http://schemas.openxmlformats.org/officeDocument/2006/relationships/slideLayout" Target="/ppt/slideLayouts/slideLayout2.xml" Id="R629cffd34be44091" /><Relationship Type="http://schemas.openxmlformats.org/officeDocument/2006/relationships/slideLayout" Target="/ppt/slideLayouts/slideLayout3.xml" Id="R5de2e4d6d03e4deb" /><Relationship Type="http://schemas.openxmlformats.org/officeDocument/2006/relationships/slideLayout" Target="/ppt/slideLayouts/slideLayout4.xml" Id="Rcbed93f191bd4759" /><Relationship Type="http://schemas.openxmlformats.org/officeDocument/2006/relationships/slideLayout" Target="/ppt/slideLayouts/slideLayout5.xml" Id="Rcc2a6eb2447a4ed3" /><Relationship Type="http://schemas.openxmlformats.org/officeDocument/2006/relationships/slideLayout" Target="/ppt/slideLayouts/slideLayout6.xml" Id="Rcb01c939604f4c88" /><Relationship Type="http://schemas.openxmlformats.org/officeDocument/2006/relationships/slideLayout" Target="/ppt/slideLayouts/slideLayout7.xml" Id="R2bbf190c61e24ec2" /><Relationship Type="http://schemas.openxmlformats.org/officeDocument/2006/relationships/slideLayout" Target="/ppt/slideLayouts/slideLayout8.xml" Id="Rb0fca230198e4811" /><Relationship Type="http://schemas.openxmlformats.org/officeDocument/2006/relationships/slideLayout" Target="/ppt/slideLayouts/slideLayout9.xml" Id="R6ec8a208e4bf48e8" /><Relationship Type="http://schemas.openxmlformats.org/officeDocument/2006/relationships/slideLayout" Target="/ppt/slideLayouts/slideLayout10.xml" Id="R53fb85be65fa4f2a" /><Relationship Type="http://schemas.openxmlformats.org/officeDocument/2006/relationships/slideLayout" Target="/ppt/slideLayouts/slideLayout11.xml" Id="Ra4089370c7cc4b7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AED46A8-685A-45EF-8129-2A61247FEA5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2727E5F-EF6F-44C3-9E4A-22D7329FA400}"/>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FADD557-68F2-46A0-9BDE-05AA48AD1B02}"/>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94573874-F109-454C-B80B-648D18AB5BC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18B4152-779E-4870-A5E0-E70438D3B483}"/>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e768cc40cc1473a"/>
    <p:sldLayoutId xmlns:r="http://schemas.openxmlformats.org/officeDocument/2006/relationships" id="2147483650" r:id="R629cffd34be44091"/>
    <p:sldLayoutId xmlns:r="http://schemas.openxmlformats.org/officeDocument/2006/relationships" id="2147483651" r:id="R5de2e4d6d03e4deb"/>
    <p:sldLayoutId xmlns:r="http://schemas.openxmlformats.org/officeDocument/2006/relationships" id="2147483652" r:id="Rcbed93f191bd4759"/>
    <p:sldLayoutId xmlns:r="http://schemas.openxmlformats.org/officeDocument/2006/relationships" id="2147483653" r:id="Rcc2a6eb2447a4ed3"/>
    <p:sldLayoutId xmlns:r="http://schemas.openxmlformats.org/officeDocument/2006/relationships" id="2147483654" r:id="Rcb01c939604f4c88"/>
    <p:sldLayoutId xmlns:r="http://schemas.openxmlformats.org/officeDocument/2006/relationships" id="2147483655" r:id="R2bbf190c61e24ec2"/>
    <p:sldLayoutId xmlns:r="http://schemas.openxmlformats.org/officeDocument/2006/relationships" id="2147483656" r:id="Rb0fca230198e4811"/>
    <p:sldLayoutId xmlns:r="http://schemas.openxmlformats.org/officeDocument/2006/relationships" id="2147483657" r:id="R6ec8a208e4bf48e8"/>
    <p:sldLayoutId xmlns:r="http://schemas.openxmlformats.org/officeDocument/2006/relationships" id="2147483658" r:id="R53fb85be65fa4f2a"/>
    <p:sldLayoutId xmlns:r="http://schemas.openxmlformats.org/officeDocument/2006/relationships" id="2147483659" r:id="Ra4089370c7cc4b73"/>
  </p:sldLayoutIdLst>
  <p:hf hdr="0" ft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197bf24c564f70" /><Relationship Type="http://schemas.openxmlformats.org/officeDocument/2006/relationships/image" Target="/ppt/media/image.png" Id="R9fd235a8124d4774" /><Relationship Type="http://schemas.openxmlformats.org/officeDocument/2006/relationships/notesSlide" Target="/ppt/notesSlides/notesSlide1.xml" Id="R3b9c7ecc1ef44e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8f6742b2ac54d81" /><Relationship Type="http://schemas.openxmlformats.org/officeDocument/2006/relationships/image" Target="/ppt/media/image.png" Id="Ra05a74f0b4cd4e48" /><Relationship Type="http://schemas.openxmlformats.org/officeDocument/2006/relationships/notesSlide" Target="/ppt/notesSlides/notesSlide2.xml" Id="R6fd8e447515a48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b784a52337f4622" /><Relationship Type="http://schemas.openxmlformats.org/officeDocument/2006/relationships/image" Target="/ppt/media/image.png" Id="R2baebc97604d458a" /><Relationship Type="http://schemas.openxmlformats.org/officeDocument/2006/relationships/notesSlide" Target="/ppt/notesSlides/notesSlide3.xml" Id="R05d1e456896b46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5eacef9f78f403f" /><Relationship Type="http://schemas.openxmlformats.org/officeDocument/2006/relationships/image" Target="/ppt/media/image.png" Id="R4427ad86a7bd4e11" /><Relationship Type="http://schemas.openxmlformats.org/officeDocument/2006/relationships/chart" Target="/ppt/slides/charts/chart1.xml" Id="Re39008bd000b452c" /><Relationship Type="http://schemas.openxmlformats.org/officeDocument/2006/relationships/notesSlide" Target="/ppt/notesSlides/notesSlide4.xml" Id="R1fc91f3b7c0349d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21b6366d0d4637" /><Relationship Type="http://schemas.openxmlformats.org/officeDocument/2006/relationships/image" Target="/ppt/media/image.png" Id="Rfa17fdc314334b52" /><Relationship Type="http://schemas.openxmlformats.org/officeDocument/2006/relationships/image" Target="/ppt/media/image2.png" Id="Ree21361f5eb542e2" /><Relationship Type="http://schemas.openxmlformats.org/officeDocument/2006/relationships/notesSlide" Target="/ppt/notesSlides/notesSlide5.xml" Id="R26849be0071146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80c99acdef4693" /><Relationship Type="http://schemas.openxmlformats.org/officeDocument/2006/relationships/image" Target="/ppt/media/image.png" Id="Rc70e93f0433b4647" /><Relationship Type="http://schemas.openxmlformats.org/officeDocument/2006/relationships/notesSlide" Target="/ppt/notesSlides/notesSlide6.xml" Id="R262797489cbb4e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e951040bbdd486d" /><Relationship Type="http://schemas.openxmlformats.org/officeDocument/2006/relationships/image" Target="/ppt/media/image.png" Id="R79bbdd1fe7fd4820" /><Relationship Type="http://schemas.openxmlformats.org/officeDocument/2006/relationships/notesSlide" Target="/ppt/notesSlides/notesSlide7.xml" Id="R9489243b211a477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f06d5f77b7c4a47" /><Relationship Type="http://schemas.openxmlformats.org/officeDocument/2006/relationships/image" Target="/ppt/media/image.png" Id="Rf83a38e7a50349a1" /><Relationship Type="http://schemas.openxmlformats.org/officeDocument/2006/relationships/notesSlide" Target="/ppt/notesSlides/notesSlide8.xml" Id="R99800b184853435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189b25cf2e4e3c" /><Relationship Type="http://schemas.openxmlformats.org/officeDocument/2006/relationships/image" Target="/ppt/media/image.png" Id="R0888ee188cc44e1f" /><Relationship Type="http://schemas.openxmlformats.org/officeDocument/2006/relationships/notesSlide" Target="/ppt/notesSlides/notesSlide9.xml" Id="Rb3b8b668b19c465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a:solidFill>
                  <a:srgbClr val="151515"/>
                </a:solidFill>
                <a:latin typeface="Arial"/>
                <a:ea typeface="Arial"/>
                <a:cs typeface="Arial"/>
              </a:rPr>
              <a:t>Mean cumulative reward per persona</a:t>
            </a:r>
          </a:p>
        </c:rich>
      </c:tx>
      <c:overlay val="0"/>
      <c:txPr>
        <a:bodyPr xmlns:a="http://schemas.openxmlformats.org/drawingml/2006/main" anchorCtr="1"/>
        <a:lstStyle xmlns:a="http://schemas.openxmlformats.org/drawingml/2006/main"/>
        <a:p xmlns:a="http://schemas.openxmlformats.org/drawingml/2006/main">
          <a:pPr>
            <a:defRPr sz="1725">
              <a:solidFill>
                <a:srgbClr val="151515"/>
              </a:solidFill>
              <a:latin typeface="Arial"/>
              <a:ea typeface="Arial"/>
              <a:cs typeface="Arial"/>
            </a:defRPr>
          </a:pPr>
        </a:p>
      </c:txPr>
    </c:title>
    <c:plotArea>
      <c:barChart>
        <c:barDir val="col"/>
        <c:grouping val="clustered"/>
        <c:varyColors val="0"/>
        <c:ser>
          <c:idx val="0"/>
          <c:order val="0"/>
          <c:tx>
            <c:v>Reward</c:v>
          </c:tx>
          <c:spPr>
            <a:solidFill xmlns:a="http://schemas.openxmlformats.org/drawingml/2006/main">
              <a:srgbClr val="0000CC"/>
            </a:solidFill>
          </c:spPr>
          <c:dPt>
            <c:idx val="0"/>
            <c:invertIfNegative val="0"/>
            <c:spPr>
              <a:solidFill xmlns:a="http://schemas.openxmlformats.org/drawingml/2006/main">
                <a:srgbClr val="800000"/>
              </a:solidFill>
            </c:spPr>
          </c:dPt>
          <c:dPt>
            <c:idx val="1"/>
            <c:invertIfNegative val="0"/>
            <c:spPr>
              <a:solidFill xmlns:a="http://schemas.openxmlformats.org/drawingml/2006/main">
                <a:srgbClr val="0000CC"/>
              </a:solidFill>
            </c:spPr>
          </c:dPt>
          <c:dPt>
            <c:idx val="2"/>
            <c:invertIfNegative val="0"/>
            <c:spPr>
              <a:solidFill xmlns:a="http://schemas.openxmlformats.org/drawingml/2006/main">
                <a:srgbClr val="8B8B8B"/>
              </a:solidFill>
            </c:spPr>
          </c:dPt>
          <c:cat>
            <c:strRef>
              <c:f>'Chart Data'!$A$2:$A$4</c:f>
              <c:strCache>
                <c:ptCount val="3"/>
                <c:pt idx="0">
                  <c:v>SAPS</c:v>
                </c:pt>
                <c:pt idx="1">
                  <c:v>LinUCB</c:v>
                </c:pt>
                <c:pt idx="2">
                  <c:v>Random</c:v>
                </c:pt>
              </c:strCache>
            </c:strRef>
          </c:cat>
          <c:val>
            <c:numRef>
              <c:f>'Chart Data'!$B$2:$B$4</c:f>
              <c:numCache>
                <c:formatCode>General</c:formatCode>
                <c:ptCount val="3"/>
                <c:pt idx="0">
                  <c:v>42.02</c:v>
                </c:pt>
                <c:pt idx="1">
                  <c:v>41.94</c:v>
                </c:pt>
                <c:pt idx="2">
                  <c:v>45.94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solidFill>
                    <a:srgbClr val="151515"/>
                  </a:solidFill>
                  <a:latin typeface="Arial"/>
                  <a:ea typeface="Arial"/>
                  <a:cs typeface="Arial"/>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51515"/>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DDDDD"/>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51515"/>
                </a:solidFill>
                <a:latin typeface="Arial"/>
                <a:ea typeface="Arial"/>
                <a:cs typeface="Arial"/>
              </a:defRPr>
            </a:pPr>
          </a:p>
        </c:txPr>
        <c:crossAx val="48650112"/>
        <c:crossBetween val="between"/>
        <c:majorUnit val="1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9fd235a8124d4774">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BD3DC4C-5E78-47C2-9864-F673A9B3AC6F}"/>
              </a:ext>
            </a:extLst>
          </p:cNvPr>
          <p:cNvSpPr>
            <a:spLocks xmlns:a="http://schemas.openxmlformats.org/drawingml/2006/main" noGrp="1"/>
          </p:cNvSpPr>
          <p:nvPr>
            <p:ph type="ctrTitle" idx="0"/>
          </p:nvPr>
        </p:nvSpPr>
        <p:spPr>
          <a:xfrm xmlns:a="http://schemas.openxmlformats.org/drawingml/2006/main">
            <a:off x="190500" y="238125"/>
            <a:ext cx="11811000" cy="1095375"/>
          </a:xfrm>
        </p:spPr>
        <p:txBody>
          <a:bodyPr xmlns:a="http://schemas.openxmlformats.org/drawingml/2006/main" lIns="288000" anchor="ctr">
            <a:noAutofit/>
          </a:bodyPr>
          <a:lstStyle xmlns:a="http://schemas.openxmlformats.org/drawingml/2006/main">
            <a:defPPr algn="l">
              <a:defRPr sz="2775" b="1">
                <a:solidFill>
                  <a:srgbClr val="800000"/>
                </a:solidFill>
                <a:latin typeface="Arial"/>
                <a:ea typeface="Arial"/>
                <a:cs typeface="Arial"/>
              </a:defRPr>
            </a:defPPr>
          </a:lstStyle>
          <a:p xmlns:a="http://schemas.openxmlformats.org/drawingml/2006/main">
            <a:pPr algn="l">
              <a:buNone/>
              <a:defRPr sz="2775" b="1">
                <a:solidFill>
                  <a:srgbClr val="800000"/>
                </a:solidFill>
                <a:latin typeface="Arial"/>
                <a:ea typeface="Arial"/>
                <a:cs typeface="Arial"/>
              </a:defRPr>
            </a:pPr>
            <a:r>
              <a:rPr sz="2775" b="1">
                <a:solidFill>
                  <a:srgbClr val="800000"/>
                </a:solidFill>
                <a:latin typeface="Arial"/>
                <a:ea typeface="Arial"/>
                <a:cs typeface="Arial"/>
              </a:rPr>
              <a:t>Recommender Systems (CA6124)</a:t>
            </a:r>
            <a:endParaRPr sz="2775" b="1">
              <a:solidFill>
                <a:srgbClr val="800000"/>
              </a:solidFill>
              <a:latin typeface="Arial"/>
              <a:ea typeface="Arial"/>
              <a:cs typeface="Arial"/>
            </a:endParaRPr>
          </a:p>
        </p:txBody>
      </p:sp>
      <p:sp>
        <p:nvSpPr>
          <p:cNvPr id="8" name="Slide Number Placeholder 7">
            <a:extLst xmlns:a="http://schemas.openxmlformats.org/drawingml/2006/main">
              <a:ext uri="{FF2B5EF4-FFF2-40B4-BE49-F238E27FC236}">
                <a16:creationId xmlns:a16="http://schemas.microsoft.com/office/drawing/2014/main" id="{ACAE7F8E-D53F-4992-A1F6-B7A621E21855}"/>
              </a:ext>
            </a:extLst>
          </p:cNvPr>
          <p:cNvSpPr>
            <a:spLocks xmlns:a="http://schemas.openxmlformats.org/drawingml/2006/main" noGrp="1"/>
          </p:cNvSpPr>
          <p:nvPr>
            <p:ph type="sldNum" idx="12"/>
          </p:nvPr>
        </p:nvSpPr>
        <p:spPr>
          <a:xfrm xmlns:a="http://schemas.openxmlformats.org/drawingml/2006/main">
            <a:off x="11041625" y="6356350"/>
            <a:ext cx="1020097" cy="378747"/>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solidFill>
              <a:latin typeface="Calibri"/>
              <a:ea typeface="Calibri"/>
              <a:cs typeface="Calibri"/>
            </a:endParaRPr>
          </a:p>
        </p:txBody>
      </p:sp>
      <p:sp>
        <p:nvSpPr>
          <p:cNvPr id="9" name="Rectangle 8">
            <a:extLst xmlns:a="http://schemas.openxmlformats.org/drawingml/2006/main">
              <a:ext uri="{FF2B5EF4-FFF2-40B4-BE49-F238E27FC236}">
                <a16:creationId xmlns:a16="http://schemas.microsoft.com/office/drawing/2014/main" id="{BE8435F5-6BCD-40BA-ABAC-E82A5D8D25F1}"/>
              </a:ext>
            </a:extLst>
          </p:cNvPr>
          <p:cNvSpPr>
            <a:spLocks xmlns:a="http://schemas.openxmlformats.org/drawingml/2006/main" noGrp="1"/>
          </p:cNvSpPr>
          <p:nvPr/>
        </p:nvSpPr>
        <p:spPr>
          <a:xfrm xmlns:a="http://schemas.openxmlformats.org/drawingml/2006/main">
            <a:off x="714375" y="163830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4350" b="1">
                <a:solidFill>
                  <a:srgbClr val="0000CC"/>
                </a:solidFill>
                <a:latin typeface="Arial"/>
                <a:ea typeface="Arial"/>
                <a:cs typeface="Arial"/>
              </a:defRPr>
            </a:defPPr>
          </a:lstStyle>
          <a:p xmlns:a="http://schemas.openxmlformats.org/drawingml/2006/main">
            <a:pPr>
              <a:buNone/>
              <a:defRPr sz="4350" b="1">
                <a:solidFill>
                  <a:srgbClr val="0000CC"/>
                </a:solidFill>
                <a:latin typeface="Arial"/>
                <a:ea typeface="Arial"/>
                <a:cs typeface="Arial"/>
              </a:defRPr>
            </a:pPr>
            <a:r>
              <a:rPr sz="4350" b="1">
                <a:solidFill>
                  <a:srgbClr val="0000CC"/>
                </a:solidFill>
                <a:latin typeface="Arial"/>
                <a:ea typeface="Arial"/>
                <a:cs typeface="Arial"/>
              </a:rPr>
              <a:t>NarraCare</a:t>
            </a:r>
            <a:endParaRPr sz="4350"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9CD58E2D-DED6-4C53-BD92-511EAD6E7CE9}"/>
              </a:ext>
            </a:extLst>
          </p:cNvPr>
          <p:cNvSpPr>
            <a:spLocks xmlns:a="http://schemas.openxmlformats.org/drawingml/2006/main" noGrp="1"/>
          </p:cNvSpPr>
          <p:nvPr/>
        </p:nvSpPr>
        <p:spPr>
          <a:xfrm xmlns:a="http://schemas.openxmlformats.org/drawingml/2006/main">
            <a:off x="714375" y="249555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150" b="1">
                <a:solidFill>
                  <a:srgbClr val="0000CC"/>
                </a:solidFill>
                <a:latin typeface="Arial"/>
                <a:ea typeface="Arial"/>
                <a:cs typeface="Arial"/>
              </a:defRPr>
            </a:defPPr>
          </a:lstStyle>
          <a:p xmlns:a="http://schemas.openxmlformats.org/drawingml/2006/main">
            <a:pPr>
              <a:buNone/>
              <a:defRPr sz="3150" b="1">
                <a:solidFill>
                  <a:srgbClr val="0000CC"/>
                </a:solidFill>
                <a:latin typeface="Arial"/>
                <a:ea typeface="Arial"/>
                <a:cs typeface="Arial"/>
              </a:defRPr>
            </a:pPr>
            <a:r>
              <a:rPr sz="3150" b="1">
                <a:solidFill>
                  <a:srgbClr val="0000CC"/>
                </a:solidFill>
                <a:latin typeface="Arial"/>
                <a:ea typeface="Arial"/>
                <a:cs typeface="Arial"/>
              </a:rPr>
              <a:t>Safety-aware rehabilitation recommendations</a:t>
            </a:r>
            <a:endParaRPr sz="3150" b="1">
              <a:solidFill>
                <a:srgbClr val="0000CC"/>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BC52D944-1967-4F6B-A3FE-61CA69ADA88E}"/>
              </a:ext>
            </a:extLst>
          </p:cNvPr>
          <p:cNvSpPr>
            <a:spLocks xmlns:a="http://schemas.openxmlformats.org/drawingml/2006/main" noGrp="1"/>
          </p:cNvSpPr>
          <p:nvPr/>
        </p:nvSpPr>
        <p:spPr>
          <a:xfrm xmlns:a="http://schemas.openxmlformats.org/drawingml/2006/main">
            <a:off x="714375" y="35433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151515"/>
                </a:solidFill>
                <a:latin typeface="Arial"/>
                <a:ea typeface="Arial"/>
                <a:cs typeface="Arial"/>
              </a:defRPr>
            </a:defPPr>
          </a:lstStyle>
          <a:p xmlns:a="http://schemas.openxmlformats.org/drawingml/2006/main">
            <a:pPr>
              <a:buNone/>
              <a:defRPr sz="2550" b="1">
                <a:solidFill>
                  <a:srgbClr val="151515"/>
                </a:solidFill>
                <a:latin typeface="Arial"/>
                <a:ea typeface="Arial"/>
                <a:cs typeface="Arial"/>
              </a:defRPr>
            </a:pPr>
            <a:r>
              <a:rPr sz="2550" b="1">
                <a:solidFill>
                  <a:srgbClr val="151515"/>
                </a:solidFill>
                <a:latin typeface="Arial"/>
                <a:ea typeface="Arial"/>
                <a:cs typeface="Arial"/>
              </a:rPr>
              <a:t>Group project demonstration</a:t>
            </a:r>
            <a:endParaRPr sz="2775" b="1">
              <a:solidFill>
                <a:srgbClr val="151515"/>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67B6C1D2-8501-4867-A840-133FA8C63D7D}"/>
              </a:ext>
            </a:extLst>
          </p:cNvPr>
          <p:cNvSpPr>
            <a:spLocks xmlns:a="http://schemas.openxmlformats.org/drawingml/2006/main" noGrp="1"/>
          </p:cNvSpPr>
          <p:nvPr/>
        </p:nvSpPr>
        <p:spPr>
          <a:xfrm xmlns:a="http://schemas.openxmlformats.org/drawingml/2006/main">
            <a:off x="714375" y="423862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Recommendation, safety and a gentle adventure experience</a:t>
            </a:r>
            <a:endParaRPr sz="2250" b="0">
              <a:solidFill>
                <a:srgbClr val="151515"/>
              </a:solidFill>
              <a:latin typeface="Arial"/>
              <a:ea typeface="Arial"/>
              <a:cs typeface="Arial"/>
            </a:endParaRPr>
          </a:p>
        </p:txBody>
      </p:sp>
      <p:sp>
        <p:nvSpPr>
          <p:cNvPr id="13" name="Rectangle 12">
            <a:extLst xmlns:a="http://schemas.openxmlformats.org/drawingml/2006/main">
              <a:ext uri="{FF2B5EF4-FFF2-40B4-BE49-F238E27FC236}">
                <a16:creationId xmlns:a16="http://schemas.microsoft.com/office/drawing/2014/main" id="{FAA2DB63-1C65-4ED8-827F-7E26C4056C54}"/>
              </a:ext>
            </a:extLst>
          </p:cNvPr>
          <p:cNvSpPr>
            <a:spLocks xmlns:a="http://schemas.openxmlformats.org/drawingml/2006/main" noGrp="1"/>
          </p:cNvSpPr>
          <p:nvPr/>
        </p:nvSpPr>
        <p:spPr>
          <a:xfrm xmlns:a="http://schemas.openxmlformats.org/drawingml/2006/main">
            <a:off x="714375" y="509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800000"/>
                </a:solidFill>
                <a:latin typeface="Arial"/>
                <a:ea typeface="Arial"/>
                <a:cs typeface="Arial"/>
              </a:defRPr>
            </a:defPPr>
          </a:lstStyle>
          <a:p xmlns:a="http://schemas.openxmlformats.org/drawingml/2006/main">
            <a:pPr>
              <a:buNone/>
              <a:defRPr sz="2175" b="0">
                <a:solidFill>
                  <a:srgbClr val="800000"/>
                </a:solidFill>
                <a:latin typeface="Arial"/>
                <a:ea typeface="Arial"/>
                <a:cs typeface="Arial"/>
              </a:defRPr>
            </a:pPr>
            <a:r>
              <a:rPr sz="2175" b="0">
                <a:solidFill>
                  <a:srgbClr val="800000"/>
                </a:solidFill>
                <a:latin typeface="Arial"/>
                <a:ea typeface="Arial"/>
                <a:cs typeface="Arial"/>
              </a:rPr>
              <a:t>A supportive companion for a 60-day rehabilitation journey</a:t>
            </a:r>
            <a:endParaRPr sz="2175" b="0">
              <a:solidFill>
                <a:srgbClr val="800000"/>
              </a:solidFill>
              <a:latin typeface="Arial"/>
              <a:ea typeface="Arial"/>
              <a:cs typeface="Arial"/>
            </a:endParaRPr>
          </a:p>
        </p:txBody>
      </p:sp>
    </p:spTree>
    <p:extLst>
      <p:ext uri="{BB962C8B-B14F-4D97-AF65-F5344CB8AC3E}">
        <p14:creationId xmlns:p14="http://schemas.microsoft.com/office/powerpoint/2010/main" val="789058774"/>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a05a74f0b4cd4e48">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45CBCC4-C159-4ED9-8157-8A3987371515}"/>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000" b="1">
                <a:solidFill>
                  <a:srgbClr val="800000"/>
                </a:solidFill>
                <a:latin typeface="Arial"/>
                <a:ea typeface="Arial"/>
                <a:cs typeface="Arial"/>
              </a:defRPr>
            </a:defPPr>
          </a:lstStyle>
          <a:p xmlns:a="http://schemas.openxmlformats.org/drawingml/2006/main">
            <a:pPr algn="l">
              <a:buNone/>
              <a:defRPr sz="3000" b="1">
                <a:solidFill>
                  <a:srgbClr val="800000"/>
                </a:solidFill>
                <a:latin typeface="Arial"/>
                <a:ea typeface="Arial"/>
                <a:cs typeface="Arial"/>
              </a:defRPr>
            </a:pPr>
            <a:r>
              <a:rPr sz="3000" b="1">
                <a:solidFill>
                  <a:srgbClr val="800000"/>
                </a:solidFill>
                <a:latin typeface="Arial"/>
                <a:ea typeface="Arial"/>
                <a:cs typeface="Arial"/>
              </a:rPr>
              <a:t>Personalised rehabilitation</a:t>
            </a:r>
            <a:endParaRPr sz="30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9D7DCED6-849C-4A6F-8A01-19D46E5C3C87}"/>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endParaRPr sz="2000">
              <a:latin typeface="Arial Narrow"/>
              <a:ea typeface="Arial Narrow"/>
              <a:cs typeface="Arial Narrow"/>
            </a:endParaRPr>
          </a:p>
        </p:txBody>
      </p:sp>
      <p:pic>
        <p:nvPicPr>
          <p:cNvPr id="6" name="Picture 5">
            <a:extLst xmlns:a="http://schemas.openxmlformats.org/drawingml/2006/main">
              <a:ext uri="{FF2B5EF4-FFF2-40B4-BE49-F238E27FC236}">
                <a16:creationId xmlns:a16="http://schemas.microsoft.com/office/drawing/2014/main" id="{CDC63DE8-1B28-451F-9552-7B0A72E8A832}"/>
              </a:ext>
            </a:extLst>
          </p:cNvPr>
          <p:cNvPicPr>
            <a:picLocks xmlns:a="http://schemas.openxmlformats.org/drawingml/2006/main" noChangeAspect="1"/>
          </p:cNvPicPr>
          <p:nvPr/>
        </p:nvPicPr>
        <p:blipFill>
          <a:blip xmlns:r="http://schemas.openxmlformats.org/officeDocument/2006/relationships" xmlns:a="http://schemas.openxmlformats.org/drawingml/2006/main" r:embed="Ra05a74f0b4cd4e48"/>
          <a:srcRect xmlns:a="http://schemas.openxmlformats.org/drawingml/2006/main" l="1953" t="92361" r="87344" b="833"/>
          <a:stretch xmlns:a="http://schemas.openxmlformats.org/drawingml/2006/main">
            <a:fillRect l="0" t="0" r="0" b="0"/>
          </a:stretch>
        </p:blipFill>
        <p:spPr>
          <a:xfrm xmlns:a="http://schemas.openxmlformats.org/drawingml/2006/main">
            <a:off x="238125" y="6334125"/>
            <a:ext cx="1304925" cy="466725"/>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9010465A-B350-4F19-A3C6-FB73D0B7DD48}"/>
              </a:ext>
            </a:extLst>
          </p:cNvPr>
          <p:cNvSpPr>
            <a:spLocks xmlns:a="http://schemas.openxmlformats.org/drawingml/2006/main" noGrp="1"/>
          </p:cNvSpPr>
          <p:nvPr/>
        </p:nvSpPr>
        <p:spPr>
          <a:xfrm xmlns:a="http://schemas.openxmlformats.org/drawingml/2006/main">
            <a:off x="28575" y="6210300"/>
            <a:ext cx="12087225" cy="28575"/>
          </a:xfrm>
          <a:prstGeom xmlns:a="http://schemas.openxmlformats.org/drawingml/2006/main" prst="rect">
            <a:avLst/>
          </a:prstGeom>
          <a:solidFill xmlns:a="http://schemas.openxmlformats.org/drawingml/2006/main">
            <a:srgbClr val="CC000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BAA0009B-85EC-44DB-8AC2-B45A81DB5ED2}"/>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99A5A232-3097-4E1B-961B-2389219EFD94}"/>
              </a:ext>
            </a:extLst>
          </p:cNvPr>
          <p:cNvSpPr>
            <a:spLocks xmlns:a="http://schemas.openxmlformats.org/drawingml/2006/main" noGrp="1"/>
          </p:cNvSpPr>
          <p:nvPr/>
        </p:nvSpPr>
        <p:spPr>
          <a:xfrm xmlns:a="http://schemas.openxmlformats.org/drawingml/2006/main">
            <a:off x="523875" y="1095375"/>
            <a:ext cx="1114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75" b="1">
                <a:solidFill>
                  <a:srgbClr val="0000CC"/>
                </a:solidFill>
                <a:latin typeface="Arial"/>
                <a:ea typeface="Arial"/>
                <a:cs typeface="Arial"/>
              </a:defRPr>
            </a:defPPr>
          </a:lstStyle>
          <a:p xmlns:a="http://schemas.openxmlformats.org/drawingml/2006/main">
            <a:pPr>
              <a:buNone/>
              <a:defRPr sz="2775" b="1">
                <a:solidFill>
                  <a:srgbClr val="0000CC"/>
                </a:solidFill>
                <a:latin typeface="Arial"/>
                <a:ea typeface="Arial"/>
                <a:cs typeface="Arial"/>
              </a:defRPr>
            </a:pPr>
            <a:r>
              <a:rPr sz="2775" b="1">
                <a:solidFill>
                  <a:srgbClr val="0000CC"/>
                </a:solidFill>
                <a:latin typeface="Arial"/>
                <a:ea typeface="Arial"/>
                <a:cs typeface="Arial"/>
              </a:rPr>
              <a:t>Changing symptoms meet repetitive daily exercises</a:t>
            </a:r>
            <a:endParaRPr sz="2775"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70757A18-7293-41C6-BB0A-5950BE86C2F0}"/>
              </a:ext>
            </a:extLst>
          </p:cNvPr>
          <p:cNvSpPr>
            <a:spLocks xmlns:a="http://schemas.openxmlformats.org/drawingml/2006/main" noGrp="1"/>
          </p:cNvSpPr>
          <p:nvPr/>
        </p:nvSpPr>
        <p:spPr>
          <a:xfrm xmlns:a="http://schemas.openxmlformats.org/drawingml/2006/main">
            <a:off x="523875" y="1762125"/>
            <a:ext cx="1114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51515"/>
                </a:solidFill>
                <a:latin typeface="Arial"/>
                <a:ea typeface="Arial"/>
                <a:cs typeface="Arial"/>
              </a:defRPr>
            </a:defPPr>
          </a:lstStyle>
          <a:p xmlns:a="http://schemas.openxmlformats.org/drawingml/2006/main">
            <a:pPr>
              <a:buNone/>
              <a:defRPr sz="2250" b="0">
                <a:solidFill>
                  <a:srgbClr val="151515"/>
                </a:solidFill>
                <a:latin typeface="Arial"/>
                <a:ea typeface="Arial"/>
                <a:cs typeface="Arial"/>
              </a:defRPr>
            </a:pPr>
            <a:r>
              <a:rPr sz="2250" b="0">
                <a:solidFill>
                  <a:srgbClr val="151515"/>
                </a:solidFill>
                <a:latin typeface="Arial"/>
                <a:ea typeface="Arial"/>
                <a:cs typeface="Arial"/>
              </a:rPr>
              <a:t>Pain and fatigue shape suitability. Small milestones make progress visible</a:t>
            </a:r>
            <a:endParaRPr sz="2250"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87299FC8-2306-4587-8915-BC9C4F6FA2C2}"/>
              </a:ext>
            </a:extLst>
          </p:cNvPr>
          <p:cNvSpPr>
            <a:spLocks xmlns:a="http://schemas.openxmlformats.org/drawingml/2006/main" noGrp="1"/>
          </p:cNvSpPr>
          <p:nvPr/>
        </p:nvSpPr>
        <p:spPr>
          <a:xfrm xmlns:a="http://schemas.openxmlformats.org/drawingml/2006/main">
            <a:off x="523875" y="2762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425" b="1">
                <a:solidFill>
                  <a:srgbClr val="800000"/>
                </a:solidFill>
                <a:latin typeface="Arial"/>
                <a:ea typeface="Arial"/>
                <a:cs typeface="Arial"/>
              </a:defRPr>
            </a:defPPr>
          </a:lstStyle>
          <a:p xmlns:a="http://schemas.openxmlformats.org/drawingml/2006/main">
            <a:pPr>
              <a:buNone/>
              <a:defRPr sz="4425" b="1">
                <a:solidFill>
                  <a:srgbClr val="800000"/>
                </a:solidFill>
                <a:latin typeface="Arial"/>
                <a:ea typeface="Arial"/>
                <a:cs typeface="Arial"/>
              </a:defRPr>
            </a:pPr>
            <a:r>
              <a:rPr sz="4425" b="1">
                <a:solidFill>
                  <a:srgbClr val="800000"/>
                </a:solidFill>
                <a:latin typeface="Arial"/>
                <a:ea typeface="Arial"/>
                <a:cs typeface="Arial"/>
              </a:rPr>
              <a:t>20</a:t>
            </a:r>
            <a:endParaRPr sz="4425" b="1">
              <a:solidFill>
                <a:srgbClr val="800000"/>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2B5A0016-0014-4A73-8FDD-A224ABF2DB38}"/>
              </a:ext>
            </a:extLst>
          </p:cNvPr>
          <p:cNvSpPr>
            <a:spLocks xmlns:a="http://schemas.openxmlformats.org/drawingml/2006/main" noGrp="1"/>
          </p:cNvSpPr>
          <p:nvPr/>
        </p:nvSpPr>
        <p:spPr>
          <a:xfrm xmlns:a="http://schemas.openxmlformats.org/drawingml/2006/main">
            <a:off x="523875" y="38100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Synthetic personas</a:t>
            </a:r>
            <a:endParaRPr sz="2175" b="0">
              <a:solidFill>
                <a:srgbClr val="151515"/>
              </a:solidFill>
              <a:latin typeface="Arial"/>
              <a:ea typeface="Arial"/>
              <a:cs typeface="Arial"/>
            </a:endParaRPr>
          </a:p>
        </p:txBody>
      </p:sp>
      <p:sp>
        <p:nvSpPr>
          <p:cNvPr id="13" name="Rectangle 12">
            <a:extLst xmlns:a="http://schemas.openxmlformats.org/drawingml/2006/main">
              <a:ext uri="{FF2B5EF4-FFF2-40B4-BE49-F238E27FC236}">
                <a16:creationId xmlns:a16="http://schemas.microsoft.com/office/drawing/2014/main" id="{11F65F85-A1F7-4056-9E91-4A10F746FA90}"/>
              </a:ext>
            </a:extLst>
          </p:cNvPr>
          <p:cNvSpPr>
            <a:spLocks xmlns:a="http://schemas.openxmlformats.org/drawingml/2006/main" noGrp="1"/>
          </p:cNvSpPr>
          <p:nvPr/>
        </p:nvSpPr>
        <p:spPr>
          <a:xfrm xmlns:a="http://schemas.openxmlformats.org/drawingml/2006/main">
            <a:off x="4429125" y="2762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425" b="1">
                <a:solidFill>
                  <a:srgbClr val="800000"/>
                </a:solidFill>
                <a:latin typeface="Arial"/>
                <a:ea typeface="Arial"/>
                <a:cs typeface="Arial"/>
              </a:defRPr>
            </a:defPPr>
          </a:lstStyle>
          <a:p xmlns:a="http://schemas.openxmlformats.org/drawingml/2006/main">
            <a:pPr>
              <a:buNone/>
              <a:defRPr sz="4425" b="1">
                <a:solidFill>
                  <a:srgbClr val="800000"/>
                </a:solidFill>
                <a:latin typeface="Arial"/>
                <a:ea typeface="Arial"/>
                <a:cs typeface="Arial"/>
              </a:defRPr>
            </a:pPr>
            <a:r>
              <a:rPr sz="4425" b="1">
                <a:solidFill>
                  <a:srgbClr val="800000"/>
                </a:solidFill>
                <a:latin typeface="Arial"/>
                <a:ea typeface="Arial"/>
                <a:cs typeface="Arial"/>
              </a:rPr>
              <a:t>100</a:t>
            </a:r>
            <a:endParaRPr sz="4425" b="1">
              <a:solidFill>
                <a:srgbClr val="800000"/>
              </a:solidFill>
              <a:latin typeface="Arial"/>
              <a:ea typeface="Arial"/>
              <a:cs typeface="Arial"/>
            </a:endParaRPr>
          </a:p>
        </p:txBody>
      </p:sp>
      <p:sp>
        <p:nvSpPr>
          <p:cNvPr id="14" name="Rectangle 13">
            <a:extLst xmlns:a="http://schemas.openxmlformats.org/drawingml/2006/main">
              <a:ext uri="{FF2B5EF4-FFF2-40B4-BE49-F238E27FC236}">
                <a16:creationId xmlns:a16="http://schemas.microsoft.com/office/drawing/2014/main" id="{EAA686DC-DA54-4ACE-B69E-5736C58C549B}"/>
              </a:ext>
            </a:extLst>
          </p:cNvPr>
          <p:cNvSpPr>
            <a:spLocks xmlns:a="http://schemas.openxmlformats.org/drawingml/2006/main" noGrp="1"/>
          </p:cNvSpPr>
          <p:nvPr/>
        </p:nvSpPr>
        <p:spPr>
          <a:xfrm xmlns:a="http://schemas.openxmlformats.org/drawingml/2006/main">
            <a:off x="4429125" y="38100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Exercise tasks</a:t>
            </a:r>
            <a:endParaRPr sz="2175" b="0">
              <a:solidFill>
                <a:srgbClr val="151515"/>
              </a:solidFill>
              <a:latin typeface="Arial"/>
              <a:ea typeface="Arial"/>
              <a:cs typeface="Arial"/>
            </a:endParaRPr>
          </a:p>
        </p:txBody>
      </p:sp>
      <p:sp>
        <p:nvSpPr>
          <p:cNvPr id="15" name="Rectangle 14">
            <a:extLst xmlns:a="http://schemas.openxmlformats.org/drawingml/2006/main">
              <a:ext uri="{FF2B5EF4-FFF2-40B4-BE49-F238E27FC236}">
                <a16:creationId xmlns:a16="http://schemas.microsoft.com/office/drawing/2014/main" id="{2E68968E-B706-4EE3-934D-5BC27396F85F}"/>
              </a:ext>
            </a:extLst>
          </p:cNvPr>
          <p:cNvSpPr>
            <a:spLocks xmlns:a="http://schemas.openxmlformats.org/drawingml/2006/main" noGrp="1"/>
          </p:cNvSpPr>
          <p:nvPr/>
        </p:nvSpPr>
        <p:spPr>
          <a:xfrm xmlns:a="http://schemas.openxmlformats.org/drawingml/2006/main">
            <a:off x="8334375" y="2762250"/>
            <a:ext cx="3619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425" b="1">
                <a:solidFill>
                  <a:srgbClr val="800000"/>
                </a:solidFill>
                <a:latin typeface="Arial"/>
                <a:ea typeface="Arial"/>
                <a:cs typeface="Arial"/>
              </a:defRPr>
            </a:defPPr>
          </a:lstStyle>
          <a:p xmlns:a="http://schemas.openxmlformats.org/drawingml/2006/main">
            <a:pPr>
              <a:buNone/>
              <a:defRPr sz="4425" b="1">
                <a:solidFill>
                  <a:srgbClr val="800000"/>
                </a:solidFill>
                <a:latin typeface="Arial"/>
                <a:ea typeface="Arial"/>
                <a:cs typeface="Arial"/>
              </a:defRPr>
            </a:pPr>
            <a:r>
              <a:rPr sz="4425" b="1">
                <a:solidFill>
                  <a:srgbClr val="800000"/>
                </a:solidFill>
                <a:latin typeface="Arial"/>
                <a:ea typeface="Arial"/>
                <a:cs typeface="Arial"/>
              </a:rPr>
              <a:t>60</a:t>
            </a:r>
            <a:endParaRPr sz="4425" b="1">
              <a:solidFill>
                <a:srgbClr val="800000"/>
              </a:solidFill>
              <a:latin typeface="Arial"/>
              <a:ea typeface="Arial"/>
              <a:cs typeface="Arial"/>
            </a:endParaRPr>
          </a:p>
        </p:txBody>
      </p:sp>
      <p:sp>
        <p:nvSpPr>
          <p:cNvPr id="16" name="Rectangle 15">
            <a:extLst xmlns:a="http://schemas.openxmlformats.org/drawingml/2006/main">
              <a:ext uri="{FF2B5EF4-FFF2-40B4-BE49-F238E27FC236}">
                <a16:creationId xmlns:a16="http://schemas.microsoft.com/office/drawing/2014/main" id="{B58F58A8-2A3F-47DC-BDCA-1474D53A28A9}"/>
              </a:ext>
            </a:extLst>
          </p:cNvPr>
          <p:cNvSpPr>
            <a:spLocks xmlns:a="http://schemas.openxmlformats.org/drawingml/2006/main" noGrp="1"/>
          </p:cNvSpPr>
          <p:nvPr/>
        </p:nvSpPr>
        <p:spPr>
          <a:xfrm xmlns:a="http://schemas.openxmlformats.org/drawingml/2006/main">
            <a:off x="8334375" y="381000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Days per rollout</a:t>
            </a:r>
            <a:endParaRPr sz="2175" b="0">
              <a:solidFill>
                <a:srgbClr val="151515"/>
              </a:solidFill>
              <a:latin typeface="Arial"/>
              <a:ea typeface="Arial"/>
              <a:cs typeface="Arial"/>
            </a:endParaRPr>
          </a:p>
        </p:txBody>
      </p:sp>
      <p:sp>
        <p:nvSpPr>
          <p:cNvPr id="17" name="Rectangle 16">
            <a:extLst xmlns:a="http://schemas.openxmlformats.org/drawingml/2006/main">
              <a:ext uri="{FF2B5EF4-FFF2-40B4-BE49-F238E27FC236}">
                <a16:creationId xmlns:a16="http://schemas.microsoft.com/office/drawing/2014/main" id="{890BFB57-31BE-4569-9D2C-8771A1DA3700}"/>
              </a:ext>
            </a:extLst>
          </p:cNvPr>
          <p:cNvSpPr>
            <a:spLocks xmlns:a="http://schemas.openxmlformats.org/drawingml/2006/main" noGrp="1"/>
          </p:cNvSpPr>
          <p:nvPr/>
        </p:nvSpPr>
        <p:spPr>
          <a:xfrm xmlns:a="http://schemas.openxmlformats.org/drawingml/2006/main">
            <a:off x="523875" y="5000625"/>
            <a:ext cx="11144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0000CC"/>
                </a:solidFill>
                <a:latin typeface="Arial"/>
                <a:ea typeface="Arial"/>
                <a:cs typeface="Arial"/>
              </a:defRPr>
            </a:defPPr>
          </a:lstStyle>
          <a:p xmlns:a="http://schemas.openxmlformats.org/drawingml/2006/main">
            <a:pPr>
              <a:buNone/>
              <a:defRPr sz="2175" b="1">
                <a:solidFill>
                  <a:srgbClr val="0000CC"/>
                </a:solidFill>
                <a:latin typeface="Arial"/>
                <a:ea typeface="Arial"/>
                <a:cs typeface="Arial"/>
              </a:defRPr>
            </a:pPr>
            <a:r>
              <a:rPr sz="2175" b="1">
                <a:solidFill>
                  <a:srgbClr val="0000CC"/>
                </a:solidFill>
                <a:latin typeface="Arial"/>
                <a:ea typeface="Arial"/>
                <a:cs typeface="Arial"/>
              </a:rPr>
              <a:t>ACL reconstruction, rotator-cuff repair and chronic back pain</a:t>
            </a:r>
            <a:endParaRPr sz="2175" b="1">
              <a:solidFill>
                <a:srgbClr val="0000CC"/>
              </a:solidFill>
              <a:latin typeface="Arial"/>
              <a:ea typeface="Arial"/>
              <a:cs typeface="Arial"/>
            </a:endParaRPr>
          </a:p>
        </p:txBody>
      </p:sp>
      <p:sp>
        <p:nvSpPr>
          <p:cNvPr id="18" name="Rectangle 17">
            <a:extLst xmlns:a="http://schemas.openxmlformats.org/drawingml/2006/main">
              <a:ext uri="{FF2B5EF4-FFF2-40B4-BE49-F238E27FC236}">
                <a16:creationId xmlns:a16="http://schemas.microsoft.com/office/drawing/2014/main" id="{BF08315C-131B-44BC-AA47-7F5A9007D8B9}"/>
              </a:ext>
            </a:extLst>
          </p:cNvPr>
          <p:cNvSpPr>
            <a:spLocks xmlns:a="http://schemas.openxmlformats.org/drawingml/2006/main" noGrp="1"/>
          </p:cNvSpPr>
          <p:nvPr/>
        </p:nvSpPr>
        <p:spPr>
          <a:xfrm xmlns:a="http://schemas.openxmlformats.org/drawingml/2006/main">
            <a:off x="523875" y="572452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666666"/>
                </a:solidFill>
                <a:latin typeface="Arial"/>
                <a:ea typeface="Arial"/>
                <a:cs typeface="Arial"/>
              </a:defRPr>
            </a:defPPr>
          </a:lstStyle>
          <a:p xmlns:a="http://schemas.openxmlformats.org/drawingml/2006/main">
            <a:pPr>
              <a:buNone/>
              <a:defRPr sz="1650" b="0">
                <a:solidFill>
                  <a:srgbClr val="666666"/>
                </a:solidFill>
                <a:latin typeface="Arial"/>
                <a:ea typeface="Arial"/>
                <a:cs typeface="Arial"/>
              </a:defRPr>
            </a:pPr>
            <a:r>
              <a:rPr sz="1650" b="0">
                <a:solidFill>
                  <a:srgbClr val="666666"/>
                </a:solidFill>
                <a:latin typeface="Arial"/>
                <a:ea typeface="Arial"/>
                <a:cs typeface="Arial"/>
              </a:rPr>
              <a:t>Synthetic inputs support controlled inspection, with no claim of clinical efficacy</a:t>
            </a:r>
            <a:endParaRPr sz="1650" b="0">
              <a:solidFill>
                <a:srgbClr val="666666"/>
              </a:solidFill>
              <a:latin typeface="Arial"/>
              <a:ea typeface="Arial"/>
              <a:cs typeface="Arial"/>
            </a:endParaRPr>
          </a:p>
        </p:txBody>
      </p:sp>
    </p:spTree>
    <p:extLst>
      <p:ext uri="{BB962C8B-B14F-4D97-AF65-F5344CB8AC3E}">
        <p14:creationId xmlns:p14="http://schemas.microsoft.com/office/powerpoint/2010/main" val="216674902"/>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2baebc97604d458a">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F681D1-0501-45F1-B526-EF4779956565}"/>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Five components in one daily loop</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67B7B305-F542-480C-AB02-FDF8E528E2F3}"/>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6B0EABE8-4326-4729-8AE1-F38F5482D834}"/>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0FAF8160-9787-49E7-8B1A-B002AD4838BA}"/>
              </a:ext>
            </a:extLst>
          </p:cNvPr>
          <p:cNvSpPr>
            <a:spLocks xmlns:a="http://schemas.openxmlformats.org/drawingml/2006/main" noGrp="1"/>
          </p:cNvSpPr>
          <p:nvPr/>
        </p:nvSpPr>
        <p:spPr>
          <a:xfrm xmlns:a="http://schemas.openxmlformats.org/drawingml/2006/main">
            <a:off x="457200" y="10572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0000CC"/>
                </a:solidFill>
                <a:latin typeface="Arial"/>
                <a:ea typeface="Arial"/>
                <a:cs typeface="Arial"/>
              </a:defRPr>
            </a:defPPr>
          </a:lstStyle>
          <a:p xmlns:a="http://schemas.openxmlformats.org/drawingml/2006/main">
            <a:pPr>
              <a:buNone/>
              <a:defRPr sz="2550" b="1">
                <a:solidFill>
                  <a:srgbClr val="0000CC"/>
                </a:solidFill>
                <a:latin typeface="Arial"/>
                <a:ea typeface="Arial"/>
                <a:cs typeface="Arial"/>
              </a:defRPr>
            </a:pPr>
            <a:r>
              <a:rPr sz="2550" b="1">
                <a:solidFill>
                  <a:srgbClr val="0000CC"/>
                </a:solidFill>
                <a:latin typeface="Arial"/>
                <a:ea typeface="Arial"/>
                <a:cs typeface="Arial"/>
              </a:rPr>
              <a:t>Daily execution</a:t>
            </a:r>
            <a:endParaRPr sz="2550" b="1">
              <a:solidFill>
                <a:srgbClr val="0000CC"/>
              </a:solidFill>
              <a:latin typeface="Arial"/>
              <a:ea typeface="Arial"/>
              <a:cs typeface="Arial"/>
            </a:endParaRPr>
          </a:p>
        </p:txBody>
      </p:sp>
      <p:sp>
        <p:nvSpPr>
          <p:cNvPr id="8" name="Rectangle 7">
            <a:extLst xmlns:a="http://schemas.openxmlformats.org/drawingml/2006/main">
              <a:ext uri="{FF2B5EF4-FFF2-40B4-BE49-F238E27FC236}">
                <a16:creationId xmlns:a16="http://schemas.microsoft.com/office/drawing/2014/main" id="{90911FB3-673F-478F-B807-DD893CDE9CA7}"/>
              </a:ext>
            </a:extLst>
          </p:cNvPr>
          <p:cNvSpPr>
            <a:spLocks xmlns:a="http://schemas.openxmlformats.org/drawingml/2006/main" noGrp="1"/>
          </p:cNvSpPr>
          <p:nvPr/>
        </p:nvSpPr>
        <p:spPr>
          <a:xfrm xmlns:a="http://schemas.openxmlformats.org/drawingml/2006/main">
            <a:off x="457200" y="1666875"/>
            <a:ext cx="53340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User Simulator supplies state</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Safety filters the catalogue</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SAPS ranks; Safety checks the shortlist</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Narrator presents a task</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Choice, Reward Composer and updates</a:t>
            </a:r>
            <a:endParaRPr sz="2325" b="0">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9F9DF8F5-6501-4F36-BA1D-8714BC160A99}"/>
              </a:ext>
            </a:extLst>
          </p:cNvPr>
          <p:cNvSpPr>
            <a:spLocks xmlns:a="http://schemas.openxmlformats.org/drawingml/2006/main" noGrp="1"/>
          </p:cNvSpPr>
          <p:nvPr/>
        </p:nvSpPr>
        <p:spPr>
          <a:xfrm xmlns:a="http://schemas.openxmlformats.org/drawingml/2006/main">
            <a:off x="6267450" y="1057275"/>
            <a:ext cx="552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550" b="1">
                <a:solidFill>
                  <a:srgbClr val="0000CC"/>
                </a:solidFill>
                <a:latin typeface="Arial"/>
                <a:ea typeface="Arial"/>
                <a:cs typeface="Arial"/>
              </a:defRPr>
            </a:defPPr>
          </a:lstStyle>
          <a:p xmlns:a="http://schemas.openxmlformats.org/drawingml/2006/main">
            <a:pPr>
              <a:buNone/>
              <a:defRPr sz="2550" b="1">
                <a:solidFill>
                  <a:srgbClr val="0000CC"/>
                </a:solidFill>
                <a:latin typeface="Arial"/>
                <a:ea typeface="Arial"/>
                <a:cs typeface="Arial"/>
              </a:defRPr>
            </a:pPr>
            <a:r>
              <a:rPr sz="2550" b="1">
                <a:solidFill>
                  <a:srgbClr val="0000CC"/>
                </a:solidFill>
                <a:latin typeface="Arial"/>
                <a:ea typeface="Arial"/>
                <a:cs typeface="Arial"/>
              </a:rPr>
              <a:t>SAPS selection and feedback</a:t>
            </a:r>
            <a:endParaRPr sz="2550"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CC2DF505-C900-454F-A546-54A43E70F95A}"/>
              </a:ext>
            </a:extLst>
          </p:cNvPr>
          <p:cNvSpPr>
            <a:spLocks xmlns:a="http://schemas.openxmlformats.org/drawingml/2006/main" noGrp="1"/>
          </p:cNvSpPr>
          <p:nvPr/>
        </p:nvSpPr>
        <p:spPr>
          <a:xfrm xmlns:a="http://schemas.openxmlformats.org/drawingml/2006/main">
            <a:off x="6267450" y="1666875"/>
            <a:ext cx="5476875"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51515"/>
                </a:solidFill>
                <a:latin typeface="Arial"/>
                <a:ea typeface="Arial"/>
                <a:cs typeface="Arial"/>
              </a:defRPr>
            </a:defPPr>
          </a:lstStyle>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S(a) = r_ucb(a) + 2.0 × s</a:t>
            </a:r>
            <a:endParaRPr sz="2250" b="0">
              <a:solidFill>
                <a:srgbClr val="151515"/>
              </a:solidFill>
              <a:latin typeface="Arial"/>
              <a:ea typeface="Arial"/>
              <a:cs typeface="Arial"/>
            </a:endParaRPr>
          </a:p>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s ~ Beta(alpha_a, beta_a)</a:t>
            </a:r>
            <a:endParaRPr sz="2250" b="0">
              <a:solidFill>
                <a:srgbClr val="151515"/>
              </a:solidFill>
              <a:latin typeface="Arial"/>
              <a:ea typeface="Arial"/>
              <a:cs typeface="Arial"/>
            </a:endParaRPr>
          </a:p>
          <a:p xmlns:a="http://schemas.openxmlformats.org/drawingml/2006/main">
            <a:pPr>
              <a:buNone/>
              <a:defRPr sz="2250" b="0">
                <a:solidFill>
                  <a:srgbClr val="151515"/>
                </a:solidFill>
                <a:latin typeface="Arial"/>
                <a:ea typeface="Arial"/>
                <a:cs typeface="Arial"/>
              </a:defRPr>
            </a:pPr>
            <a:r>
              <a:rPr sz="2250" b="0">
                <a:solidFill>
                  <a:srgbClr val="151515"/>
                </a:solidFill>
                <a:latin typeface="Arial"/>
                <a:ea typeface="Arial"/>
                <a:cs typeface="Arial"/>
              </a:rPr>
              <a:t/>
            </a:r>
            <a:endParaRPr sz="2250" b="0">
              <a:solidFill>
                <a:srgbClr val="151515"/>
              </a:solidFill>
              <a:latin typeface="Arial"/>
              <a:ea typeface="Arial"/>
              <a:cs typeface="Arial"/>
            </a:endParaRPr>
          </a:p>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Chosen-task pain_change ≤ 1.0</a:t>
            </a:r>
            <a:endParaRPr sz="2250" b="0">
              <a:solidFill>
                <a:srgbClr val="151515"/>
              </a:solidFill>
              <a:latin typeface="Arial"/>
              <a:ea typeface="Arial"/>
              <a:cs typeface="Arial"/>
            </a:endParaRPr>
          </a:p>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updates the Beta safety estimate</a:t>
            </a:r>
            <a:endParaRPr sz="2250" b="0">
              <a:solidFill>
                <a:srgbClr val="151515"/>
              </a:solidFill>
              <a:latin typeface="Arial"/>
              <a:ea typeface="Arial"/>
              <a:cs typeface="Arial"/>
            </a:endParaRPr>
          </a:p>
          <a:p xmlns:a="http://schemas.openxmlformats.org/drawingml/2006/main">
            <a:pPr>
              <a:buNone/>
              <a:defRPr sz="2100" b="0">
                <a:solidFill>
                  <a:srgbClr val="151515"/>
                </a:solidFill>
                <a:latin typeface="Arial"/>
                <a:ea typeface="Arial"/>
                <a:cs typeface="Arial"/>
              </a:defRPr>
            </a:pPr>
            <a:r>
              <a:rPr sz="2100" b="0">
                <a:solidFill>
                  <a:srgbClr val="151515"/>
                </a:solidFill>
                <a:latin typeface="Arial"/>
                <a:ea typeface="Arial"/>
                <a:cs typeface="Arial"/>
              </a:rPr>
              <a:t>An internal gate restricts output</a:t>
            </a:r>
            <a:endParaRPr sz="2250"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54B56F5C-3EFE-455C-A19D-020C20FBE3CD}"/>
              </a:ext>
            </a:extLst>
          </p:cNvPr>
          <p:cNvSpPr>
            <a:spLocks xmlns:a="http://schemas.openxmlformats.org/drawingml/2006/main" noGrp="1"/>
          </p:cNvSpPr>
          <p:nvPr/>
        </p:nvSpPr>
        <p:spPr>
          <a:xfrm xmlns:a="http://schemas.openxmlformats.org/drawingml/2006/main">
            <a:off x="333375" y="4895850"/>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800000"/>
                </a:solidFill>
                <a:latin typeface="Arial"/>
                <a:ea typeface="Arial"/>
                <a:cs typeface="Arial"/>
              </a:defRPr>
            </a:defPPr>
          </a:lstStyle>
          <a:p xmlns:a="http://schemas.openxmlformats.org/drawingml/2006/main">
            <a:pPr>
              <a:buNone/>
              <a:defRPr sz="2175" b="1">
                <a:solidFill>
                  <a:srgbClr val="800000"/>
                </a:solidFill>
                <a:latin typeface="Arial"/>
                <a:ea typeface="Arial"/>
                <a:cs typeface="Arial"/>
              </a:defRPr>
            </a:pPr>
            <a:r>
              <a:rPr sz="2175" b="1">
                <a:solidFill>
                  <a:srgbClr val="800000"/>
                </a:solidFill>
                <a:latin typeface="Arial"/>
                <a:ea typeface="Arial"/>
                <a:cs typeface="Arial"/>
              </a:rPr>
              <a:t>IER: ungated proposals. SVR: accepted-task violations</a:t>
            </a:r>
            <a:endParaRPr sz="2175" b="1">
              <a:solidFill>
                <a:srgbClr val="800000"/>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F6558B6C-CEB3-48DF-97EE-767ADFA754A2}"/>
              </a:ext>
            </a:extLst>
          </p:cNvPr>
          <p:cNvSpPr>
            <a:spLocks xmlns:a="http://schemas.openxmlformats.org/drawingml/2006/main" noGrp="1"/>
          </p:cNvSpPr>
          <p:nvPr/>
        </p:nvSpPr>
        <p:spPr>
          <a:xfrm xmlns:a="http://schemas.openxmlformats.org/drawingml/2006/main">
            <a:off x="457200" y="5715000"/>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66666"/>
                </a:solidFill>
                <a:latin typeface="Arial"/>
                <a:ea typeface="Arial"/>
                <a:cs typeface="Arial"/>
              </a:defRPr>
            </a:defPPr>
          </a:lstStyle>
          <a:p xmlns:a="http://schemas.openxmlformats.org/drawingml/2006/main">
            <a:pPr>
              <a:buNone/>
              <a:defRPr sz="1650" b="0">
                <a:solidFill>
                  <a:srgbClr val="666666"/>
                </a:solidFill>
                <a:latin typeface="Arial"/>
                <a:ea typeface="Arial"/>
                <a:cs typeface="Arial"/>
              </a:defRPr>
            </a:pPr>
            <a:r>
              <a:rPr sz="1650" b="0">
                <a:solidFill>
                  <a:srgbClr val="666666"/>
                </a:solidFill>
                <a:latin typeface="Arial"/>
                <a:ea typeface="Arial"/>
                <a:cs typeface="Arial"/>
              </a:rPr>
              <a:t>Reward uses LinUCB UCB. Only the safety bonus is Thompson sampled</a:t>
            </a:r>
            <a:endParaRPr sz="1575" b="0">
              <a:solidFill>
                <a:srgbClr val="666666"/>
              </a:solidFill>
              <a:latin typeface="Arial"/>
              <a:ea typeface="Arial"/>
              <a:cs typeface="Arial"/>
            </a:endParaRPr>
          </a:p>
        </p:txBody>
      </p:sp>
    </p:spTree>
    <p:extLst>
      <p:ext uri="{BB962C8B-B14F-4D97-AF65-F5344CB8AC3E}">
        <p14:creationId xmlns:p14="http://schemas.microsoft.com/office/powerpoint/2010/main" val="564290388"/>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4427ad86a7bd4e11">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E2A29F5-2EEA-4047-AC72-64105EFAD3A9}"/>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Reward and proposal feasibility</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D67C9DA0-A147-4212-A1F3-5B2475D028DD}"/>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BAA7E2DE-0294-4F53-A301-5CFD764DA995}"/>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F8DF2172-A365-4FB9-AD5C-E38592208E73}"/>
              </a:ext>
            </a:extLst>
          </p:cNvPr>
          <p:cNvSpPr>
            <a:spLocks xmlns:a="http://schemas.openxmlformats.org/drawingml/2006/main" noGrp="1"/>
          </p:cNvSpPr>
          <p:nvPr/>
        </p:nvSpPr>
        <p:spPr>
          <a:xfrm xmlns:a="http://schemas.openxmlformats.org/drawingml/2006/main">
            <a:off x="409575" y="876300"/>
            <a:ext cx="11239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0000CC"/>
                </a:solidFill>
                <a:latin typeface="Arial"/>
                <a:ea typeface="Arial"/>
                <a:cs typeface="Arial"/>
              </a:defRPr>
            </a:defPPr>
          </a:lstStyle>
          <a:p xmlns:a="http://schemas.openxmlformats.org/drawingml/2006/main">
            <a:pPr>
              <a:buNone/>
              <a:defRPr sz="2100" b="1">
                <a:solidFill>
                  <a:srgbClr val="0000CC"/>
                </a:solidFill>
                <a:latin typeface="Arial"/>
                <a:ea typeface="Arial"/>
                <a:cs typeface="Arial"/>
              </a:defRPr>
            </a:pPr>
            <a:r>
              <a:rPr sz="2100" b="1">
                <a:solidFill>
                  <a:srgbClr val="0000CC"/>
                </a:solidFill>
                <a:latin typeface="Arial"/>
                <a:ea typeface="Arial"/>
                <a:cs typeface="Arial"/>
              </a:rPr>
              <a:t>20 synthetic personas, 60 days, seed 42</a:t>
            </a:r>
            <a:endParaRPr sz="2100" b="1">
              <a:solidFill>
                <a:srgbClr val="0000CC"/>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6001AC0F-2945-4B5A-95AF-E81B5FEEE3FD}"/>
              </a:ext>
            </a:extLst>
          </p:cNvPr>
          <p:cNvSpPr>
            <a:spLocks xmlns:a="http://schemas.openxmlformats.org/drawingml/2006/main" noGrp="1"/>
          </p:cNvSpPr>
          <p:nvPr/>
        </p:nvSpPr>
        <p:spPr>
          <a:xfrm xmlns:a="http://schemas.openxmlformats.org/drawingml/2006/main">
            <a:off x="8001000" y="1495425"/>
            <a:ext cx="3619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0000CC"/>
                </a:solidFill>
                <a:latin typeface="Arial"/>
                <a:ea typeface="Arial"/>
                <a:cs typeface="Arial"/>
              </a:defRPr>
            </a:defPPr>
          </a:lstStyle>
          <a:p xmlns:a="http://schemas.openxmlformats.org/drawingml/2006/main">
            <a:pPr>
              <a:buNone/>
              <a:defRPr sz="2400" b="1">
                <a:solidFill>
                  <a:srgbClr val="0000CC"/>
                </a:solidFill>
                <a:latin typeface="Arial"/>
                <a:ea typeface="Arial"/>
                <a:cs typeface="Arial"/>
              </a:defRPr>
            </a:pPr>
            <a:r>
              <a:rPr sz="2400" b="1">
                <a:solidFill>
                  <a:srgbClr val="0000CC"/>
                </a:solidFill>
                <a:latin typeface="Arial"/>
                <a:ea typeface="Arial"/>
                <a:cs typeface="Arial"/>
              </a:rPr>
              <a:t>Ungated IER</a:t>
            </a:r>
            <a:endParaRPr sz="2550"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A0BFBFF9-95E6-4E05-8401-C83A5DCFAE7D}"/>
              </a:ext>
            </a:extLst>
          </p:cNvPr>
          <p:cNvSpPr>
            <a:spLocks xmlns:a="http://schemas.openxmlformats.org/drawingml/2006/main" noGrp="1"/>
          </p:cNvSpPr>
          <p:nvPr/>
        </p:nvSpPr>
        <p:spPr>
          <a:xfrm xmlns:a="http://schemas.openxmlformats.org/drawingml/2006/main">
            <a:off x="8001000" y="213360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700" b="1">
                <a:solidFill>
                  <a:srgbClr val="800000"/>
                </a:solidFill>
                <a:latin typeface="Arial"/>
                <a:ea typeface="Arial"/>
                <a:cs typeface="Arial"/>
              </a:defRPr>
            </a:defPPr>
          </a:lstStyle>
          <a:p xmlns:a="http://schemas.openxmlformats.org/drawingml/2006/main">
            <a:pPr>
              <a:buNone/>
              <a:defRPr sz="2700" b="1">
                <a:solidFill>
                  <a:srgbClr val="800000"/>
                </a:solidFill>
                <a:latin typeface="Arial"/>
                <a:ea typeface="Arial"/>
                <a:cs typeface="Arial"/>
              </a:defRPr>
            </a:pPr>
            <a:r>
              <a:rPr sz="2700" b="1">
                <a:solidFill>
                  <a:srgbClr val="800000"/>
                </a:solidFill>
                <a:latin typeface="Arial"/>
                <a:ea typeface="Arial"/>
                <a:cs typeface="Arial"/>
              </a:rPr>
              <a:t>SAPS  0.0223</a:t>
            </a:r>
            <a:endParaRPr sz="3150" b="1">
              <a:solidFill>
                <a:srgbClr val="800000"/>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6241DD10-B9DE-465D-B7BA-C1975AC621A5}"/>
              </a:ext>
            </a:extLst>
          </p:cNvPr>
          <p:cNvSpPr>
            <a:spLocks xmlns:a="http://schemas.openxmlformats.org/drawingml/2006/main" noGrp="1"/>
          </p:cNvSpPr>
          <p:nvPr/>
        </p:nvSpPr>
        <p:spPr>
          <a:xfrm xmlns:a="http://schemas.openxmlformats.org/drawingml/2006/main">
            <a:off x="8001000" y="2971800"/>
            <a:ext cx="3619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LinUCB  0.0233</a:t>
            </a:r>
            <a:endParaRPr sz="2400" b="0">
              <a:solidFill>
                <a:srgbClr val="151515"/>
              </a:solidFill>
              <a:latin typeface="Arial"/>
              <a:ea typeface="Arial"/>
              <a:cs typeface="Arial"/>
            </a:endParaRPr>
          </a:p>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Random  0.4082</a:t>
            </a:r>
            <a:endParaRPr sz="2400" b="0">
              <a:solidFill>
                <a:srgbClr val="151515"/>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1FE2288E-2C6D-48FA-804C-8286F9AA8306}"/>
              </a:ext>
            </a:extLst>
          </p:cNvPr>
          <p:cNvSpPr>
            <a:spLocks xmlns:a="http://schemas.openxmlformats.org/drawingml/2006/main" noGrp="1"/>
          </p:cNvSpPr>
          <p:nvPr/>
        </p:nvSpPr>
        <p:spPr>
          <a:xfrm xmlns:a="http://schemas.openxmlformats.org/drawingml/2006/main">
            <a:off x="333375" y="5181600"/>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800000"/>
                </a:solidFill>
                <a:latin typeface="Arial"/>
                <a:ea typeface="Arial"/>
                <a:cs typeface="Arial"/>
              </a:defRPr>
            </a:defPPr>
          </a:lstStyle>
          <a:p xmlns:a="http://schemas.openxmlformats.org/drawingml/2006/main">
            <a:pPr>
              <a:buNone/>
              <a:defRPr sz="2025" b="1">
                <a:solidFill>
                  <a:srgbClr val="800000"/>
                </a:solidFill>
                <a:latin typeface="Arial"/>
                <a:ea typeface="Arial"/>
                <a:cs typeface="Arial"/>
              </a:defRPr>
            </a:pPr>
            <a:r>
              <a:rPr sz="2025" b="1">
                <a:solidFill>
                  <a:srgbClr val="800000"/>
                </a:solidFill>
                <a:latin typeface="Arial"/>
                <a:ea typeface="Arial"/>
                <a:cs typeface="Arial"/>
              </a:rPr>
              <a:t>LinUCB without Safety: 171 / 772 accepted tasks violate runtime rules</a:t>
            </a:r>
            <a:endParaRPr sz="2175" b="1">
              <a:solidFill>
                <a:srgbClr val="800000"/>
              </a:solidFill>
              <a:latin typeface="Arial"/>
              <a:ea typeface="Arial"/>
              <a:cs typeface="Arial"/>
            </a:endParaRPr>
          </a:p>
        </p:txBody>
      </p:sp>
      <p:sp>
        <p:nvSpPr>
          <p:cNvPr id="13" name="Rectangle 12">
            <a:extLst xmlns:a="http://schemas.openxmlformats.org/drawingml/2006/main">
              <a:ext uri="{FF2B5EF4-FFF2-40B4-BE49-F238E27FC236}">
                <a16:creationId xmlns:a16="http://schemas.microsoft.com/office/drawing/2014/main" id="{97A8BAD1-134B-417A-A7A4-3DA2156B0350}"/>
              </a:ext>
            </a:extLst>
          </p:cNvPr>
          <p:cNvSpPr>
            <a:spLocks xmlns:a="http://schemas.openxmlformats.org/drawingml/2006/main" noGrp="1"/>
          </p:cNvSpPr>
          <p:nvPr/>
        </p:nvSpPr>
        <p:spPr>
          <a:xfrm xmlns:a="http://schemas.openxmlformats.org/drawingml/2006/main">
            <a:off x="457200" y="5800725"/>
            <a:ext cx="1123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66666"/>
                </a:solidFill>
                <a:latin typeface="Arial"/>
                <a:ea typeface="Arial"/>
                <a:cs typeface="Arial"/>
              </a:defRPr>
            </a:defPPr>
          </a:lstStyle>
          <a:p xmlns:a="http://schemas.openxmlformats.org/drawingml/2006/main">
            <a:pPr>
              <a:buNone/>
              <a:defRPr sz="1650" b="0">
                <a:solidFill>
                  <a:srgbClr val="666666"/>
                </a:solidFill>
                <a:latin typeface="Arial"/>
                <a:ea typeface="Arial"/>
                <a:cs typeface="Arial"/>
              </a:defRPr>
            </a:pPr>
            <a:r>
              <a:rPr sz="1650" b="0">
                <a:solidFill>
                  <a:srgbClr val="666666"/>
                </a:solidFill>
                <a:latin typeface="Arial"/>
                <a:ea typeface="Arial"/>
                <a:cs typeface="Arial"/>
              </a:rPr>
              <a:t>SAPS vs LinUCB reward p = 0.743. No significant advantage</a:t>
            </a:r>
            <a:endParaRPr sz="1725" b="0">
              <a:solidFill>
                <a:srgbClr val="666666"/>
              </a:solidFill>
              <a:latin typeface="Arial"/>
              <a:ea typeface="Arial"/>
              <a:cs typeface="Arial"/>
            </a:endParaRPr>
          </a:p>
        </p:txBody>
      </p:sp>
      <p:graphicFrame>
        <p:nvGraphicFramePr>
          <p:cNvPr id="14" name="Chart">
            <a:extLst xmlns:a="http://schemas.openxmlformats.org/drawingml/2006/main">
              <a:ext uri="{FF2B5EF4-FFF2-40B4-BE49-F238E27FC236}">
                <a16:creationId xmlns:a16="http://schemas.microsoft.com/office/drawing/2014/main" id="{B1D22F5B-CDC1-41C1-863D-9976CB7DC71C}"/>
              </a:ext>
            </a:extLst>
          </p:cNvPr>
          <p:cNvGraphicFramePr/>
          <p:nvPr/>
        </p:nvGraphicFramePr>
        <p:xfrm>
          <a:off xmlns:a="http://schemas.openxmlformats.org/drawingml/2006/main" x="457200" y="1428750"/>
          <a:ext xmlns:a="http://schemas.openxmlformats.org/drawingml/2006/main" cx="7191375" cy="3571875"/>
        </p:xfrm>
        <a:graphic xmlns:a="http://schemas.openxmlformats.org/drawingml/2006/main">
          <a:graphicData uri="http://schemas.openxmlformats.org/drawingml/2006/chart">
            <c:chart xmlns:r="http://schemas.openxmlformats.org/officeDocument/2006/relationships" xmlns:c="http://schemas.openxmlformats.org/drawingml/2006/chart" r:id="Re39008bd000b452c"/>
          </a:graphicData>
        </a:graphic>
      </p:graphicFrame>
    </p:spTree>
    <p:extLst>
      <p:ext uri="{BB962C8B-B14F-4D97-AF65-F5344CB8AC3E}">
        <p14:creationId xmlns:p14="http://schemas.microsoft.com/office/powerpoint/2010/main" val="1940986319"/>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fa17fdc314334b52">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4074401-8CC7-484C-9CD5-38D38774FDF8}"/>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A companion for the rehabilitation journey</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FB31022F-6CC9-4822-961E-7409E6D6D8F5}"/>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9B147BF8-65D3-4F00-BEAB-391F4C924713}"/>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D05F4EFF-125D-4BF8-A8AB-904A9C8E1C01}"/>
              </a:ext>
            </a:extLst>
          </p:cNvPr>
          <p:cNvSpPr>
            <a:spLocks xmlns:a="http://schemas.openxmlformats.org/drawingml/2006/main" noGrp="1"/>
          </p:cNvSpPr>
          <p:nvPr/>
        </p:nvSpPr>
        <p:spPr>
          <a:xfrm xmlns:a="http://schemas.openxmlformats.org/drawingml/2006/main">
            <a:off x="457200" y="866775"/>
            <a:ext cx="1114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0000CC"/>
                </a:solidFill>
                <a:latin typeface="Arial"/>
                <a:ea typeface="Arial"/>
                <a:cs typeface="Arial"/>
              </a:defRPr>
            </a:defPPr>
          </a:lstStyle>
          <a:p xmlns:a="http://schemas.openxmlformats.org/drawingml/2006/main">
            <a:pPr>
              <a:buNone/>
              <a:defRPr sz="2175" b="1">
                <a:solidFill>
                  <a:srgbClr val="0000CC"/>
                </a:solidFill>
                <a:latin typeface="Arial"/>
                <a:ea typeface="Arial"/>
                <a:cs typeface="Arial"/>
              </a:defRPr>
            </a:pPr>
            <a:r>
              <a:rPr sz="2175" b="1">
                <a:solidFill>
                  <a:srgbClr val="0000CC"/>
                </a:solidFill>
                <a:latin typeface="Arial"/>
                <a:ea typeface="Arial"/>
                <a:cs typeface="Arial"/>
              </a:rPr>
              <a:t>Small achievements and permission to rest</a:t>
            </a:r>
            <a:endParaRPr sz="2175" b="1">
              <a:solidFill>
                <a:srgbClr val="0000CC"/>
              </a:solidFill>
              <a:latin typeface="Arial"/>
              <a:ea typeface="Arial"/>
              <a:cs typeface="Arial"/>
            </a:endParaRPr>
          </a:p>
        </p:txBody>
      </p:sp>
      <p:sp>
        <p:nvSpPr>
          <p:cNvPr id="8" name="Rectangle 7">
            <a:extLst xmlns:a="http://schemas.openxmlformats.org/drawingml/2006/main">
              <a:ext uri="{FF2B5EF4-FFF2-40B4-BE49-F238E27FC236}">
                <a16:creationId xmlns:a16="http://schemas.microsoft.com/office/drawing/2014/main" id="{D642059E-CD19-4027-A5B2-11CD14410573}"/>
              </a:ext>
            </a:extLst>
          </p:cNvPr>
          <p:cNvSpPr>
            <a:spLocks xmlns:a="http://schemas.openxmlformats.org/drawingml/2006/main" noGrp="1"/>
          </p:cNvSpPr>
          <p:nvPr/>
        </p:nvSpPr>
        <p:spPr>
          <a:xfrm xmlns:a="http://schemas.openxmlformats.org/drawingml/2006/main">
            <a:off x="457200" y="1381125"/>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Recorded Day 1: Alex and Pip</a:t>
            </a:r>
            <a:endParaRPr sz="2100" b="0">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F9BA18BE-B8E8-45A1-96D9-BBED8535B828}"/>
              </a:ext>
            </a:extLst>
          </p:cNvPr>
          <p:cNvSpPr>
            <a:spLocks xmlns:a="http://schemas.openxmlformats.org/drawingml/2006/main" noGrp="1"/>
          </p:cNvSpPr>
          <p:nvPr/>
        </p:nvSpPr>
        <p:spPr>
          <a:xfrm xmlns:a="http://schemas.openxmlformats.org/drawingml/2006/main">
            <a:off x="7858125" y="1381125"/>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A supportive companion</a:t>
            </a:r>
            <a:endParaRPr sz="2100"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9EE2E005-6E54-4354-8951-B8BC744A0961}"/>
              </a:ext>
            </a:extLst>
          </p:cNvPr>
          <p:cNvSpPr>
            <a:spLocks xmlns:a="http://schemas.openxmlformats.org/drawingml/2006/main" noGrp="1"/>
          </p:cNvSpPr>
          <p:nvPr/>
        </p:nvSpPr>
        <p:spPr>
          <a:xfrm xmlns:a="http://schemas.openxmlformats.org/drawingml/2006/main">
            <a:off x="333375" y="5362575"/>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800000"/>
                </a:solidFill>
                <a:latin typeface="Arial"/>
                <a:ea typeface="Arial"/>
                <a:cs typeface="Arial"/>
              </a:defRPr>
            </a:defPPr>
          </a:lstStyle>
          <a:p xmlns:a="http://schemas.openxmlformats.org/drawingml/2006/main">
            <a:pPr>
              <a:buNone/>
              <a:defRPr sz="1950" b="1">
                <a:solidFill>
                  <a:srgbClr val="800000"/>
                </a:solidFill>
                <a:latin typeface="Arial"/>
                <a:ea typeface="Arial"/>
                <a:cs typeface="Arial"/>
              </a:defRPr>
            </a:pPr>
            <a:r>
              <a:rPr sz="1950" b="1">
                <a:solidFill>
                  <a:srgbClr val="800000"/>
                </a:solidFill>
                <a:latin typeface="Arial"/>
                <a:ea typeface="Arial"/>
                <a:cs typeface="Arial"/>
              </a:rPr>
              <a:t>CLI runs the backend. HTML replies preserve recorded outcomes</a:t>
            </a:r>
            <a:endParaRPr sz="2175" b="1">
              <a:solidFill>
                <a:srgbClr val="800000"/>
              </a:solidFill>
              <a:latin typeface="Arial"/>
              <a:ea typeface="Arial"/>
              <a:cs typeface="Arial"/>
            </a:endParaRPr>
          </a:p>
        </p:txBody>
      </p:sp>
      <p:pic>
        <p:nvPicPr>
          <p:cNvPr id="12" name="">
            <a:extLst xmlns:a="http://schemas.openxmlformats.org/drawingml/2006/main">
              <a:ext uri="{FF2B5EF4-FFF2-40B4-BE49-F238E27FC236}">
                <a16:creationId xmlns:a16="http://schemas.microsoft.com/office/drawing/2014/main" id="{C32E4C21-3F83-4385-B46D-6BDB5A242196}"/>
              </a:ext>
            </a:extLst>
          </p:cNvPr>
          <p:cNvPicPr>
            <a:picLocks xmlns:a="http://schemas.openxmlformats.org/drawingml/2006/main" noChangeAspect="1"/>
          </p:cNvPicPr>
          <p:nvPr/>
        </p:nvPicPr>
        <p:blipFill>
          <a:blip xmlns:r="http://schemas.openxmlformats.org/officeDocument/2006/relationships" xmlns:a="http://schemas.openxmlformats.org/drawingml/2006/main" r:embed="Ree21361f5eb542e2"/>
          <a:stretch xmlns:a="http://schemas.openxmlformats.org/drawingml/2006/main"/>
        </p:blipFill>
        <p:spPr>
          <a:xfrm xmlns:a="http://schemas.openxmlformats.org/drawingml/2006/main">
            <a:off x="471668" y="1838325"/>
            <a:ext cx="6829063" cy="3371850"/>
          </a:xfrm>
          <a:prstGeom xmlns:a="http://schemas.openxmlformats.org/drawingml/2006/main" prst="rect">
            <a:avLst/>
          </a:prstGeom>
        </p:spPr>
      </p:pic>
      <p:sp>
        <p:nvSpPr>
          <p:cNvPr id="13" name="day1-trace">
            <a:extLst xmlns:a="http://schemas.openxmlformats.org/drawingml/2006/main">
              <a:ext uri="{FF2B5EF4-FFF2-40B4-BE49-F238E27FC236}">
                <a16:creationId xmlns:a16="http://schemas.microsoft.com/office/drawing/2014/main" id="{DD6DBA14-3476-4869-823A-47DC0E06DA39}"/>
              </a:ext>
            </a:extLst>
          </p:cNvPr>
          <p:cNvSpPr>
            <a:spLocks xmlns:a="http://schemas.openxmlformats.org/drawingml/2006/main" noGrp="1"/>
          </p:cNvSpPr>
          <p:nvPr/>
        </p:nvSpPr>
        <p:spPr>
          <a:xfrm xmlns:a="http://schemas.openxmlformats.org/drawingml/2006/main">
            <a:off x="7858125" y="1905000"/>
            <a:ext cx="37147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Forest, Canyon, Summit</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60 days of milestones</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Camp when tired</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Rest counts as part of the journey</a:t>
            </a:r>
          </a:p>
          <a:p xmlns:a="http://schemas.openxmlformats.org/drawingml/2006/main">
            <a:r>
              <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Real tasks and safety counts</a:t>
            </a:r>
          </a:p>
          <a:p xmlns:a="http://schemas.openxmlformats.org/drawingml/2006/main">
            <a:pPr>
              <a:defRPr sz="2025" b="0">
                <a:solidFill>
                  <a:srgbClr val="151515"/>
                </a:solidFill>
                <a:latin typeface="Arial"/>
                <a:ea typeface="Arial"/>
                <a:cs typeface="Arial"/>
              </a:defRPr>
            </a:pPr>
            <a:r>
              <a:rPr sz="2025" b="0">
                <a:solidFill>
                  <a:srgbClr val="151515"/>
                </a:solidFill>
                <a:latin typeface="Arial"/>
                <a:ea typeface="Arial"/>
                <a:cs typeface="Arial"/>
              </a:rPr>
              <a:t>remain visible</a:t>
            </a:r>
          </a:p>
        </p:txBody>
      </p:sp>
    </p:spTree>
    <p:extLst>
      <p:ext uri="{BB962C8B-B14F-4D97-AF65-F5344CB8AC3E}">
        <p14:creationId xmlns:p14="http://schemas.microsoft.com/office/powerpoint/2010/main" val="2056422700"/>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c70e93f0433b464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00E33D-A5D5-44B1-9101-C2E93F47D1FE}"/>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Conclusion</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47763F4D-1A11-4971-BF8C-E55D6D4F6658}"/>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F52A3055-9FEC-4BF5-AEBF-F7BCAF74604D}"/>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1A10AB37-E8DB-415A-9AE8-0443E0C04A25}"/>
              </a:ext>
            </a:extLst>
          </p:cNvPr>
          <p:cNvSpPr>
            <a:spLocks xmlns:a="http://schemas.openxmlformats.org/drawingml/2006/main" noGrp="1"/>
          </p:cNvSpPr>
          <p:nvPr/>
        </p:nvSpPr>
        <p:spPr>
          <a:xfrm xmlns:a="http://schemas.openxmlformats.org/drawingml/2006/main">
            <a:off x="457200" y="952500"/>
            <a:ext cx="11144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625" b="1">
                <a:solidFill>
                  <a:srgbClr val="0000CC"/>
                </a:solidFill>
                <a:latin typeface="Arial"/>
                <a:ea typeface="Arial"/>
                <a:cs typeface="Arial"/>
              </a:defRPr>
            </a:defPPr>
          </a:lstStyle>
          <a:p xmlns:a="http://schemas.openxmlformats.org/drawingml/2006/main">
            <a:pPr>
              <a:buNone/>
              <a:defRPr sz="2625" b="1">
                <a:solidFill>
                  <a:srgbClr val="0000CC"/>
                </a:solidFill>
                <a:latin typeface="Arial"/>
                <a:ea typeface="Arial"/>
                <a:cs typeface="Arial"/>
              </a:defRPr>
            </a:pPr>
            <a:r>
              <a:rPr sz="2625" b="1">
                <a:solidFill>
                  <a:srgbClr val="0000CC"/>
                </a:solidFill>
                <a:latin typeface="Arial"/>
                <a:ea typeface="Arial"/>
                <a:cs typeface="Arial"/>
              </a:rPr>
              <a:t>Contribution and next step</a:t>
            </a:r>
            <a:endParaRPr sz="2625" b="1">
              <a:solidFill>
                <a:srgbClr val="0000CC"/>
              </a:solidFill>
              <a:latin typeface="Arial"/>
              <a:ea typeface="Arial"/>
              <a:cs typeface="Arial"/>
            </a:endParaRPr>
          </a:p>
        </p:txBody>
      </p:sp>
      <p:sp>
        <p:nvSpPr>
          <p:cNvPr id="8" name="Rectangle 7">
            <a:extLst xmlns:a="http://schemas.openxmlformats.org/drawingml/2006/main">
              <a:ext uri="{FF2B5EF4-FFF2-40B4-BE49-F238E27FC236}">
                <a16:creationId xmlns:a16="http://schemas.microsoft.com/office/drawing/2014/main" id="{C890B3F8-C17A-4401-B7DF-2112DFD11E0C}"/>
              </a:ext>
            </a:extLst>
          </p:cNvPr>
          <p:cNvSpPr>
            <a:spLocks xmlns:a="http://schemas.openxmlformats.org/drawingml/2006/main" noGrp="1"/>
          </p:cNvSpPr>
          <p:nvPr/>
        </p:nvSpPr>
        <p:spPr>
          <a:xfrm xmlns:a="http://schemas.openxmlformats.org/drawingml/2006/main">
            <a:off x="457200" y="1695450"/>
            <a:ext cx="1119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Inspectable architecture for safety-aware recommendations</a:t>
            </a:r>
            <a:endParaRPr sz="2325" b="0">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0D64FB91-A42F-46A8-AB3C-D3B3F65B4E2A}"/>
              </a:ext>
            </a:extLst>
          </p:cNvPr>
          <p:cNvSpPr>
            <a:spLocks xmlns:a="http://schemas.openxmlformats.org/drawingml/2006/main" noGrp="1"/>
          </p:cNvSpPr>
          <p:nvPr/>
        </p:nvSpPr>
        <p:spPr>
          <a:xfrm xmlns:a="http://schemas.openxmlformats.org/drawingml/2006/main">
            <a:off x="457200" y="2581275"/>
            <a:ext cx="1119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Proposal and execution safety measured separately</a:t>
            </a:r>
            <a:endParaRPr sz="2325" b="0">
              <a:solidFill>
                <a:srgbClr val="151515"/>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9A366292-EECF-4B90-9639-539143C2FF26}"/>
              </a:ext>
            </a:extLst>
          </p:cNvPr>
          <p:cNvSpPr>
            <a:spLocks xmlns:a="http://schemas.openxmlformats.org/drawingml/2006/main" noGrp="1"/>
          </p:cNvSpPr>
          <p:nvPr/>
        </p:nvSpPr>
        <p:spPr>
          <a:xfrm xmlns:a="http://schemas.openxmlformats.org/drawingml/2006/main">
            <a:off x="457200" y="3467100"/>
            <a:ext cx="11191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Companion-trail design for manageable achievements</a:t>
            </a:r>
            <a:endParaRPr sz="2325"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2E7278FF-B9CE-46A9-8D2B-C1B19208D6E4}"/>
              </a:ext>
            </a:extLst>
          </p:cNvPr>
          <p:cNvSpPr>
            <a:spLocks xmlns:a="http://schemas.openxmlformats.org/drawingml/2006/main" noGrp="1"/>
          </p:cNvSpPr>
          <p:nvPr/>
        </p:nvSpPr>
        <p:spPr>
          <a:xfrm xmlns:a="http://schemas.openxmlformats.org/drawingml/2006/main">
            <a:off x="333375" y="4524375"/>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800000"/>
                </a:solidFill>
                <a:latin typeface="Arial"/>
                <a:ea typeface="Arial"/>
                <a:cs typeface="Arial"/>
              </a:defRPr>
            </a:defPPr>
          </a:lstStyle>
          <a:p xmlns:a="http://schemas.openxmlformats.org/drawingml/2006/main">
            <a:pPr>
              <a:buNone/>
              <a:defRPr sz="2175" b="1">
                <a:solidFill>
                  <a:srgbClr val="800000"/>
                </a:solidFill>
                <a:latin typeface="Arial"/>
                <a:ea typeface="Arial"/>
                <a:cs typeface="Arial"/>
              </a:defRPr>
            </a:pPr>
            <a:r>
              <a:rPr sz="2175" b="1">
                <a:solidFill>
                  <a:srgbClr val="800000"/>
                </a:solidFill>
                <a:latin typeface="Arial"/>
                <a:ea typeface="Arial"/>
                <a:cs typeface="Arial"/>
              </a:rPr>
              <a:t>Synthetic prototype. Clinical and engagement benefits need validation</a:t>
            </a:r>
            <a:endParaRPr sz="2175" b="1">
              <a:solidFill>
                <a:srgbClr val="800000"/>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FA9EC320-20AC-49ED-9E36-C252E2D80C65}"/>
              </a:ext>
            </a:extLst>
          </p:cNvPr>
          <p:cNvSpPr>
            <a:spLocks xmlns:a="http://schemas.openxmlformats.org/drawingml/2006/main" noGrp="1"/>
          </p:cNvSpPr>
          <p:nvPr/>
        </p:nvSpPr>
        <p:spPr>
          <a:xfrm xmlns:a="http://schemas.openxmlformats.org/drawingml/2006/main">
            <a:off x="457200" y="5505450"/>
            <a:ext cx="11191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51515"/>
                </a:solidFill>
                <a:latin typeface="Arial"/>
                <a:ea typeface="Arial"/>
                <a:cs typeface="Arial"/>
              </a:defRPr>
            </a:defPPr>
          </a:lstStyle>
          <a:p xmlns:a="http://schemas.openxmlformats.org/drawingml/2006/main">
            <a:pPr>
              <a:buNone/>
              <a:defRPr sz="2025" b="0">
                <a:solidFill>
                  <a:srgbClr val="151515"/>
                </a:solidFill>
                <a:latin typeface="Arial"/>
                <a:ea typeface="Arial"/>
                <a:cs typeface="Arial"/>
              </a:defRPr>
            </a:pPr>
            <a:r>
              <a:rPr sz="2025" b="0">
                <a:solidFill>
                  <a:srgbClr val="151515"/>
                </a:solidFill>
                <a:latin typeface="Arial"/>
                <a:ea typeface="Arial"/>
                <a:cs typeface="Arial"/>
              </a:rPr>
              <a:t>Planned: a bounded agent for clarification, tool calls and preference memory</a:t>
            </a:r>
            <a:endParaRPr sz="2025" b="0">
              <a:solidFill>
                <a:srgbClr val="151515"/>
              </a:solidFill>
              <a:latin typeface="Arial"/>
              <a:ea typeface="Arial"/>
              <a:cs typeface="Arial"/>
            </a:endParaRPr>
          </a:p>
        </p:txBody>
      </p:sp>
    </p:spTree>
    <p:extLst>
      <p:ext uri="{BB962C8B-B14F-4D97-AF65-F5344CB8AC3E}">
        <p14:creationId xmlns:p14="http://schemas.microsoft.com/office/powerpoint/2010/main" val="2003453387"/>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79bbdd1fe7fd4820">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1C1018C-4324-40E7-B003-B88E1644CB00}"/>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Backup: complete policy comparison</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19282C4B-CDC4-4C90-98A0-249416DA5AE4}"/>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076BCDFB-B14D-49A8-A4C5-9EF73D1C3E8F}"/>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94D9D78C-0B8A-4A68-A86A-432A8ED8DA7D}"/>
              </a:ext>
            </a:extLst>
          </p:cNvPr>
          <p:cNvSpPr>
            <a:spLocks xmlns:a="http://schemas.openxmlformats.org/drawingml/2006/main" noGrp="1"/>
          </p:cNvSpPr>
          <p:nvPr/>
        </p:nvSpPr>
        <p:spPr>
          <a:xfrm xmlns:a="http://schemas.openxmlformats.org/drawingml/2006/main">
            <a:off x="409575" y="857250"/>
            <a:ext cx="1114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0000CC"/>
                </a:solidFill>
                <a:latin typeface="Arial"/>
                <a:ea typeface="Arial"/>
                <a:cs typeface="Arial"/>
              </a:defRPr>
            </a:defPPr>
          </a:lstStyle>
          <a:p xmlns:a="http://schemas.openxmlformats.org/drawingml/2006/main">
            <a:pPr>
              <a:buNone/>
              <a:defRPr sz="2100" b="1">
                <a:solidFill>
                  <a:srgbClr val="0000CC"/>
                </a:solidFill>
                <a:latin typeface="Arial"/>
                <a:ea typeface="Arial"/>
                <a:cs typeface="Arial"/>
              </a:defRPr>
            </a:pPr>
            <a:r>
              <a:rPr sz="2100" b="1">
                <a:solidFill>
                  <a:srgbClr val="0000CC"/>
                </a:solidFill>
                <a:latin typeface="Arial"/>
                <a:ea typeface="Arial"/>
                <a:cs typeface="Arial"/>
              </a:rPr>
              <a:t>Frozen seed-42 artifacts, 20 personas and 60 days</a:t>
            </a:r>
            <a:endParaRPr sz="2100" b="1">
              <a:solidFill>
                <a:srgbClr val="0000CC"/>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8C495F05-02C5-43DA-97D3-9B275DC8A925}"/>
              </a:ext>
            </a:extLst>
          </p:cNvPr>
          <p:cNvSpPr>
            <a:spLocks xmlns:a="http://schemas.openxmlformats.org/drawingml/2006/main" noGrp="1"/>
          </p:cNvSpPr>
          <p:nvPr/>
        </p:nvSpPr>
        <p:spPr>
          <a:xfrm xmlns:a="http://schemas.openxmlformats.org/drawingml/2006/main">
            <a:off x="333375" y="5153025"/>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800000"/>
                </a:solidFill>
                <a:latin typeface="Arial"/>
                <a:ea typeface="Arial"/>
                <a:cs typeface="Arial"/>
              </a:defRPr>
            </a:defPPr>
          </a:lstStyle>
          <a:p xmlns:a="http://schemas.openxmlformats.org/drawingml/2006/main">
            <a:pPr>
              <a:buNone/>
              <a:defRPr sz="2025" b="1">
                <a:solidFill>
                  <a:srgbClr val="800000"/>
                </a:solidFill>
                <a:latin typeface="Arial"/>
                <a:ea typeface="Arial"/>
                <a:cs typeface="Arial"/>
              </a:defRPr>
            </a:pPr>
            <a:r>
              <a:rPr sz="2025" b="1">
                <a:solidFill>
                  <a:srgbClr val="800000"/>
                </a:solidFill>
                <a:latin typeface="Arial"/>
                <a:ea typeface="Arial"/>
                <a:cs typeface="Arial"/>
              </a:rPr>
              <a:t>Raw SAPS IER bypasses its gate. Baseline implementations remain limited</a:t>
            </a:r>
            <a:endParaRPr sz="2175" b="1">
              <a:solidFill>
                <a:srgbClr val="800000"/>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183BF505-81F5-486A-BDD1-3D7D54C4B2D1}"/>
              </a:ext>
            </a:extLst>
          </p:cNvPr>
          <p:cNvSpPr>
            <a:spLocks xmlns:a="http://schemas.openxmlformats.org/drawingml/2006/main" noGrp="1"/>
          </p:cNvSpPr>
          <p:nvPr/>
        </p:nvSpPr>
        <p:spPr>
          <a:xfrm xmlns:a="http://schemas.openxmlformats.org/drawingml/2006/main">
            <a:off x="457200" y="5819775"/>
            <a:ext cx="1123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75" b="0">
                <a:solidFill>
                  <a:srgbClr val="666666"/>
                </a:solidFill>
                <a:latin typeface="Arial"/>
                <a:ea typeface="Arial"/>
                <a:cs typeface="Arial"/>
              </a:defRPr>
            </a:defPPr>
          </a:lstStyle>
          <a:p xmlns:a="http://schemas.openxmlformats.org/drawingml/2006/main">
            <a:pPr>
              <a:buNone/>
              <a:defRPr sz="1575" b="0">
                <a:solidFill>
                  <a:srgbClr val="666666"/>
                </a:solidFill>
                <a:latin typeface="Arial"/>
                <a:ea typeface="Arial"/>
                <a:cs typeface="Arial"/>
              </a:defRPr>
            </a:pPr>
            <a:r>
              <a:rPr sz="1575" b="0">
                <a:solidFill>
                  <a:srgbClr val="666666"/>
                </a:solidFill>
                <a:latin typeface="Arial"/>
                <a:ea typeface="Arial"/>
                <a:cs typeface="Arial"/>
              </a:rPr>
              <a:t>Sources: evaluation/results/*60day*.json and docs/implementation_notes.md</a:t>
            </a:r>
            <a:endParaRPr sz="1575" b="0">
              <a:solidFill>
                <a:srgbClr val="666666"/>
              </a:solidFill>
              <a:latin typeface="Arial"/>
              <a:ea typeface="Arial"/>
              <a:cs typeface="Arial"/>
            </a:endParaRPr>
          </a:p>
        </p:txBody>
      </p:sp>
      <p:graphicFrame>
        <p:nvGraphicFramePr>
          <p:cNvPr id="11" name="">
            <a:extLst xmlns:a="http://schemas.openxmlformats.org/drawingml/2006/main">
              <a:ext uri="{FF2B5EF4-FFF2-40B4-BE49-F238E27FC236}">
                <a16:creationId xmlns:a16="http://schemas.microsoft.com/office/drawing/2014/main" id="{44AA3C44-FB30-4BB2-9799-0D02F4809F7A}"/>
              </a:ext>
            </a:extLst>
          </p:cNvPr>
          <p:cNvGraphicFramePr/>
          <p:nvPr/>
        </p:nvGraphicFramePr>
        <p:xfrm>
          <a:off xmlns:a="http://schemas.openxmlformats.org/drawingml/2006/main" x="762000" y="1457325"/>
          <a:ext xmlns:a="http://schemas.openxmlformats.org/drawingml/2006/main" cx="10572750" cy="3400425"/>
        </p:xfrm>
        <a:graphic xmlns:a="http://schemas.openxmlformats.org/drawingml/2006/main">
          <a:graphicData uri="http://schemas.openxmlformats.org/drawingml/2006/table">
            <a:tbl>
              <a:tblPr/>
              <a:tblGrid>
                <a:gridCol w="4095750"/>
                <a:gridCol w="3905250"/>
                <a:gridCol w="2571750"/>
              </a:tblGrid>
              <a:tr h="423863">
                <a:tc>
                  <a:txBody>
                    <a:bodyPr lIns="76200" tIns="76200" rIns="76200" bIns="76200"/>
                    <a:lstStyle/>
                    <a:p>
                      <a:r>
                        <a:rPr sz="1875" b="1">
                          <a:solidFill>
                            <a:srgbClr val="FFFFFF"/>
                          </a:solidFill>
                          <a:latin typeface="Arial"/>
                          <a:ea typeface="Arial"/>
                          <a:cs typeface="Arial"/>
                        </a:rPr>
                        <a:t>Policy</a:t>
                      </a:r>
                    </a:p>
                  </a:txBody>
                  <a:tcPr marL="91440" marR="91440" marT="45720" marB="45720">
                    <a:solidFill>
                      <a:srgbClr val="0000CC"/>
                    </a:solidFill>
                  </a:tcPr>
                </a:tc>
                <a:tc>
                  <a:txBody>
                    <a:bodyPr lIns="76200" tIns="76200" rIns="76200" bIns="76200"/>
                    <a:lstStyle/>
                    <a:p>
                      <a:r>
                        <a:rPr sz="1875" b="1">
                          <a:solidFill>
                            <a:srgbClr val="FFFFFF"/>
                          </a:solidFill>
                          <a:latin typeface="Arial"/>
                          <a:ea typeface="Arial"/>
                          <a:cs typeface="Arial"/>
                        </a:rPr>
                        <a:t>Mean cumulative reward</a:t>
                      </a:r>
                    </a:p>
                  </a:txBody>
                  <a:tcPr marL="91440" marR="91440" marT="45720" marB="45720">
                    <a:solidFill>
                      <a:srgbClr val="0000CC"/>
                    </a:solidFill>
                  </a:tcPr>
                </a:tc>
                <a:tc>
                  <a:txBody>
                    <a:bodyPr lIns="76200" tIns="76200" rIns="76200" bIns="76200"/>
                    <a:lstStyle/>
                    <a:p>
                      <a:r>
                        <a:rPr sz="1875" b="1">
                          <a:solidFill>
                            <a:srgbClr val="FFFFFF"/>
                          </a:solidFill>
                          <a:latin typeface="Arial"/>
                          <a:ea typeface="Arial"/>
                          <a:cs typeface="Arial"/>
                        </a:rPr>
                        <a:t>Ungated IER</a:t>
                      </a:r>
                    </a:p>
                  </a:txBody>
                  <a:tcPr marL="91440" marR="91440" marT="45720" marB="45720">
                    <a:solidFill>
                      <a:srgbClr val="0000CC"/>
                    </a:solidFill>
                  </a:tcPr>
                </a:tc>
              </a:tr>
              <a:tr h="423863">
                <a:tc>
                  <a:txBody>
                    <a:bodyPr lIns="76200" tIns="76200" rIns="76200" bIns="76200"/>
                    <a:lstStyle/>
                    <a:p>
                      <a:r>
                        <a:rPr sz="1875" b="1">
                          <a:solidFill>
                            <a:srgbClr val="151515"/>
                          </a:solidFill>
                          <a:latin typeface="Arial"/>
                          <a:ea typeface="Arial"/>
                          <a:cs typeface="Arial"/>
                        </a:rPr>
                        <a:t>SAPS</a:t>
                      </a:r>
                    </a:p>
                  </a:txBody>
                  <a:tcPr marL="91440" marR="91440" marT="45720" marB="45720">
                    <a:solidFill>
                      <a:srgbClr val="FFFFFF"/>
                    </a:solidFill>
                  </a:tcPr>
                </a:tc>
                <a:tc>
                  <a:txBody>
                    <a:bodyPr lIns="76200" tIns="76200" rIns="76200" bIns="76200"/>
                    <a:lstStyle/>
                    <a:p>
                      <a:r>
                        <a:rPr sz="1875" b="1">
                          <a:solidFill>
                            <a:srgbClr val="151515"/>
                          </a:solidFill>
                          <a:latin typeface="Arial"/>
                          <a:ea typeface="Arial"/>
                          <a:cs typeface="Arial"/>
                        </a:rPr>
                        <a:t>42.02</a:t>
                      </a:r>
                    </a:p>
                  </a:txBody>
                  <a:tcPr marL="91440" marR="91440" marT="45720" marB="45720">
                    <a:solidFill>
                      <a:srgbClr val="FFFFFF"/>
                    </a:solidFill>
                  </a:tcPr>
                </a:tc>
                <a:tc>
                  <a:txBody>
                    <a:bodyPr lIns="76200" tIns="76200" rIns="76200" bIns="76200"/>
                    <a:lstStyle/>
                    <a:p>
                      <a:r>
                        <a:rPr sz="1875" b="1">
                          <a:solidFill>
                            <a:srgbClr val="151515"/>
                          </a:solidFill>
                          <a:latin typeface="Arial"/>
                          <a:ea typeface="Arial"/>
                          <a:cs typeface="Arial"/>
                        </a:rPr>
                        <a:t>0.0223</a:t>
                      </a:r>
                    </a:p>
                  </a:txBody>
                  <a:tcPr marL="91440" marR="91440" marT="45720" marB="45720">
                    <a:solidFill>
                      <a:srgbClr val="FFFFFF"/>
                    </a:solidFill>
                  </a:tcPr>
                </a:tc>
              </a:tr>
              <a:tr h="423863">
                <a:tc>
                  <a:txBody>
                    <a:bodyPr lIns="76200" tIns="76200" rIns="76200" bIns="76200"/>
                    <a:lstStyle/>
                    <a:p>
                      <a:r>
                        <a:rPr sz="1875" b="0">
                          <a:solidFill>
                            <a:srgbClr val="151515"/>
                          </a:solidFill>
                          <a:latin typeface="Arial"/>
                          <a:ea typeface="Arial"/>
                          <a:cs typeface="Arial"/>
                        </a:rPr>
                        <a:t>LinUCB</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41.94</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0.0233</a:t>
                      </a:r>
                    </a:p>
                  </a:txBody>
                  <a:tcPr marL="91440" marR="91440" marT="45720" marB="45720">
                    <a:solidFill>
                      <a:srgbClr val="F1F1F1"/>
                    </a:solidFill>
                  </a:tcPr>
                </a:tc>
              </a:tr>
              <a:tr h="423863">
                <a:tc>
                  <a:txBody>
                    <a:bodyPr lIns="76200" tIns="76200" rIns="76200" bIns="76200"/>
                    <a:lstStyle/>
                    <a:p>
                      <a:r>
                        <a:rPr sz="1875" b="0">
                          <a:solidFill>
                            <a:srgbClr val="151515"/>
                          </a:solidFill>
                          <a:latin typeface="Arial"/>
                          <a:ea typeface="Arial"/>
                          <a:cs typeface="Arial"/>
                        </a:rPr>
                        <a:t>NeuralUCB modified</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38.31</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0.0022</a:t>
                      </a:r>
                    </a:p>
                  </a:txBody>
                  <a:tcPr marL="91440" marR="91440" marT="45720" marB="45720">
                    <a:solidFill>
                      <a:srgbClr val="FFFFFF"/>
                    </a:solidFill>
                  </a:tcPr>
                </a:tc>
              </a:tr>
              <a:tr h="423863">
                <a:tc>
                  <a:txBody>
                    <a:bodyPr lIns="76200" tIns="76200" rIns="76200" bIns="76200"/>
                    <a:lstStyle/>
                    <a:p>
                      <a:r>
                        <a:rPr sz="1875" b="0">
                          <a:solidFill>
                            <a:srgbClr val="151515"/>
                          </a:solidFill>
                          <a:latin typeface="Arial"/>
                          <a:ea typeface="Arial"/>
                          <a:cs typeface="Arial"/>
                        </a:rPr>
                        <a:t>Random</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45.94</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0.4082</a:t>
                      </a:r>
                    </a:p>
                  </a:txBody>
                  <a:tcPr marL="91440" marR="91440" marT="45720" marB="45720">
                    <a:solidFill>
                      <a:srgbClr val="F1F1F1"/>
                    </a:solidFill>
                  </a:tcPr>
                </a:tc>
              </a:tr>
              <a:tr h="423863">
                <a:tc>
                  <a:txBody>
                    <a:bodyPr lIns="76200" tIns="76200" rIns="76200" bIns="76200"/>
                    <a:lstStyle/>
                    <a:p>
                      <a:r>
                        <a:rPr sz="1875" b="0">
                          <a:solidFill>
                            <a:srgbClr val="151515"/>
                          </a:solidFill>
                          <a:latin typeface="Arial"/>
                          <a:ea typeface="Arial"/>
                          <a:cs typeface="Arial"/>
                        </a:rPr>
                        <a:t>Popularity</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39.03</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0.0127</a:t>
                      </a:r>
                    </a:p>
                  </a:txBody>
                  <a:tcPr marL="91440" marR="91440" marT="45720" marB="45720">
                    <a:solidFill>
                      <a:srgbClr val="FFFFFF"/>
                    </a:solidFill>
                  </a:tcPr>
                </a:tc>
              </a:tr>
              <a:tr h="423863">
                <a:tc>
                  <a:txBody>
                    <a:bodyPr lIns="76200" tIns="76200" rIns="76200" bIns="76200"/>
                    <a:lstStyle/>
                    <a:p>
                      <a:r>
                        <a:rPr sz="1875" b="0">
                          <a:solidFill>
                            <a:srgbClr val="151515"/>
                          </a:solidFill>
                          <a:latin typeface="Arial"/>
                          <a:ea typeface="Arial"/>
                          <a:cs typeface="Arial"/>
                        </a:rPr>
                        <a:t>RuleBased</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43.33</a:t>
                      </a:r>
                    </a:p>
                  </a:txBody>
                  <a:tcPr marL="91440" marR="91440" marT="45720" marB="45720">
                    <a:solidFill>
                      <a:srgbClr val="F1F1F1"/>
                    </a:solidFill>
                  </a:tcPr>
                </a:tc>
                <a:tc>
                  <a:txBody>
                    <a:bodyPr lIns="76200" tIns="76200" rIns="76200" bIns="76200"/>
                    <a:lstStyle/>
                    <a:p>
                      <a:r>
                        <a:rPr sz="1875" b="0">
                          <a:solidFill>
                            <a:srgbClr val="151515"/>
                          </a:solidFill>
                          <a:latin typeface="Arial"/>
                          <a:ea typeface="Arial"/>
                          <a:cs typeface="Arial"/>
                        </a:rPr>
                        <a:t>0.3257</a:t>
                      </a:r>
                    </a:p>
                  </a:txBody>
                  <a:tcPr marL="91440" marR="91440" marT="45720" marB="45720">
                    <a:solidFill>
                      <a:srgbClr val="F1F1F1"/>
                    </a:solidFill>
                  </a:tcPr>
                </a:tc>
              </a:tr>
              <a:tr h="423863">
                <a:tc>
                  <a:txBody>
                    <a:bodyPr lIns="76200" tIns="76200" rIns="76200" bIns="76200"/>
                    <a:lstStyle/>
                    <a:p>
                      <a:r>
                        <a:rPr sz="1875" b="0">
                          <a:solidFill>
                            <a:srgbClr val="151515"/>
                          </a:solidFill>
                          <a:latin typeface="Arial"/>
                          <a:ea typeface="Arial"/>
                          <a:cs typeface="Arial"/>
                        </a:rPr>
                        <a:t>EpsilonGreedy</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40.95</a:t>
                      </a:r>
                    </a:p>
                  </a:txBody>
                  <a:tcPr marL="91440" marR="91440" marT="45720" marB="45720">
                    <a:solidFill>
                      <a:srgbClr val="FFFFFF"/>
                    </a:solidFill>
                  </a:tcPr>
                </a:tc>
                <a:tc>
                  <a:txBody>
                    <a:bodyPr lIns="76200" tIns="76200" rIns="76200" bIns="76200"/>
                    <a:lstStyle/>
                    <a:p>
                      <a:r>
                        <a:rPr sz="1875" b="0">
                          <a:solidFill>
                            <a:srgbClr val="151515"/>
                          </a:solidFill>
                          <a:latin typeface="Arial"/>
                          <a:ea typeface="Arial"/>
                          <a:cs typeface="Arial"/>
                        </a:rPr>
                        <a:t>0.0503</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3857140"/>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f83a38e7a50349a1">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28212F0-B890-4769-8C32-AD9896CCC1D4}"/>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000" b="1">
                <a:solidFill>
                  <a:srgbClr val="800000"/>
                </a:solidFill>
                <a:latin typeface="Arial"/>
                <a:ea typeface="Arial"/>
                <a:cs typeface="Arial"/>
              </a:defRPr>
            </a:defPPr>
          </a:lstStyle>
          <a:p xmlns:a="http://schemas.openxmlformats.org/drawingml/2006/main">
            <a:pPr algn="l">
              <a:buNone/>
              <a:defRPr sz="3000" b="1">
                <a:solidFill>
                  <a:srgbClr val="800000"/>
                </a:solidFill>
                <a:latin typeface="Arial"/>
                <a:ea typeface="Arial"/>
                <a:cs typeface="Arial"/>
              </a:defRPr>
            </a:pPr>
            <a:r>
              <a:rPr sz="3000" b="1">
                <a:solidFill>
                  <a:srgbClr val="800000"/>
                </a:solidFill>
                <a:latin typeface="Arial"/>
                <a:ea typeface="Arial"/>
                <a:cs typeface="Arial"/>
              </a:rPr>
              <a:t>Backup: safety ablation evidence</a:t>
            </a:r>
            <a:endParaRPr sz="30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9BD4DFA8-9C47-4696-96EF-C7B756C9A889}"/>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endParaRPr sz="2000">
              <a:latin typeface="Arial Narrow"/>
              <a:ea typeface="Arial Narrow"/>
              <a:cs typeface="Arial Narrow"/>
            </a:endParaRPr>
          </a:p>
        </p:txBody>
      </p:sp>
      <p:pic>
        <p:nvPicPr>
          <p:cNvPr id="6" name="Picture 5">
            <a:extLst xmlns:a="http://schemas.openxmlformats.org/drawingml/2006/main">
              <a:ext uri="{FF2B5EF4-FFF2-40B4-BE49-F238E27FC236}">
                <a16:creationId xmlns:a16="http://schemas.microsoft.com/office/drawing/2014/main" id="{0BEC29AA-5ACB-4F5B-AED2-BB44DB88DDE8}"/>
              </a:ext>
            </a:extLst>
          </p:cNvPr>
          <p:cNvPicPr>
            <a:picLocks xmlns:a="http://schemas.openxmlformats.org/drawingml/2006/main" noChangeAspect="1"/>
          </p:cNvPicPr>
          <p:nvPr/>
        </p:nvPicPr>
        <p:blipFill>
          <a:blip xmlns:r="http://schemas.openxmlformats.org/officeDocument/2006/relationships" xmlns:a="http://schemas.openxmlformats.org/drawingml/2006/main" r:embed="Rf83a38e7a50349a1"/>
          <a:srcRect xmlns:a="http://schemas.openxmlformats.org/drawingml/2006/main" l="1953" t="92361" r="87344" b="833"/>
          <a:stretch xmlns:a="http://schemas.openxmlformats.org/drawingml/2006/main">
            <a:fillRect l="0" t="0" r="0" b="0"/>
          </a:stretch>
        </p:blipFill>
        <p:spPr>
          <a:xfrm xmlns:a="http://schemas.openxmlformats.org/drawingml/2006/main">
            <a:off x="238125" y="6334125"/>
            <a:ext cx="1304925" cy="466725"/>
          </a:xfrm>
          <a:prstGeom xmlns:a="http://schemas.openxmlformats.org/drawingml/2006/main" prst="rect">
            <a:avLst/>
          </a:prstGeom>
        </p:spPr>
      </p:pic>
      <p:sp>
        <p:nvSpPr>
          <p:cNvPr id="7" name="Rectangle 6">
            <a:extLst xmlns:a="http://schemas.openxmlformats.org/drawingml/2006/main">
              <a:ext uri="{FF2B5EF4-FFF2-40B4-BE49-F238E27FC236}">
                <a16:creationId xmlns:a16="http://schemas.microsoft.com/office/drawing/2014/main" id="{807F060A-446A-45F0-8C67-B65EC1DF7319}"/>
              </a:ext>
            </a:extLst>
          </p:cNvPr>
          <p:cNvSpPr>
            <a:spLocks xmlns:a="http://schemas.openxmlformats.org/drawingml/2006/main" noGrp="1"/>
          </p:cNvSpPr>
          <p:nvPr/>
        </p:nvSpPr>
        <p:spPr>
          <a:xfrm xmlns:a="http://schemas.openxmlformats.org/drawingml/2006/main">
            <a:off x="28575" y="6210300"/>
            <a:ext cx="12087225" cy="28575"/>
          </a:xfrm>
          <a:prstGeom xmlns:a="http://schemas.openxmlformats.org/drawingml/2006/main" prst="rect">
            <a:avLst/>
          </a:prstGeom>
          <a:solidFill xmlns:a="http://schemas.openxmlformats.org/drawingml/2006/main">
            <a:srgbClr val="CC0000"/>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6FA1D4AC-B609-453E-870D-910BFA94BBEC}"/>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4AEFEE14-E635-4656-9748-D7D53ED9DD73}"/>
              </a:ext>
            </a:extLst>
          </p:cNvPr>
          <p:cNvSpPr>
            <a:spLocks xmlns:a="http://schemas.openxmlformats.org/drawingml/2006/main" noGrp="1"/>
          </p:cNvSpPr>
          <p:nvPr/>
        </p:nvSpPr>
        <p:spPr>
          <a:xfrm xmlns:a="http://schemas.openxmlformats.org/drawingml/2006/main">
            <a:off x="523875" y="1190625"/>
            <a:ext cx="5334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0000CC"/>
                </a:solidFill>
                <a:latin typeface="Arial"/>
                <a:ea typeface="Arial"/>
                <a:cs typeface="Arial"/>
              </a:defRPr>
            </a:defPPr>
          </a:lstStyle>
          <a:p xmlns:a="http://schemas.openxmlformats.org/drawingml/2006/main">
            <a:pPr>
              <a:buNone/>
              <a:defRPr sz="2625" b="1">
                <a:solidFill>
                  <a:srgbClr val="0000CC"/>
                </a:solidFill>
                <a:latin typeface="Arial"/>
                <a:ea typeface="Arial"/>
                <a:cs typeface="Arial"/>
              </a:defRPr>
            </a:pPr>
            <a:r>
              <a:rPr sz="2625" b="1">
                <a:solidFill>
                  <a:srgbClr val="0000CC"/>
                </a:solidFill>
                <a:latin typeface="Arial"/>
                <a:ea typeface="Arial"/>
                <a:cs typeface="Arial"/>
              </a:rPr>
              <a:t>LinUCB with Safety</a:t>
            </a:r>
            <a:endParaRPr sz="2625"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1DF6FB15-6E74-4AFB-AFC8-B1EEE91DD1E7}"/>
              </a:ext>
            </a:extLst>
          </p:cNvPr>
          <p:cNvSpPr>
            <a:spLocks xmlns:a="http://schemas.openxmlformats.org/drawingml/2006/main" noGrp="1"/>
          </p:cNvSpPr>
          <p:nvPr/>
        </p:nvSpPr>
        <p:spPr>
          <a:xfrm xmlns:a="http://schemas.openxmlformats.org/drawingml/2006/main">
            <a:off x="523875" y="2190750"/>
            <a:ext cx="5334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800000"/>
                </a:solidFill>
                <a:latin typeface="Arial"/>
                <a:ea typeface="Arial"/>
                <a:cs typeface="Arial"/>
              </a:defRPr>
            </a:defPPr>
          </a:lstStyle>
          <a:p xmlns:a="http://schemas.openxmlformats.org/drawingml/2006/main">
            <a:pPr>
              <a:buNone/>
              <a:defRPr sz="3450" b="1">
                <a:solidFill>
                  <a:srgbClr val="800000"/>
                </a:solidFill>
                <a:latin typeface="Arial"/>
                <a:ea typeface="Arial"/>
                <a:cs typeface="Arial"/>
              </a:defRPr>
            </a:pPr>
            <a:r>
              <a:rPr sz="3450" b="1">
                <a:solidFill>
                  <a:srgbClr val="800000"/>
                </a:solidFill>
                <a:latin typeface="Arial"/>
                <a:ea typeface="Arial"/>
                <a:cs typeface="Arial"/>
              </a:rPr>
              <a:t>0 / 743</a:t>
            </a:r>
            <a:endParaRPr sz="3450" b="1">
              <a:solidFill>
                <a:srgbClr val="800000"/>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C7FAD1AD-A17D-43F8-859A-3F6881748C91}"/>
              </a:ext>
            </a:extLst>
          </p:cNvPr>
          <p:cNvSpPr>
            <a:spLocks xmlns:a="http://schemas.openxmlformats.org/drawingml/2006/main" noGrp="1"/>
          </p:cNvSpPr>
          <p:nvPr/>
        </p:nvSpPr>
        <p:spPr>
          <a:xfrm xmlns:a="http://schemas.openxmlformats.org/drawingml/2006/main">
            <a:off x="523875" y="3286125"/>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Violating accepted tasks</a:t>
            </a:r>
            <a:endParaRPr sz="2325" b="0">
              <a:solidFill>
                <a:srgbClr val="151515"/>
              </a:solidFill>
              <a:latin typeface="Arial"/>
              <a:ea typeface="Arial"/>
              <a:cs typeface="Arial"/>
            </a:endParaRPr>
          </a:p>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Post-hoc SVR: 0.0000</a:t>
            </a:r>
            <a:endParaRPr sz="2325" b="0">
              <a:solidFill>
                <a:srgbClr val="151515"/>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D98C0F2E-4231-497A-A0A7-377B4D960686}"/>
              </a:ext>
            </a:extLst>
          </p:cNvPr>
          <p:cNvSpPr>
            <a:spLocks xmlns:a="http://schemas.openxmlformats.org/drawingml/2006/main" noGrp="1"/>
          </p:cNvSpPr>
          <p:nvPr/>
        </p:nvSpPr>
        <p:spPr>
          <a:xfrm xmlns:a="http://schemas.openxmlformats.org/drawingml/2006/main">
            <a:off x="6572250" y="1190625"/>
            <a:ext cx="5143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0000CC"/>
                </a:solidFill>
                <a:latin typeface="Arial"/>
                <a:ea typeface="Arial"/>
                <a:cs typeface="Arial"/>
              </a:defRPr>
            </a:defPPr>
          </a:lstStyle>
          <a:p xmlns:a="http://schemas.openxmlformats.org/drawingml/2006/main">
            <a:pPr>
              <a:buNone/>
              <a:defRPr sz="2625" b="1">
                <a:solidFill>
                  <a:srgbClr val="0000CC"/>
                </a:solidFill>
                <a:latin typeface="Arial"/>
                <a:ea typeface="Arial"/>
                <a:cs typeface="Arial"/>
              </a:defRPr>
            </a:pPr>
            <a:r>
              <a:rPr sz="2625" b="1">
                <a:solidFill>
                  <a:srgbClr val="0000CC"/>
                </a:solidFill>
                <a:latin typeface="Arial"/>
                <a:ea typeface="Arial"/>
                <a:cs typeface="Arial"/>
              </a:rPr>
              <a:t>LinUCB without Safety</a:t>
            </a:r>
            <a:endParaRPr sz="2625" b="1">
              <a:solidFill>
                <a:srgbClr val="0000CC"/>
              </a:solidFill>
              <a:latin typeface="Arial"/>
              <a:ea typeface="Arial"/>
              <a:cs typeface="Arial"/>
            </a:endParaRPr>
          </a:p>
        </p:txBody>
      </p:sp>
      <p:sp>
        <p:nvSpPr>
          <p:cNvPr id="13" name="Rectangle 12">
            <a:extLst xmlns:a="http://schemas.openxmlformats.org/drawingml/2006/main">
              <a:ext uri="{FF2B5EF4-FFF2-40B4-BE49-F238E27FC236}">
                <a16:creationId xmlns:a16="http://schemas.microsoft.com/office/drawing/2014/main" id="{1E9049ED-BAD2-45BC-ADDC-3635FA0A936E}"/>
              </a:ext>
            </a:extLst>
          </p:cNvPr>
          <p:cNvSpPr>
            <a:spLocks xmlns:a="http://schemas.openxmlformats.org/drawingml/2006/main" noGrp="1"/>
          </p:cNvSpPr>
          <p:nvPr/>
        </p:nvSpPr>
        <p:spPr>
          <a:xfrm xmlns:a="http://schemas.openxmlformats.org/drawingml/2006/main">
            <a:off x="6572250" y="2190750"/>
            <a:ext cx="5143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800000"/>
                </a:solidFill>
                <a:latin typeface="Arial"/>
                <a:ea typeface="Arial"/>
                <a:cs typeface="Arial"/>
              </a:defRPr>
            </a:defPPr>
          </a:lstStyle>
          <a:p xmlns:a="http://schemas.openxmlformats.org/drawingml/2006/main">
            <a:pPr>
              <a:buNone/>
              <a:defRPr sz="3450" b="1">
                <a:solidFill>
                  <a:srgbClr val="800000"/>
                </a:solidFill>
                <a:latin typeface="Arial"/>
                <a:ea typeface="Arial"/>
                <a:cs typeface="Arial"/>
              </a:defRPr>
            </a:pPr>
            <a:r>
              <a:rPr sz="3450" b="1">
                <a:solidFill>
                  <a:srgbClr val="800000"/>
                </a:solidFill>
                <a:latin typeface="Arial"/>
                <a:ea typeface="Arial"/>
                <a:cs typeface="Arial"/>
              </a:rPr>
              <a:t>171 / 772</a:t>
            </a:r>
            <a:endParaRPr sz="3450" b="1">
              <a:solidFill>
                <a:srgbClr val="800000"/>
              </a:solidFill>
              <a:latin typeface="Arial"/>
              <a:ea typeface="Arial"/>
              <a:cs typeface="Arial"/>
            </a:endParaRPr>
          </a:p>
        </p:txBody>
      </p:sp>
      <p:sp>
        <p:nvSpPr>
          <p:cNvPr id="14" name="Rectangle 13">
            <a:extLst xmlns:a="http://schemas.openxmlformats.org/drawingml/2006/main">
              <a:ext uri="{FF2B5EF4-FFF2-40B4-BE49-F238E27FC236}">
                <a16:creationId xmlns:a16="http://schemas.microsoft.com/office/drawing/2014/main" id="{A5FF5CD5-4271-4E12-B1BA-14F828298CD5}"/>
              </a:ext>
            </a:extLst>
          </p:cNvPr>
          <p:cNvSpPr>
            <a:spLocks xmlns:a="http://schemas.openxmlformats.org/drawingml/2006/main" noGrp="1"/>
          </p:cNvSpPr>
          <p:nvPr/>
        </p:nvSpPr>
        <p:spPr>
          <a:xfrm xmlns:a="http://schemas.openxmlformats.org/drawingml/2006/main">
            <a:off x="6572250" y="32861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51515"/>
                </a:solidFill>
                <a:latin typeface="Arial"/>
                <a:ea typeface="Arial"/>
                <a:cs typeface="Arial"/>
              </a:defRPr>
            </a:defPPr>
          </a:lstStyle>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Violating accepted tasks</a:t>
            </a:r>
            <a:endParaRPr sz="2325" b="0">
              <a:solidFill>
                <a:srgbClr val="151515"/>
              </a:solidFill>
              <a:latin typeface="Arial"/>
              <a:ea typeface="Arial"/>
              <a:cs typeface="Arial"/>
            </a:endParaRPr>
          </a:p>
          <a:p xmlns:a="http://schemas.openxmlformats.org/drawingml/2006/main">
            <a:pPr>
              <a:buNone/>
              <a:defRPr sz="2325" b="0">
                <a:solidFill>
                  <a:srgbClr val="151515"/>
                </a:solidFill>
                <a:latin typeface="Arial"/>
                <a:ea typeface="Arial"/>
                <a:cs typeface="Arial"/>
              </a:defRPr>
            </a:pPr>
            <a:r>
              <a:rPr sz="2325" b="0">
                <a:solidFill>
                  <a:srgbClr val="151515"/>
                </a:solidFill>
                <a:latin typeface="Arial"/>
                <a:ea typeface="Arial"/>
                <a:cs typeface="Arial"/>
              </a:rPr>
              <a:t>Post-hoc SVR: 0.2215</a:t>
            </a:r>
            <a:endParaRPr sz="2325" b="0">
              <a:solidFill>
                <a:srgbClr val="151515"/>
              </a:solidFill>
              <a:latin typeface="Arial"/>
              <a:ea typeface="Arial"/>
              <a:cs typeface="Arial"/>
            </a:endParaRPr>
          </a:p>
        </p:txBody>
      </p:sp>
      <p:sp>
        <p:nvSpPr>
          <p:cNvPr id="15" name="Rectangle 14">
            <a:extLst xmlns:a="http://schemas.openxmlformats.org/drawingml/2006/main">
              <a:ext uri="{FF2B5EF4-FFF2-40B4-BE49-F238E27FC236}">
                <a16:creationId xmlns:a16="http://schemas.microsoft.com/office/drawing/2014/main" id="{F3188A0B-1593-434F-83A1-BE2E7FBCAAC1}"/>
              </a:ext>
            </a:extLst>
          </p:cNvPr>
          <p:cNvSpPr>
            <a:spLocks xmlns:a="http://schemas.openxmlformats.org/drawingml/2006/main" noGrp="1"/>
          </p:cNvSpPr>
          <p:nvPr/>
        </p:nvSpPr>
        <p:spPr>
          <a:xfrm xmlns:a="http://schemas.openxmlformats.org/drawingml/2006/main">
            <a:off x="523875" y="5238750"/>
            <a:ext cx="1114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800000"/>
                </a:solidFill>
                <a:latin typeface="Arial"/>
                <a:ea typeface="Arial"/>
                <a:cs typeface="Arial"/>
              </a:defRPr>
            </a:defPPr>
          </a:lstStyle>
          <a:p xmlns:a="http://schemas.openxmlformats.org/drawingml/2006/main">
            <a:pPr>
              <a:buNone/>
              <a:defRPr sz="2175" b="1">
                <a:solidFill>
                  <a:srgbClr val="800000"/>
                </a:solidFill>
                <a:latin typeface="Arial"/>
                <a:ea typeface="Arial"/>
                <a:cs typeface="Arial"/>
              </a:defRPr>
            </a:pPr>
            <a:r>
              <a:rPr sz="2175" b="1">
                <a:solidFill>
                  <a:srgbClr val="800000"/>
                </a:solidFill>
                <a:latin typeface="Arial"/>
                <a:ea typeface="Arial"/>
                <a:cs typeface="Arial"/>
              </a:rPr>
              <a:t>Five runtime predicates. This does not establish clinical safety</a:t>
            </a:r>
            <a:endParaRPr sz="2175" b="1">
              <a:solidFill>
                <a:srgbClr val="800000"/>
              </a:solidFill>
              <a:latin typeface="Arial"/>
              <a:ea typeface="Arial"/>
              <a:cs typeface="Arial"/>
            </a:endParaRPr>
          </a:p>
        </p:txBody>
      </p:sp>
    </p:spTree>
    <p:extLst>
      <p:ext uri="{BB962C8B-B14F-4D97-AF65-F5344CB8AC3E}">
        <p14:creationId xmlns:p14="http://schemas.microsoft.com/office/powerpoint/2010/main" val="1130625439"/>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0888ee188cc44e1f">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F681D1-0501-45F1-B526-EF4779956565}"/>
              </a:ext>
            </a:extLst>
          </p:cNvPr>
          <p:cNvSpPr>
            <a:spLocks xmlns:a="http://schemas.openxmlformats.org/drawingml/2006/main" noGrp="1"/>
          </p:cNvSpPr>
          <p:nvPr>
            <p:ph type="ctrTitle" idx="0"/>
          </p:nvPr>
        </p:nvSpPr>
        <p:spPr>
          <a:xfrm xmlns:a="http://schemas.openxmlformats.org/drawingml/2006/main">
            <a:off x="190500" y="0"/>
            <a:ext cx="11811000" cy="723900"/>
          </a:xfrm>
        </p:spPr>
        <p:txBody>
          <a:bodyPr xmlns:a="http://schemas.openxmlformats.org/drawingml/2006/main" lIns="288000" anchor="ctr">
            <a:noAutofit/>
          </a:bodyPr>
          <a:lstStyle xmlns:a="http://schemas.openxmlformats.org/drawingml/2006/main">
            <a:defPPr algn="l">
              <a:defRPr sz="3200" b="1">
                <a:solidFill>
                  <a:srgbClr val="800000"/>
                </a:solidFill>
                <a:latin typeface="Arial"/>
                <a:ea typeface="Arial"/>
                <a:cs typeface="Arial"/>
              </a:defRPr>
            </a:defPPr>
          </a:lstStyle>
          <a:p xmlns:a="http://schemas.openxmlformats.org/drawingml/2006/main">
            <a:pPr algn="l">
              <a:buNone/>
              <a:defRPr sz="3200" b="1">
                <a:solidFill>
                  <a:srgbClr val="800000"/>
                </a:solidFill>
                <a:latin typeface="Arial"/>
                <a:ea typeface="Arial"/>
                <a:cs typeface="Arial"/>
              </a:defRPr>
            </a:pPr>
            <a:r>
              <a:rPr sz="3200" b="1">
                <a:solidFill>
                  <a:srgbClr val="800000"/>
                </a:solidFill>
                <a:latin typeface="Arial"/>
                <a:ea typeface="Arial"/>
                <a:cs typeface="Arial"/>
              </a:rPr>
              <a:t>Backup: proposed agent extension</a:t>
            </a:r>
            <a:endParaRPr sz="3200" b="1">
              <a:solidFill>
                <a:srgbClr val="800000"/>
              </a:solidFill>
              <a:latin typeface="Arial"/>
              <a:ea typeface="Arial"/>
              <a:cs typeface="Arial"/>
            </a:endParaRPr>
          </a:p>
        </p:txBody>
      </p:sp>
      <p:sp>
        <p:nvSpPr>
          <p:cNvPr id="5" name="Slide Number Placeholder 4">
            <a:extLst xmlns:a="http://schemas.openxmlformats.org/drawingml/2006/main">
              <a:ext uri="{FF2B5EF4-FFF2-40B4-BE49-F238E27FC236}">
                <a16:creationId xmlns:a16="http://schemas.microsoft.com/office/drawing/2014/main" id="{67B7B305-F542-480C-AB02-FDF8E528E2F3}"/>
              </a:ext>
            </a:extLst>
          </p:cNvPr>
          <p:cNvSpPr>
            <a:spLocks xmlns:a="http://schemas.openxmlformats.org/drawingml/2006/main" noGrp="1"/>
          </p:cNvSpPr>
          <p:nvPr>
            <p:ph type="sldNum" idx="12"/>
          </p:nvPr>
        </p:nvSpPr>
        <p:spPr>
          <a:xfrm xmlns:a="http://schemas.openxmlformats.org/drawingml/2006/main">
            <a:off x="11561522" y="6356350"/>
            <a:ext cx="518786" cy="362485"/>
          </a:xfrm>
        </p:spPr>
        <p:txBody>
          <a:bodyPr xmlns:a="http://schemas.openxmlformats.org/drawingml/2006/main"/>
          <a:lstStyle xmlns:a="http://schemas.openxmlformats.org/drawingml/2006/main"/>
          <a:p xmlns:a="http://schemas.openxmlformats.org/drawingml/2006/main">
            <a:pPr marL="0" marR="0" lvl="0" indent="0" algn="r" defTabSz="914400">
              <a:lnSpc>
                <a:spcPct val="100000"/>
              </a:lnSpc>
              <a:spcBef>
                <a:spcPts val="0"/>
              </a:spcBef>
              <a:spcAft>
                <a:spcPts val="0"/>
              </a:spcAft>
              <a:buClrTx/>
              <a:buSzTx/>
              <a:buFontTx/>
              <a:buNone/>
            </a:pPr>
            <a:endParaRPr sz="2000" b="0" i="0" u="none" strike="noStrike" kern="1200" cap="none" spc="0" baseline="0">
              <a:ln>
                <a:noFill/>
              </a:ln>
              <a:solidFill>
                <a:prstClr val="black">
                  <a:tint val="75000"/>
                </a:prstClr>
              </a:solidFill>
              <a:latin typeface="Arial Narrow"/>
              <a:ea typeface="Arial Narrow"/>
              <a:cs typeface="Arial Narrow"/>
            </a:endParaRPr>
          </a:p>
        </p:txBody>
      </p:sp>
      <p:sp>
        <p:nvSpPr>
          <p:cNvPr id="6" name="Rectangle 5">
            <a:extLst xmlns:a="http://schemas.openxmlformats.org/drawingml/2006/main">
              <a:ext uri="{FF2B5EF4-FFF2-40B4-BE49-F238E27FC236}">
                <a16:creationId xmlns:a16="http://schemas.microsoft.com/office/drawing/2014/main" id="{6B0EABE8-4326-4729-8AE1-F38F5482D834}"/>
              </a:ext>
            </a:extLst>
          </p:cNvPr>
          <p:cNvSpPr>
            <a:spLocks xmlns:a="http://schemas.openxmlformats.org/drawingml/2006/main" noGrp="1"/>
          </p:cNvSpPr>
          <p:nvPr/>
        </p:nvSpPr>
        <p:spPr>
          <a:xfrm xmlns:a="http://schemas.openxmlformats.org/drawingml/2006/main">
            <a:off x="2000250" y="6315075"/>
            <a:ext cx="9239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500" b="1">
                <a:solidFill>
                  <a:srgbClr val="151515"/>
                </a:solidFill>
                <a:latin typeface="Arial"/>
                <a:ea typeface="Arial"/>
                <a:cs typeface="Arial"/>
              </a:defRPr>
            </a:defPPr>
          </a:lstStyle>
          <a:p xmlns:a="http://schemas.openxmlformats.org/drawingml/2006/main">
            <a:pPr>
              <a:buNone/>
              <a:defRPr sz="1500" b="1">
                <a:solidFill>
                  <a:srgbClr val="151515"/>
                </a:solidFill>
                <a:latin typeface="Arial"/>
                <a:ea typeface="Arial"/>
                <a:cs typeface="Arial"/>
              </a:defRPr>
            </a:pPr>
            <a:r>
              <a:rPr sz="1500" b="1">
                <a:solidFill>
                  <a:srgbClr val="151515"/>
                </a:solidFill>
                <a:latin typeface="Arial"/>
                <a:ea typeface="Arial"/>
                <a:cs typeface="Arial"/>
              </a:rPr>
              <a:t>NarraCare    CA6124 Group Project</a:t>
            </a:r>
            <a:endParaRPr sz="1875" b="1">
              <a:solidFill>
                <a:srgbClr val="151515"/>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0FAF8160-9787-49E7-8B1A-B002AD4838BA}"/>
              </a:ext>
            </a:extLst>
          </p:cNvPr>
          <p:cNvSpPr>
            <a:spLocks xmlns:a="http://schemas.openxmlformats.org/drawingml/2006/main" noGrp="1"/>
          </p:cNvSpPr>
          <p:nvPr/>
        </p:nvSpPr>
        <p:spPr>
          <a:xfrm xmlns:a="http://schemas.openxmlformats.org/drawingml/2006/main">
            <a:off x="457200" y="10572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0000CC"/>
                </a:solidFill>
                <a:latin typeface="Arial"/>
                <a:ea typeface="Arial"/>
                <a:cs typeface="Arial"/>
              </a:defRPr>
            </a:defPPr>
          </a:lstStyle>
          <a:p xmlns:a="http://schemas.openxmlformats.org/drawingml/2006/main">
            <a:pPr>
              <a:buNone/>
              <a:defRPr sz="2475" b="1">
                <a:solidFill>
                  <a:srgbClr val="0000CC"/>
                </a:solidFill>
                <a:latin typeface="Arial"/>
                <a:ea typeface="Arial"/>
                <a:cs typeface="Arial"/>
              </a:defRPr>
            </a:pPr>
            <a:r>
              <a:rPr sz="2475" b="1">
                <a:solidFill>
                  <a:srgbClr val="0000CC"/>
                </a:solidFill>
                <a:latin typeface="Arial"/>
                <a:ea typeface="Arial"/>
                <a:cs typeface="Arial"/>
              </a:rPr>
              <a:t>Current evaluated system</a:t>
            </a:r>
            <a:endParaRPr sz="2550" b="1">
              <a:solidFill>
                <a:srgbClr val="0000CC"/>
              </a:solidFill>
              <a:latin typeface="Arial"/>
              <a:ea typeface="Arial"/>
              <a:cs typeface="Arial"/>
            </a:endParaRPr>
          </a:p>
        </p:txBody>
      </p:sp>
      <p:sp>
        <p:nvSpPr>
          <p:cNvPr id="8" name="Rectangle 7">
            <a:extLst xmlns:a="http://schemas.openxmlformats.org/drawingml/2006/main">
              <a:ext uri="{FF2B5EF4-FFF2-40B4-BE49-F238E27FC236}">
                <a16:creationId xmlns:a16="http://schemas.microsoft.com/office/drawing/2014/main" id="{90911FB3-673F-478F-B807-DD893CDE9CA7}"/>
              </a:ext>
            </a:extLst>
          </p:cNvPr>
          <p:cNvSpPr>
            <a:spLocks xmlns:a="http://schemas.openxmlformats.org/drawingml/2006/main" noGrp="1"/>
          </p:cNvSpPr>
          <p:nvPr/>
        </p:nvSpPr>
        <p:spPr>
          <a:xfrm xmlns:a="http://schemas.openxmlformats.org/drawingml/2006/main">
            <a:off x="457200" y="1666875"/>
            <a:ext cx="5286375"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Structured simulator state</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Contextual ranking and online updates</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Template narrator</a:t>
            </a:r>
            <a:endParaRPr sz="2325"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HTML recorded replay</a:t>
            </a:r>
            <a:endParaRPr sz="2325" b="0">
              <a:solidFill>
                <a:srgbClr val="151515"/>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9F9DF8F5-6501-4F36-BA1D-8714BC160A99}"/>
              </a:ext>
            </a:extLst>
          </p:cNvPr>
          <p:cNvSpPr>
            <a:spLocks xmlns:a="http://schemas.openxmlformats.org/drawingml/2006/main" noGrp="1"/>
          </p:cNvSpPr>
          <p:nvPr/>
        </p:nvSpPr>
        <p:spPr>
          <a:xfrm xmlns:a="http://schemas.openxmlformats.org/drawingml/2006/main">
            <a:off x="6267450" y="1057275"/>
            <a:ext cx="552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75" b="1">
                <a:solidFill>
                  <a:srgbClr val="0000CC"/>
                </a:solidFill>
                <a:latin typeface="Arial"/>
                <a:ea typeface="Arial"/>
                <a:cs typeface="Arial"/>
              </a:defRPr>
            </a:defPPr>
          </a:lstStyle>
          <a:p xmlns:a="http://schemas.openxmlformats.org/drawingml/2006/main">
            <a:pPr>
              <a:buNone/>
              <a:defRPr sz="2475" b="1">
                <a:solidFill>
                  <a:srgbClr val="0000CC"/>
                </a:solidFill>
                <a:latin typeface="Arial"/>
                <a:ea typeface="Arial"/>
                <a:cs typeface="Arial"/>
              </a:defRPr>
            </a:pPr>
            <a:r>
              <a:rPr sz="2475" b="1">
                <a:solidFill>
                  <a:srgbClr val="0000CC"/>
                </a:solidFill>
                <a:latin typeface="Arial"/>
                <a:ea typeface="Arial"/>
                <a:cs typeface="Arial"/>
              </a:rPr>
              <a:t>Proposed three-day prototype</a:t>
            </a:r>
            <a:endParaRPr sz="2550" b="1">
              <a:solidFill>
                <a:srgbClr val="0000CC"/>
              </a:solidFill>
              <a:latin typeface="Arial"/>
              <a:ea typeface="Arial"/>
              <a:cs typeface="Arial"/>
            </a:endParaRPr>
          </a:p>
        </p:txBody>
      </p:sp>
      <p:sp>
        <p:nvSpPr>
          <p:cNvPr id="10" name="Rectangle 9">
            <a:extLst xmlns:a="http://schemas.openxmlformats.org/drawingml/2006/main">
              <a:ext uri="{FF2B5EF4-FFF2-40B4-BE49-F238E27FC236}">
                <a16:creationId xmlns:a16="http://schemas.microsoft.com/office/drawing/2014/main" id="{CC2DF505-C900-454F-A546-54A43E70F95A}"/>
              </a:ext>
            </a:extLst>
          </p:cNvPr>
          <p:cNvSpPr>
            <a:spLocks xmlns:a="http://schemas.openxmlformats.org/drawingml/2006/main" noGrp="1"/>
          </p:cNvSpPr>
          <p:nvPr/>
        </p:nvSpPr>
        <p:spPr>
          <a:xfrm xmlns:a="http://schemas.openxmlformats.org/drawingml/2006/main">
            <a:off x="6267450" y="1666875"/>
            <a:ext cx="5476875"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0">
                <a:solidFill>
                  <a:srgbClr val="151515"/>
                </a:solidFill>
                <a:latin typeface="Arial"/>
                <a:ea typeface="Arial"/>
                <a:cs typeface="Arial"/>
              </a:defRPr>
            </a:defPPr>
          </a:lstStyle>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Day 1: state and clarification</a:t>
            </a:r>
            <a:endParaRPr sz="2250"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Day 2: tool calls and memory</a:t>
            </a:r>
            <a:endParaRPr sz="2250"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Day 3: multi-turn tests</a:t>
            </a:r>
            <a:endParaRPr sz="2250" b="0">
              <a:solidFill>
                <a:srgbClr val="151515"/>
              </a:solidFill>
              <a:latin typeface="Arial"/>
              <a:ea typeface="Arial"/>
              <a:cs typeface="Arial"/>
            </a:endParaRPr>
          </a:p>
          <a:p xmlns:a="http://schemas.openxmlformats.org/drawingml/2006/main">
            <a:pPr>
              <a:buNone/>
              <a:defRPr sz="2175" b="0">
                <a:solidFill>
                  <a:srgbClr val="151515"/>
                </a:solidFill>
                <a:latin typeface="Arial"/>
                <a:ea typeface="Arial"/>
                <a:cs typeface="Arial"/>
              </a:defRPr>
            </a:pPr>
            <a:r>
              <a:rPr sz="2175" b="0">
                <a:solidFill>
                  <a:srgbClr val="151515"/>
                </a:solidFill>
                <a:latin typeface="Arial"/>
                <a:ea typeface="Arial"/>
                <a:cs typeface="Arial"/>
              </a:rPr>
              <a:t>Safety remains authoritative</a:t>
            </a:r>
            <a:endParaRPr sz="2250" b="0">
              <a:solidFill>
                <a:srgbClr val="151515"/>
              </a:solidFill>
              <a:latin typeface="Arial"/>
              <a:ea typeface="Arial"/>
              <a:cs typeface="Arial"/>
            </a:endParaRPr>
          </a:p>
        </p:txBody>
      </p:sp>
      <p:sp>
        <p:nvSpPr>
          <p:cNvPr id="11" name="Rectangle 10">
            <a:extLst xmlns:a="http://schemas.openxmlformats.org/drawingml/2006/main">
              <a:ext uri="{FF2B5EF4-FFF2-40B4-BE49-F238E27FC236}">
                <a16:creationId xmlns:a16="http://schemas.microsoft.com/office/drawing/2014/main" id="{54B56F5C-3EFE-455C-A19D-020C20FBE3CD}"/>
              </a:ext>
            </a:extLst>
          </p:cNvPr>
          <p:cNvSpPr>
            <a:spLocks xmlns:a="http://schemas.openxmlformats.org/drawingml/2006/main" noGrp="1"/>
          </p:cNvSpPr>
          <p:nvPr/>
        </p:nvSpPr>
        <p:spPr>
          <a:xfrm xmlns:a="http://schemas.openxmlformats.org/drawingml/2006/main">
            <a:off x="333375" y="4895850"/>
            <a:ext cx="1152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1">
                <a:solidFill>
                  <a:srgbClr val="800000"/>
                </a:solidFill>
                <a:latin typeface="Arial"/>
                <a:ea typeface="Arial"/>
                <a:cs typeface="Arial"/>
              </a:defRPr>
            </a:defPPr>
          </a:lstStyle>
          <a:p xmlns:a="http://schemas.openxmlformats.org/drawingml/2006/main">
            <a:pPr>
              <a:buNone/>
              <a:defRPr sz="2100" b="1">
                <a:solidFill>
                  <a:srgbClr val="800000"/>
                </a:solidFill>
                <a:latin typeface="Arial"/>
                <a:ea typeface="Arial"/>
                <a:cs typeface="Arial"/>
              </a:defRPr>
            </a:pPr>
            <a:r>
              <a:rPr sz="2100" b="1">
                <a:solidFill>
                  <a:srgbClr val="800000"/>
                </a:solidFill>
                <a:latin typeface="Arial"/>
                <a:ea typeface="Arial"/>
                <a:cs typeface="Arial"/>
              </a:rPr>
              <a:t>Proposed follow-up. New interaction evidence is required</a:t>
            </a:r>
            <a:endParaRPr sz="2175" b="1">
              <a:solidFill>
                <a:srgbClr val="800000"/>
              </a:solidFill>
              <a:latin typeface="Arial"/>
              <a:ea typeface="Arial"/>
              <a:cs typeface="Arial"/>
            </a:endParaRPr>
          </a:p>
        </p:txBody>
      </p:sp>
      <p:sp>
        <p:nvSpPr>
          <p:cNvPr id="12" name="Rectangle 11">
            <a:extLst xmlns:a="http://schemas.openxmlformats.org/drawingml/2006/main">
              <a:ext uri="{FF2B5EF4-FFF2-40B4-BE49-F238E27FC236}">
                <a16:creationId xmlns:a16="http://schemas.microsoft.com/office/drawing/2014/main" id="{F6558B6C-CEB3-48DF-97EE-767ADFA754A2}"/>
              </a:ext>
            </a:extLst>
          </p:cNvPr>
          <p:cNvSpPr>
            <a:spLocks xmlns:a="http://schemas.openxmlformats.org/drawingml/2006/main" noGrp="1"/>
          </p:cNvSpPr>
          <p:nvPr/>
        </p:nvSpPr>
        <p:spPr>
          <a:xfrm xmlns:a="http://schemas.openxmlformats.org/drawingml/2006/main">
            <a:off x="457200" y="5715000"/>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650" b="0">
                <a:solidFill>
                  <a:srgbClr val="666666"/>
                </a:solidFill>
                <a:latin typeface="Arial"/>
                <a:ea typeface="Arial"/>
                <a:cs typeface="Arial"/>
              </a:defRPr>
            </a:defPPr>
          </a:lstStyle>
          <a:p xmlns:a="http://schemas.openxmlformats.org/drawingml/2006/main">
            <a:pPr>
              <a:buNone/>
              <a:defRPr sz="1650" b="0">
                <a:solidFill>
                  <a:srgbClr val="666666"/>
                </a:solidFill>
                <a:latin typeface="Arial"/>
                <a:ea typeface="Arial"/>
                <a:cs typeface="Arial"/>
              </a:defRPr>
            </a:pPr>
            <a:r>
              <a:rPr sz="1650" b="0">
                <a:solidFill>
                  <a:srgbClr val="666666"/>
                </a:solidFill>
                <a:latin typeface="Arial"/>
                <a:ea typeface="Arial"/>
                <a:cs typeface="Arial"/>
              </a:rPr>
              <a:t>Legacy free-text path exists, but current results do not validate a dialogue agent</a:t>
            </a:r>
            <a:endParaRPr sz="1575" b="0">
              <a:solidFill>
                <a:srgbClr val="666666"/>
              </a:solidFill>
              <a:latin typeface="Arial"/>
              <a:ea typeface="Arial"/>
              <a:cs typeface="Arial"/>
            </a:endParaRPr>
          </a:p>
        </p:txBody>
      </p:sp>
    </p:spTree>
    <p:extLst>
      <p:ext uri="{BB962C8B-B14F-4D97-AF65-F5344CB8AC3E}">
        <p14:creationId xmlns:p14="http://schemas.microsoft.com/office/powerpoint/2010/main" val="56429038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2026-10-16T15:50:32.7140000Z</dcterms:created>
  <dcterms:modified xsi:type="dcterms:W3CDTF">2026-10-16T15:50:32.7140000Z</dcterms:modified>
</coreProperties>
</file>