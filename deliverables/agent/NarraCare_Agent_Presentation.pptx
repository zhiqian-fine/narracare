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d27c47be28c48fc" /><Relationship Type="http://schemas.openxmlformats.org/officeDocument/2006/relationships/extended-properties" Target="/docProps/app.xml" Id="Reed4dc20b1874386" /><Relationship Type="http://schemas.openxmlformats.org/officeDocument/2006/relationships/officeDocument" Target="/ppt/presentation.xml" Id="Rf40effd3df9f437a" /></Relationships>
</file>

<file path=ppt/presentation.xml><?xml version="1.0" encoding="utf-8"?>
<p:presentation xmlns:p="http://schemas.openxmlformats.org/presentationml/2006/main">
  <p:sldMasterIdLst>
    <p:sldMasterId xmlns:r="http://schemas.openxmlformats.org/officeDocument/2006/relationships" id="2147483648" r:id="Rdc0e6dbb79ec4a8e"/>
  </p:sldMasterIdLst>
  <p:notesMasterIdLst>
    <p:notesMasterId xmlns:r="http://schemas.openxmlformats.org/officeDocument/2006/relationships" r:id="R357edf3267364b66"/>
  </p:notesMasterIdLst>
  <p:sldIdLst>
    <p:sldId xmlns:r="http://schemas.openxmlformats.org/officeDocument/2006/relationships" id="256" r:id="Re32e17260a524f2b"/>
    <p:sldId xmlns:r="http://schemas.openxmlformats.org/officeDocument/2006/relationships" id="257" r:id="R30367b03e31a4f09"/>
    <p:sldId xmlns:r="http://schemas.openxmlformats.org/officeDocument/2006/relationships" id="258" r:id="Rc28b659424274615"/>
    <p:sldId xmlns:r="http://schemas.openxmlformats.org/officeDocument/2006/relationships" id="259" r:id="R99a22d6f26f24a92"/>
    <p:sldId xmlns:r="http://schemas.openxmlformats.org/officeDocument/2006/relationships" id="260" r:id="R87520ba5ed0e493f"/>
    <p:sldId xmlns:r="http://schemas.openxmlformats.org/officeDocument/2006/relationships" id="261" r:id="R8304d6f01b134e9e"/>
    <p:sldId xmlns:r="http://schemas.openxmlformats.org/officeDocument/2006/relationships" id="262" r:id="R5194cac79f7b4e91"/>
    <p:sldId xmlns:r="http://schemas.openxmlformats.org/officeDocument/2006/relationships" id="263" r:id="R14b459fabcc642f3"/>
    <p:sldId xmlns:r="http://schemas.openxmlformats.org/officeDocument/2006/relationships" id="264" r:id="R2da9064417d34632"/>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5261f52455c946f3" /><Relationship Type="http://schemas.openxmlformats.org/officeDocument/2006/relationships/slideMaster" Target="/ppt/slideMasters/slideMaster1.xml" Id="Rdc0e6dbb79ec4a8e" /><Relationship Type="http://schemas.openxmlformats.org/officeDocument/2006/relationships/notesMaster" Target="/ppt/notesMasters/notesMaster1.xml" Id="R357edf3267364b66" /><Relationship Type="http://schemas.openxmlformats.org/officeDocument/2006/relationships/presProps" Target="/ppt/presProps.xml" Id="R8c7935d9a7214866" /><Relationship Type="http://schemas.openxmlformats.org/officeDocument/2006/relationships/viewProps" Target="/ppt/viewProps.xml" Id="R3ae9b2da81fb4b34" /><Relationship Type="http://schemas.openxmlformats.org/officeDocument/2006/relationships/tableStyles" Target="/ppt/tableStyles.xml" Id="Ra20c15b61892418b" /><Relationship Type="http://schemas.openxmlformats.org/officeDocument/2006/relationships/slide" Target="/ppt/slides/slide1.xml" Id="Re32e17260a524f2b" /><Relationship Type="http://schemas.openxmlformats.org/officeDocument/2006/relationships/slide" Target="/ppt/slides/slide2.xml" Id="R30367b03e31a4f09" /><Relationship Type="http://schemas.openxmlformats.org/officeDocument/2006/relationships/slide" Target="/ppt/slides/slide3.xml" Id="Rc28b659424274615" /><Relationship Type="http://schemas.openxmlformats.org/officeDocument/2006/relationships/slide" Target="/ppt/slides/slide4.xml" Id="R99a22d6f26f24a92" /><Relationship Type="http://schemas.openxmlformats.org/officeDocument/2006/relationships/slide" Target="/ppt/slides/slide5.xml" Id="R87520ba5ed0e493f" /><Relationship Type="http://schemas.openxmlformats.org/officeDocument/2006/relationships/slide" Target="/ppt/slides/slide6.xml" Id="R8304d6f01b134e9e" /><Relationship Type="http://schemas.openxmlformats.org/officeDocument/2006/relationships/slide" Target="/ppt/slides/slide7.xml" Id="R5194cac79f7b4e91" /><Relationship Type="http://schemas.openxmlformats.org/officeDocument/2006/relationships/slide" Target="/ppt/slides/slide8.xml" Id="R14b459fabcc642f3" /><Relationship Type="http://schemas.openxmlformats.org/officeDocument/2006/relationships/slide" Target="/ppt/slides/slide9.xml" Id="R2da9064417d3463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ba07b86b004f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2fa2bb84264b19" /><Relationship Type="http://schemas.openxmlformats.org/officeDocument/2006/relationships/notesMaster" Target="/ppt/notesMasters/notesMaster1.xml" Id="R71df95eef03843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66625432d64858" /><Relationship Type="http://schemas.openxmlformats.org/officeDocument/2006/relationships/notesMaster" Target="/ppt/notesMasters/notesMaster1.xml" Id="R5131f8d0a50146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7692eccee9c442d" /><Relationship Type="http://schemas.openxmlformats.org/officeDocument/2006/relationships/notesMaster" Target="/ppt/notesMasters/notesMaster1.xml" Id="Rb49806de08dc4c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a1a470cc814424" /><Relationship Type="http://schemas.openxmlformats.org/officeDocument/2006/relationships/notesMaster" Target="/ppt/notesMasters/notesMaster1.xml" Id="Rc39872b659c046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4f32b2bd134ac4" /><Relationship Type="http://schemas.openxmlformats.org/officeDocument/2006/relationships/notesMaster" Target="/ppt/notesMasters/notesMaster1.xml" Id="R5e9a69b2150944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fb64141aee436b" /><Relationship Type="http://schemas.openxmlformats.org/officeDocument/2006/relationships/notesMaster" Target="/ppt/notesMasters/notesMaster1.xml" Id="Rc637bfca604547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905dffb67f4337" /><Relationship Type="http://schemas.openxmlformats.org/officeDocument/2006/relationships/notesMaster" Target="/ppt/notesMasters/notesMaster1.xml" Id="R45c4b84a04f441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8ca7391c9f45bf" /><Relationship Type="http://schemas.openxmlformats.org/officeDocument/2006/relationships/notesMaster" Target="/ppt/notesMasters/notesMaster1.xml" Id="Re6460229f08f44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8b82a3189643d6" /><Relationship Type="http://schemas.openxmlformats.org/officeDocument/2006/relationships/notesMaster" Target="/ppt/notesMasters/notesMaster1.xml" Id="Rf657a44effa14d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Arial Narrow"/>
                <a:ea typeface="Arial Narrow"/>
                <a:cs typeface="Arial Narrow"/>
              </a:rPr>
              <a:t>0:00–0:12</a:t>
            </a:r>
            <a:endParaRPr sz="1200">
              <a:latin typeface="Arial Narrow"/>
              <a:ea typeface="Arial Narrow"/>
              <a:cs typeface="Arial Narrow"/>
            </a:endParaRPr>
          </a:p>
          <a:p xmlns:a="http://schemas.openxmlformats.org/drawingml/2006/main">
            <a:r>
              <a:rPr sz="1200">
                <a:latin typeface="Arial Narrow"/>
                <a:ea typeface="Arial Narrow"/>
                <a:cs typeface="Arial Narrow"/>
              </a:rPr>
              <a:t>NarraCare is a conversational rehabilitation recommender with a gentle trail companion. It combines an evaluated recommendation pipeline with a live LLM agent.</a:t>
            </a:r>
            <a:endParaRPr sz="1200">
              <a:latin typeface="Arial Narrow"/>
              <a:ea typeface="Arial Narrow"/>
              <a:cs typeface="Arial Narrow"/>
            </a:endParaRPr>
          </a:p>
          <a:p xmlns:a="http://schemas.openxmlformats.org/drawingml/2006/main">
            <a:r>
              <a:rPr sz="1200">
                <a:latin typeface="Arial Narrow"/>
                <a:ea typeface="Arial Narrow"/>
                <a:cs typeface="Arial Narrow"/>
              </a:rPr>
              <a:t/>
            </a:r>
            <a:endParaRPr sz="1200">
              <a:latin typeface="Arial Narrow"/>
              <a:ea typeface="Arial Narrow"/>
              <a:cs typeface="Arial Narrow"/>
            </a:endParaRPr>
          </a:p>
          <a:p xmlns:a="http://schemas.openxmlformats.org/drawingml/2006/main">
            <a:r>
              <a:rPr sz="1200">
                <a:latin typeface="Arial Narrow"/>
                <a:ea typeface="Arial Narrow"/>
                <a:cs typeface="Arial Narrow"/>
              </a:rPr>
              <a:t>Sources: NarraCare_Agent_Report.docx sections 1.3, 8; README.md</a:t>
            </a:r>
            <a:endParaRPr sz="1200">
              <a:latin typeface="Arial Narrow"/>
              <a:ea typeface="Arial Narrow"/>
              <a:cs typeface="Arial Narrow"/>
            </a:endParaRPr>
          </a:p>
          <a:p xmlns:a="http://schemas.openxmlformats.org/drawingml/2006/main">
            <a:r>
              <a:rPr sz="1200">
                <a:latin typeface="Arial Narrow"/>
                <a:ea typeface="Arial Narrow"/>
                <a:cs typeface="Arial Narrow"/>
              </a:rPr>
              <a:t>Repository: https://github.com/ZHIQIAN-fine/NarraCare/tree/main</a:t>
            </a:r>
            <a:endParaRPr sz="1200">
              <a:latin typeface="Arial Narrow"/>
              <a:ea typeface="Arial Narrow"/>
              <a:cs typeface="Arial Narrow"/>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100">
                <a:latin typeface="Arial Narrow"/>
                <a:ea typeface="Arial Narrow"/>
                <a:cs typeface="Arial Narrow"/>
              </a:rPr>
              <a:t>0:12–0:35</a:t>
            </a:r>
            <a:endParaRPr sz="1100">
              <a:latin typeface="Arial Narrow"/>
              <a:ea typeface="Arial Narrow"/>
              <a:cs typeface="Arial Narrow"/>
            </a:endParaRPr>
          </a:p>
          <a:p xmlns:a="http://schemas.openxmlformats.org/drawingml/2006/main">
            <a:r>
              <a:rPr sz="1100">
                <a:latin typeface="Arial Narrow"/>
                <a:ea typeface="Arial Narrow"/>
                <a:cs typeface="Arial Narrow"/>
              </a:rPr>
              <a:t>Home rehabilitation can feel repetitive, while symptoms change daily. We want suitable recommendations and manageable achievements, without pressure to push through discomfort. Our benchmark uses twenty synthetic personas, one hundred exercises and sixty-day rollouts, covering knee, shoulder and chronic back conditions.</a:t>
            </a:r>
            <a:endParaRPr sz="1100">
              <a:latin typeface="Arial Narrow"/>
              <a:ea typeface="Arial Narrow"/>
              <a:cs typeface="Arial Narrow"/>
            </a:endParaRPr>
          </a:p>
          <a:p xmlns:a="http://schemas.openxmlformats.org/drawingml/2006/main">
            <a:r>
              <a:rPr sz="1100">
                <a:latin typeface="Arial Narrow"/>
                <a:ea typeface="Arial Narrow"/>
                <a:cs typeface="Arial Narrow"/>
              </a:rPr>
              <a:t/>
            </a:r>
            <a:endParaRPr sz="1100">
              <a:latin typeface="Arial Narrow"/>
              <a:ea typeface="Arial Narrow"/>
              <a:cs typeface="Arial Narrow"/>
            </a:endParaRPr>
          </a:p>
          <a:p xmlns:a="http://schemas.openxmlformats.org/drawingml/2006/main">
            <a:r>
              <a:rPr sz="1100">
                <a:latin typeface="Arial Narrow"/>
                <a:ea typeface="Arial Narrow"/>
                <a:cs typeface="Arial Narrow"/>
              </a:rPr>
              <a:t>Sources: data/user_profiles.json; data/task_library.json; configs/default.yaml</a:t>
            </a:r>
            <a:endParaRPr sz="1100">
              <a:latin typeface="Arial Narrow"/>
              <a:ea typeface="Arial Narrow"/>
              <a:cs typeface="Arial Narrow"/>
            </a:endParaRPr>
          </a:p>
          <a:p xmlns:a="http://schemas.openxmlformats.org/drawingml/2006/main">
            <a:r>
              <a:rPr sz="1100">
                <a:latin typeface="Arial Narrow"/>
                <a:ea typeface="Arial Narrow"/>
                <a:cs typeface="Arial Narrow"/>
              </a:rPr>
              <a:t>Repository: https://github.com/ZHIQIAN-fine/NarraCare/tree/main</a:t>
            </a:r>
            <a:endParaRPr sz="1100">
              <a:latin typeface="Arial Narrow"/>
              <a:ea typeface="Arial Narrow"/>
              <a:cs typeface="Arial Narrow"/>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0:35–1:20</a:t>
            </a:r>
          </a:p>
          <a:p xmlns:a="http://schemas.openxmlformats.org/drawingml/2006/main">
            <a:r>
              <a:t>In the benchmark, the Simulator supplies state. Safety filters candidates; SAPS ranks them; Safety checks again. The template Narrator presents a task, and simulated feedback drives reward and learning. SAPS adds a sampled Beta safety bonus to LinUCB's reward score. In the live agent, user reports replace simulated behavior. GPT-four-o-mini interprets requests and selects tools, including clarification and preference revision. Deterministic tools enforce safety. Actual reported outcomes update reward and learning. The LLM cannot award completion from an intention.</a:t>
            </a:r>
          </a:p>
          <a:p xmlns:a="http://schemas.openxmlformats.org/drawingml/2006/main">
            <a:r>
              <a:t/>
            </a:r>
          </a:p>
          <a:p xmlns:a="http://schemas.openxmlformats.org/drawingml/2006/main">
            <a:r>
              <a:t>Sources: src/pipeline.py; src/policies/saps.py; narracare/conversation/controller.py and tools.py</a:t>
            </a:r>
          </a:p>
          <a:p xmlns:a="http://schemas.openxmlformats.org/drawingml/2006/main">
            <a:r>
              <a:t>Repository: https://github.com/ZHIQIAN-fine/NarraCare/tree/main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1:20–2:00</a:t>
            </a:r>
          </a:p>
          <a:p xmlns:a="http://schemas.openxmlformats.org/drawingml/2006/main">
            <a:r>
              <a:t>SAPS earns forty-two point zero two, close to LinUCB, without a significant advantage. Random earns more reward, but its infeasible proposal rate is forty point eight two percent, versus SAPS's two point two three percent. IER checks ungated proposals; SVR checks accepted tasks. Removing Safety from LinUCB produces one hundred seventy-one violating accepted tasks. These are benchmark results, not an evaluation of conversation quality.</a:t>
            </a:r>
          </a:p>
          <a:p xmlns:a="http://schemas.openxmlformats.org/drawingml/2006/main">
            <a:r>
              <a:t/>
            </a:r>
          </a:p>
          <a:p xmlns:a="http://schemas.openxmlformats.org/drawingml/2006/main">
            <a:r>
              <a:t>Sources: evaluation/results/saps_60day.json; linucb_60day.json; random_60day.json; posthoc_svr_60day_seed42.json</a:t>
            </a:r>
          </a:p>
          <a:p xmlns:a="http://schemas.openxmlformats.org/drawingml/2006/main">
            <a:r>
              <a:t>Repository: https://github.com/ZHIQIAN-fine/NarraCare/tree/main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2:00–2:40</a:t>
            </a:r>
          </a:p>
          <a:p xmlns:a="http://schemas.openxmlformats.org/drawingml/2006/main">
            <a:r>
              <a:t>Pip turns the workflow into a mountain trail, with small milestones and camp when tired. This is live interaction: changing flexibility to balance changes the actual retrieved set and task. Explicit completion updates reward and progress; skipping creates camp without invented feedback. Real-provider smoke checks passed all eight cases, alongside sixty-seven tests. Those checks verify integration, not improved adherence or clinical outcomes.</a:t>
            </a:r>
          </a:p>
          <a:p xmlns:a="http://schemas.openxmlformats.org/drawingml/2006/main">
            <a:r>
              <a:t/>
            </a:r>
          </a:p>
          <a:p xmlns:a="http://schemas.openxmlformats.org/drawingml/2006/main">
            <a:r>
              <a:t>Sources: narracare/agent_app.py; real gpt-4o-mini production browser sequence in deliverables/agent/evidence; docs/conversational_agent.md; report section 7.1</a:t>
            </a:r>
          </a:p>
          <a:p xmlns:a="http://schemas.openxmlformats.org/drawingml/2006/main">
            <a:r>
              <a:t>Repository: https://github.com/ZHIQIAN-fine/NarraCare/tree/main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2:40–3:00</a:t>
            </a:r>
          </a:p>
          <a:p xmlns:a="http://schemas.openxmlformats.org/drawingml/2006/main">
            <a:r>
              <a:t>Our contribution is an inspectable safety-aware architecture, complementary safety diagnostics and a conversational companion design. We preserve the original benchmark and evaluate the agent separately. Next come stronger baselines, dialogue evaluation and clinician-reviewed user studies. Thank you.</a:t>
            </a:r>
          </a:p>
          <a:p xmlns:a="http://schemas.openxmlformats.org/drawingml/2006/main">
            <a:r>
              <a:t/>
            </a:r>
          </a:p>
          <a:p xmlns:a="http://schemas.openxmlformats.org/drawingml/2006/main">
            <a:r>
              <a:t>Sources: README.md; docs/implementation_notes.md</a:t>
            </a:r>
          </a:p>
          <a:p xmlns:a="http://schemas.openxmlformats.org/drawingml/2006/main">
            <a:r>
              <a:t>Repository: https://github.com/ZHIQIAN-fine/NarraCare/tree/main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questions. Not part of the three-minute talk. See the separate script and Q&amp;A document for direct answers.</a:t>
            </a:r>
          </a:p>
          <a:p xmlns:a="http://schemas.openxmlformats.org/drawingml/2006/main">
            <a:r>
              <a:t/>
            </a:r>
          </a:p>
          <a:p xmlns:a="http://schemas.openxmlformats.org/drawingml/2006/main">
            <a:r>
              <a:t>Sources: evaluation/results/saps_60day.json; evaluation/results/linucb_60day.json; evaluation/results/neuralucb_60day.json; evaluation/results/random_60day.json; evaluation/results/popularity_60day_seed42.json; evaluation/results/rule_based_60day_seed42.json; evaluation/results/epsilon_greedy_60day_seed42.json</a:t>
            </a:r>
          </a:p>
          <a:p xmlns:a="http://schemas.openxmlformats.org/drawingml/2006/main">
            <a:r>
              <a:t>Repository: https://github.com/ZHIQIAN-fine/NarraCare/tree/main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100">
                <a:latin typeface="Arial Narrow"/>
                <a:ea typeface="Arial Narrow"/>
                <a:cs typeface="Arial Narrow"/>
              </a:rPr>
              <a:t>Backup for questions. Not part of the three-minute talk. See the separate script and Q&amp;A document for direct answers.</a:t>
            </a:r>
            <a:endParaRPr sz="1100">
              <a:latin typeface="Arial Narrow"/>
              <a:ea typeface="Arial Narrow"/>
              <a:cs typeface="Arial Narrow"/>
            </a:endParaRPr>
          </a:p>
          <a:p xmlns:a="http://schemas.openxmlformats.org/drawingml/2006/main">
            <a:r>
              <a:rPr sz="1100">
                <a:latin typeface="Arial Narrow"/>
                <a:ea typeface="Arial Narrow"/>
                <a:cs typeface="Arial Narrow"/>
              </a:rPr>
              <a:t/>
            </a:r>
            <a:endParaRPr sz="1100">
              <a:latin typeface="Arial Narrow"/>
              <a:ea typeface="Arial Narrow"/>
              <a:cs typeface="Arial Narrow"/>
            </a:endParaRPr>
          </a:p>
          <a:p xmlns:a="http://schemas.openxmlformats.org/drawingml/2006/main">
            <a:r>
              <a:rPr sz="1100">
                <a:latin typeface="Arial Narrow"/>
                <a:ea typeface="Arial Narrow"/>
                <a:cs typeface="Arial Narrow"/>
              </a:rPr>
              <a:t>Sources: evaluation/results/posthoc_svr_60day_seed42.json; nosafety_svr_posthoc_full.json</a:t>
            </a:r>
            <a:endParaRPr sz="1100">
              <a:latin typeface="Arial Narrow"/>
              <a:ea typeface="Arial Narrow"/>
              <a:cs typeface="Arial Narrow"/>
            </a:endParaRPr>
          </a:p>
          <a:p xmlns:a="http://schemas.openxmlformats.org/drawingml/2006/main">
            <a:r>
              <a:rPr sz="1100">
                <a:latin typeface="Arial Narrow"/>
                <a:ea typeface="Arial Narrow"/>
                <a:cs typeface="Arial Narrow"/>
              </a:rPr>
              <a:t>Repository: https://github.com/ZHIQIAN-fine/NarraCare/tree/main</a:t>
            </a:r>
            <a:endParaRPr sz="1100">
              <a:latin typeface="Arial Narrow"/>
              <a:ea typeface="Arial Narrow"/>
              <a:cs typeface="Arial Narrow"/>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questions. Not part of the three-minute talk. See the separate script and Q&amp;A document for direct answers.</a:t>
            </a:r>
          </a:p>
          <a:p xmlns:a="http://schemas.openxmlformats.org/drawingml/2006/main">
            <a:r>
              <a:t/>
            </a:r>
          </a:p>
          <a:p xmlns:a="http://schemas.openxmlformats.org/drawingml/2006/main">
            <a:r>
              <a:t>Sources: narracare/conversation; narracare/agent_check.py; tests/test_conversation.py; tests/test_agent_ui.py; verified real provider and browser logs</a:t>
            </a:r>
          </a:p>
          <a:p xmlns:a="http://schemas.openxmlformats.org/drawingml/2006/main">
            <a:r>
              <a:t>Repository: https://github.com/ZHIQIAN-fine/NarraCare/tree/main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fb046af037474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5751f51bb964d8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593d5ada97b421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8539aca4dfa4f9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12625d2c750472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c929555f2d848f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cba75fa44ed4fd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49f322e232044e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5abe7193c3c45e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4488c6ad2b746d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30eb070709f4fb9"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51FBEAE-236B-4302-8CB9-6BC75928DFE1}"/>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41820912-F20D-4204-AB1F-A34F1D272789}"/>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8E1FD3F4-8577-4924-B5F4-104E0D37D40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DC4535C2-544E-4D25-BA7F-CBF07182234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6E4DB6F1-C586-40A7-8BD6-DEDBB7C7B6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42A5EDA-31FD-4389-832B-FC18F087800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380340D-0C94-48EE-82D3-A6365E2F379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55C883B-A140-4236-874B-8C5A4D4281E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22D10186-1857-4DA9-8323-F6C46C6A7E6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F038F5DA-C64A-4C96-8425-934CAEBD4B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7C63AB1-A85D-4E6B-8AD5-67C358C0008B}"/>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8C28D544-CFF8-409B-82B5-7F03F72E6392}"/>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205D0334-958F-4737-8FE7-858FB0CA89E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8555DEBC-A181-4131-83D1-2E8E4873C4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696343C3-5C2B-40D4-92FB-46784C73A3A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826440F-BD5A-48FC-9CD8-2494BF0AB75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12E6044-B6D4-44D2-A3D1-D07C2562C7B1}"/>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1FCA3A50-4811-4FCD-9619-7D388D9F183F}"/>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E17C6CED-EBF4-4E88-9E6B-AB8B41410F5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6E675D84-990C-4D92-BAFF-89206B44A10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3BB75BE1-2D6B-45F3-B613-6E3AE5DF0E6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43782AD-6B40-4F8E-8765-D3C077C6005C}"/>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BC1B2BC-863A-4504-985C-686520300C22}"/>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BC3BE481-BA24-40D1-B78A-05118EA09640}"/>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2F5C6CCB-7AB7-4BF2-BE5A-128181E41E25}"/>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F1FDFC40-1445-4DEB-B8A6-873607DA3302}"/>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3B63EED3-CFC3-4CB7-A2E5-03E5910A0A9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8" name="Footer Placeholder 7">
            <a:extLst xmlns:a="http://schemas.openxmlformats.org/drawingml/2006/main">
              <a:ext uri="{FF2B5EF4-FFF2-40B4-BE49-F238E27FC236}">
                <a16:creationId xmlns:a16="http://schemas.microsoft.com/office/drawing/2014/main" id="{629D46AC-1A0F-485C-B25D-439B9CA80D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23A3B4B0-9FB6-4BE3-958A-E84F59154C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C3A7AD8-7301-40CC-9CE1-868A8251D2C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D32F4F3D-646D-428F-BD6B-1FBA70EB33C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4" name="Footer Placeholder 3">
            <a:extLst xmlns:a="http://schemas.openxmlformats.org/drawingml/2006/main">
              <a:ext uri="{FF2B5EF4-FFF2-40B4-BE49-F238E27FC236}">
                <a16:creationId xmlns:a16="http://schemas.microsoft.com/office/drawing/2014/main" id="{69A85FB2-6E72-490B-9867-2017EF3CC64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7EB9A1DD-726B-4A9E-B2F1-A8E334B02D0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19BE6F2D-029B-4813-9F3E-49B5E99B947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3" name="Footer Placeholder 2">
            <a:extLst xmlns:a="http://schemas.openxmlformats.org/drawingml/2006/main">
              <a:ext uri="{FF2B5EF4-FFF2-40B4-BE49-F238E27FC236}">
                <a16:creationId xmlns:a16="http://schemas.microsoft.com/office/drawing/2014/main" id="{0E465D33-9126-4923-B35E-F0A26765615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7FCDC491-96CE-4928-99E5-4BE1F9914A2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F69D7AA-D458-4099-B473-226A04028DC2}"/>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6A24EE7-964C-4611-8E41-0C3F813BAB20}"/>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3029AC89-5661-48EF-A41C-CB29C02D7B5E}"/>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DC053AB-34B7-4248-8D3E-ACED38E76C4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5B4B7684-A62C-4544-B0B4-33AB07B4856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C66304D0-0AA2-4251-ADB3-EB087D582CE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D813FDB-077E-4715-8CB3-FC20AC8E0F20}"/>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9F9D9030-3A3C-4DCB-AD8A-34FDEE7C84F0}"/>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8BAFBCE4-8794-4C83-9D82-FB90D2F8BBBC}"/>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73E7838-879C-4D3C-8D98-9823D34EC70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3927A601-07FC-4954-99AE-09B5B270B16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10E22230-B0E1-4869-80B3-4818B6AC135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A27AB95-2BBF-4195-9A69-9EAF3323563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E3B1DE06-2203-467A-ACCB-3AA2E67C478A}"/>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4B903B9-53BA-49C4-9B40-FA1FD1F99BE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7B060628-C732-472F-BA90-BAB84F04DB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1344A81D-C39B-42EE-B3E8-2FB037A5C5F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D0A86945-ECE7-4337-B836-259DE891B457}"/>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6F7318C-E06B-4B0F-BF8F-BFF137FFDE18}"/>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0E7FA3F-90B3-453A-B132-741C284B68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89AB213B-A3BA-4CF9-A763-6D93531A613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05223C04-4B5C-4859-95AF-C38B350D98E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f7a7756cc94b57" /><Relationship Type="http://schemas.openxmlformats.org/officeDocument/2006/relationships/slideLayout" Target="/ppt/slideLayouts/slideLayout1.xml" Id="Rffc55ffb41b044fa" /><Relationship Type="http://schemas.openxmlformats.org/officeDocument/2006/relationships/slideLayout" Target="/ppt/slideLayouts/slideLayout2.xml" Id="R4413bfd687844f84" /><Relationship Type="http://schemas.openxmlformats.org/officeDocument/2006/relationships/slideLayout" Target="/ppt/slideLayouts/slideLayout3.xml" Id="R0c1ee22dbe39455c" /><Relationship Type="http://schemas.openxmlformats.org/officeDocument/2006/relationships/slideLayout" Target="/ppt/slideLayouts/slideLayout4.xml" Id="R078c36635e034870" /><Relationship Type="http://schemas.openxmlformats.org/officeDocument/2006/relationships/slideLayout" Target="/ppt/slideLayouts/slideLayout5.xml" Id="R924509bce7b9464a" /><Relationship Type="http://schemas.openxmlformats.org/officeDocument/2006/relationships/slideLayout" Target="/ppt/slideLayouts/slideLayout6.xml" Id="Ra7dd4954c59045dd" /><Relationship Type="http://schemas.openxmlformats.org/officeDocument/2006/relationships/slideLayout" Target="/ppt/slideLayouts/slideLayout7.xml" Id="Rea832e71a6f04f27" /><Relationship Type="http://schemas.openxmlformats.org/officeDocument/2006/relationships/slideLayout" Target="/ppt/slideLayouts/slideLayout8.xml" Id="R7ee08d26d9614cb3" /><Relationship Type="http://schemas.openxmlformats.org/officeDocument/2006/relationships/slideLayout" Target="/ppt/slideLayouts/slideLayout9.xml" Id="Rd664d4b66a244b7e" /><Relationship Type="http://schemas.openxmlformats.org/officeDocument/2006/relationships/slideLayout" Target="/ppt/slideLayouts/slideLayout10.xml" Id="Re28d424ff6674037" /><Relationship Type="http://schemas.openxmlformats.org/officeDocument/2006/relationships/slideLayout" Target="/ppt/slideLayouts/slideLayout11.xml" Id="R979851ab19e34f5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16C81E67-5A92-4E1A-9D64-0B45614F57E1}"/>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38B0F7D-1A2E-4223-BADF-67AE233B7C7C}"/>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9F170DD-F8ED-4264-94D8-19CB733D9CB2}"/>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BDC63747-2659-4FF4-8C50-310B7490246E}"/>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DE26DACF-D1B5-4983-8B6C-68D25BD44D15}"/>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c55ffb41b044fa"/>
    <p:sldLayoutId xmlns:r="http://schemas.openxmlformats.org/officeDocument/2006/relationships" id="2147483650" r:id="R4413bfd687844f84"/>
    <p:sldLayoutId xmlns:r="http://schemas.openxmlformats.org/officeDocument/2006/relationships" id="2147483651" r:id="R0c1ee22dbe39455c"/>
    <p:sldLayoutId xmlns:r="http://schemas.openxmlformats.org/officeDocument/2006/relationships" id="2147483652" r:id="R078c36635e034870"/>
    <p:sldLayoutId xmlns:r="http://schemas.openxmlformats.org/officeDocument/2006/relationships" id="2147483653" r:id="R924509bce7b9464a"/>
    <p:sldLayoutId xmlns:r="http://schemas.openxmlformats.org/officeDocument/2006/relationships" id="2147483654" r:id="Ra7dd4954c59045dd"/>
    <p:sldLayoutId xmlns:r="http://schemas.openxmlformats.org/officeDocument/2006/relationships" id="2147483655" r:id="Rea832e71a6f04f27"/>
    <p:sldLayoutId xmlns:r="http://schemas.openxmlformats.org/officeDocument/2006/relationships" id="2147483656" r:id="R7ee08d26d9614cb3"/>
    <p:sldLayoutId xmlns:r="http://schemas.openxmlformats.org/officeDocument/2006/relationships" id="2147483657" r:id="Rd664d4b66a244b7e"/>
    <p:sldLayoutId xmlns:r="http://schemas.openxmlformats.org/officeDocument/2006/relationships" id="2147483658" r:id="Re28d424ff6674037"/>
    <p:sldLayoutId xmlns:r="http://schemas.openxmlformats.org/officeDocument/2006/relationships" id="2147483659" r:id="R979851ab19e34f5a"/>
  </p:sldLayoutIdLst>
  <p:hf hdr="0" ft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217d15f77f4144" /><Relationship Type="http://schemas.openxmlformats.org/officeDocument/2006/relationships/image" Target="/ppt/media/image.png" Id="Rf36906849ef04687" /><Relationship Type="http://schemas.openxmlformats.org/officeDocument/2006/relationships/notesSlide" Target="/ppt/notesSlides/notesSlide1.xml" Id="R92e66c1b4b5341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c8fa97dac1e4e43" /><Relationship Type="http://schemas.openxmlformats.org/officeDocument/2006/relationships/image" Target="/ppt/media/image.png" Id="R567726435ca04e65" /><Relationship Type="http://schemas.openxmlformats.org/officeDocument/2006/relationships/notesSlide" Target="/ppt/notesSlides/notesSlide2.xml" Id="R72d7b149e6a34f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0c7881869ee4fff" /><Relationship Type="http://schemas.openxmlformats.org/officeDocument/2006/relationships/image" Target="/ppt/media/image.png" Id="R3a1143ba49714766" /><Relationship Type="http://schemas.openxmlformats.org/officeDocument/2006/relationships/notesSlide" Target="/ppt/notesSlides/notesSlide3.xml" Id="R557572edbc2641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95004c7fde24dee" /><Relationship Type="http://schemas.openxmlformats.org/officeDocument/2006/relationships/image" Target="/ppt/media/image.png" Id="R2ee0a0dfe1124473" /><Relationship Type="http://schemas.openxmlformats.org/officeDocument/2006/relationships/chart" Target="/ppt/slides/charts/chart1.xml" Id="R6e7a2d4fab9d42df" /><Relationship Type="http://schemas.openxmlformats.org/officeDocument/2006/relationships/notesSlide" Target="/ppt/notesSlides/notesSlide4.xml" Id="Rb28861ca4e324b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779da37297f47e3" /><Relationship Type="http://schemas.openxmlformats.org/officeDocument/2006/relationships/image" Target="/ppt/media/image.png" Id="R692cde345b694138" /><Relationship Type="http://schemas.openxmlformats.org/officeDocument/2006/relationships/image" Target="/ppt/media/image2.png" Id="R2da8223019104694" /><Relationship Type="http://schemas.openxmlformats.org/officeDocument/2006/relationships/notesSlide" Target="/ppt/notesSlides/notesSlide5.xml" Id="Re41012cb7bf140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7e416a58c734a64" /><Relationship Type="http://schemas.openxmlformats.org/officeDocument/2006/relationships/image" Target="/ppt/media/image.png" Id="Re1d3ba3d8d1c4754" /><Relationship Type="http://schemas.openxmlformats.org/officeDocument/2006/relationships/notesSlide" Target="/ppt/notesSlides/notesSlide6.xml" Id="R0dcc7f50e5e749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5b927049e4649d8" /><Relationship Type="http://schemas.openxmlformats.org/officeDocument/2006/relationships/image" Target="/ppt/media/image.png" Id="Rcfb2f8cee8d14d4b" /><Relationship Type="http://schemas.openxmlformats.org/officeDocument/2006/relationships/notesSlide" Target="/ppt/notesSlides/notesSlide7.xml" Id="R19473d9a559d4f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9ff648e62a74d17" /><Relationship Type="http://schemas.openxmlformats.org/officeDocument/2006/relationships/image" Target="/ppt/media/image.png" Id="Rd91cb119ac634fe8" /><Relationship Type="http://schemas.openxmlformats.org/officeDocument/2006/relationships/notesSlide" Target="/ppt/notesSlides/notesSlide8.xml" Id="Re3756805d27345a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fa95f59b4a24569" /><Relationship Type="http://schemas.openxmlformats.org/officeDocument/2006/relationships/image" Target="/ppt/media/image.png" Id="R82a6055494be4765" /><Relationship Type="http://schemas.openxmlformats.org/officeDocument/2006/relationships/notesSlide" Target="/ppt/notesSlides/notesSlide9.xml" Id="Rc5682c1c2f6146d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a:solidFill>
                  <a:srgbClr val="151515"/>
                </a:solidFill>
                <a:latin typeface="Arial"/>
                <a:ea typeface="Arial"/>
                <a:cs typeface="Arial"/>
              </a:rPr>
              <a:t>Mean cumulative reward per persona</a:t>
            </a:r>
          </a:p>
        </c:rich>
      </c:tx>
      <c:overlay val="0"/>
      <c:txPr>
        <a:bodyPr xmlns:a="http://schemas.openxmlformats.org/drawingml/2006/main" anchorCtr="1"/>
        <a:lstStyle xmlns:a="http://schemas.openxmlformats.org/drawingml/2006/main"/>
        <a:p xmlns:a="http://schemas.openxmlformats.org/drawingml/2006/main">
          <a:pPr>
            <a:defRPr sz="1725">
              <a:solidFill>
                <a:srgbClr val="151515"/>
              </a:solidFill>
              <a:latin typeface="Arial"/>
              <a:ea typeface="Arial"/>
              <a:cs typeface="Arial"/>
            </a:defRPr>
          </a:pPr>
        </a:p>
      </c:txPr>
    </c:title>
    <c:plotArea>
      <c:barChart>
        <c:barDir val="col"/>
        <c:grouping val="clustered"/>
        <c:varyColors val="0"/>
        <c:ser>
          <c:idx val="0"/>
          <c:order val="0"/>
          <c:tx>
            <c:v>Reward</c:v>
          </c:tx>
          <c:spPr>
            <a:solidFill xmlns:a="http://schemas.openxmlformats.org/drawingml/2006/main">
              <a:srgbClr val="0000CC"/>
            </a:solidFill>
          </c:spPr>
          <c:dPt>
            <c:idx val="0"/>
            <c:invertIfNegative val="0"/>
            <c:spPr>
              <a:solidFill xmlns:a="http://schemas.openxmlformats.org/drawingml/2006/main">
                <a:srgbClr val="800000"/>
              </a:solidFill>
            </c:spPr>
          </c:dPt>
          <c:dPt>
            <c:idx val="1"/>
            <c:invertIfNegative val="0"/>
            <c:spPr>
              <a:solidFill xmlns:a="http://schemas.openxmlformats.org/drawingml/2006/main">
                <a:srgbClr val="0000CC"/>
              </a:solidFill>
            </c:spPr>
          </c:dPt>
          <c:dPt>
            <c:idx val="2"/>
            <c:invertIfNegative val="0"/>
            <c:spPr>
              <a:solidFill xmlns:a="http://schemas.openxmlformats.org/drawingml/2006/main">
                <a:srgbClr val="8B8B8B"/>
              </a:solidFill>
            </c:spPr>
          </c:dPt>
          <c:cat>
            <c:strRef>
              <c:f>'Chart Data'!$A$2:$A$4</c:f>
              <c:strCache>
                <c:ptCount val="3"/>
                <c:pt idx="0">
                  <c:v>SAPS</c:v>
                </c:pt>
                <c:pt idx="1">
                  <c:v>LinUCB</c:v>
                </c:pt>
                <c:pt idx="2">
                  <c:v>Random</c:v>
                </c:pt>
              </c:strCache>
            </c:strRef>
          </c:cat>
          <c:val>
            <c:numRef>
              <c:f>'Chart Data'!$B$2:$B$4</c:f>
              <c:numCache>
                <c:formatCode>General</c:formatCode>
                <c:ptCount val="3"/>
                <c:pt idx="0">
                  <c:v>42.02</c:v>
                </c:pt>
                <c:pt idx="1">
                  <c:v>41.94</c:v>
                </c:pt>
                <c:pt idx="2">
                  <c:v>45.94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51515"/>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51515"/>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9525">
              <a:solidFill>
                <a:srgbClr val="DDDDDD"/>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51515"/>
                </a:solidFill>
                <a:latin typeface="Arial"/>
                <a:ea typeface="Arial"/>
                <a:cs typeface="Arial"/>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f36906849ef04687">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3FA3D76-EF8B-4948-B0FF-EE509E2A0E22}"/>
              </a:ext>
            </a:extLst>
          </p:cNvPr>
          <p:cNvSpPr>
            <a:spLocks xmlns:a="http://schemas.openxmlformats.org/drawingml/2006/main" noGrp="1"/>
          </p:cNvSpPr>
          <p:nvPr>
            <p:ph type="ctrTitle" idx="0"/>
          </p:nvPr>
        </p:nvSpPr>
        <p:spPr>
          <a:xfrm xmlns:a="http://schemas.openxmlformats.org/drawingml/2006/main">
            <a:off x="190500" y="238125"/>
            <a:ext cx="11811000" cy="1095375"/>
          </a:xfrm>
        </p:spPr>
        <p:txBody>
          <a:bodyPr xmlns:a="http://schemas.openxmlformats.org/drawingml/2006/main" lIns="288000" anchor="ctr">
            <a:noAutofit/>
          </a:bodyPr>
          <a:lstStyle xmlns:a="http://schemas.openxmlformats.org/drawingml/2006/main">
            <a:defPPr algn="l">
              <a:defRPr sz="2775" b="1">
                <a:solidFill>
                  <a:srgbClr val="800000"/>
                </a:solidFill>
                <a:latin typeface="Arial"/>
                <a:ea typeface="Arial"/>
                <a:cs typeface="Arial"/>
              </a:defRPr>
            </a:defPPr>
          </a:lstStyle>
          <a:p xmlns:a="http://schemas.openxmlformats.org/drawingml/2006/main">
            <a:pPr algn="l">
              <a:buNone/>
              <a:defRPr sz="2775" b="1">
                <a:solidFill>
                  <a:srgbClr val="800000"/>
                </a:solidFill>
                <a:latin typeface="Arial"/>
                <a:ea typeface="Arial"/>
                <a:cs typeface="Arial"/>
              </a:defRPr>
            </a:pPr>
            <a:r>
              <a:rPr sz="2775" b="1">
                <a:solidFill>
                  <a:srgbClr val="800000"/>
                </a:solidFill>
                <a:latin typeface="Arial"/>
                <a:ea typeface="Arial"/>
                <a:cs typeface="Arial"/>
              </a:rPr>
              <a:t>Recommender Systems (CA6124)</a:t>
            </a:r>
            <a:endParaRPr sz="2775" b="1">
              <a:solidFill>
                <a:srgbClr val="800000"/>
              </a:solidFill>
              <a:latin typeface="Arial"/>
              <a:ea typeface="Arial"/>
              <a:cs typeface="Arial"/>
            </a:endParaRPr>
          </a:p>
        </p:txBody>
      </p:sp>
      <p:sp>
        <p:nvSpPr>
          <p:cNvPr id="8" name="Slide Number Placeholder 7">
            <a:extLst xmlns:a="http://schemas.openxmlformats.org/drawingml/2006/main">
              <a:ext uri="{FF2B5EF4-FFF2-40B4-BE49-F238E27FC236}">
                <a16:creationId xmlns:a16="http://schemas.microsoft.com/office/drawing/2014/main" id="{B04C21FA-26E1-4193-B201-054FAD2AF21E}"/>
              </a:ext>
            </a:extLst>
          </p:cNvPr>
          <p:cNvSpPr>
            <a:spLocks xmlns:a="http://schemas.openxmlformats.org/drawingml/2006/main" noGrp="1"/>
          </p:cNvSpPr>
          <p:nvPr>
            <p:ph type="sldNum" idx="12"/>
          </p:nvPr>
        </p:nvSpPr>
        <p:spPr>
          <a:xfrm xmlns:a="http://schemas.openxmlformats.org/drawingml/2006/main">
            <a:off x="11041625" y="6356350"/>
            <a:ext cx="1020097" cy="378747"/>
          </a:xfrm>
        </p:spPr>
        <p:txBody>
          <a:bodyPr xmlns:a="http://schemas.openxmlformats.org/drawingml/2006/main"/>
          <a:lstStyle xmlns:a="http://schemas.openxmlformats.org/drawingml/2006/main"/>
          <a:p xmlns:a="http://schemas.openxmlformats.org/drawingml/2006/main">
            <a:pPr marL="0" marR="0" lvl="0" indent="0" algn="r" defTabSz="914400">
              <a:lnSpc>
                <a:spcPct val="100000"/>
              </a:lnSpc>
              <a:spcBef>
                <a:spcPts val="0"/>
              </a:spcBef>
              <a:spcAft>
                <a:spcPts val="0"/>
              </a:spcAft>
              <a:buClrTx/>
              <a:buSzTx/>
              <a:buFontTx/>
              <a:buNone/>
            </a:pPr>
            <a:endParaRPr sz="2000" b="0" i="0" u="none" strike="noStrike" kern="1200" cap="none" spc="0" baseline="0">
              <a:ln>
                <a:noFill/>
              </a:ln>
              <a:solidFill>
                <a:prstClr val="black"/>
              </a:solidFill>
              <a:latin typeface="Calibri"/>
              <a:ea typeface="Calibri"/>
              <a:cs typeface="Calibri"/>
            </a:endParaRPr>
          </a:p>
        </p:txBody>
      </p:sp>
      <p:sp>
        <p:nvSpPr>
          <p:cNvPr id="9" name="Rectangle 8">
            <a:extLst xmlns:a="http://schemas.openxmlformats.org/drawingml/2006/main">
              <a:ext uri="{FF2B5EF4-FFF2-40B4-BE49-F238E27FC236}">
                <a16:creationId xmlns:a16="http://schemas.microsoft.com/office/drawing/2014/main" id="{E16D5CF4-9A87-42DC-A200-E93DC7A298B5}"/>
              </a:ext>
            </a:extLst>
          </p:cNvPr>
          <p:cNvSpPr>
            <a:spLocks xmlns:a="http://schemas.openxmlformats.org/drawingml/2006/main" noGrp="1"/>
          </p:cNvSpPr>
          <p:nvPr/>
        </p:nvSpPr>
        <p:spPr>
          <a:xfrm xmlns:a="http://schemas.openxmlformats.org/drawingml/2006/main">
            <a:off x="714375" y="163830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350" b="1">
                <a:solidFill>
                  <a:srgbClr val="0000CC"/>
                </a:solidFill>
                <a:latin typeface="Arial"/>
                <a:ea typeface="Arial"/>
                <a:cs typeface="Arial"/>
              </a:defRPr>
            </a:defPPr>
          </a:lstStyle>
          <a:p xmlns:a="http://schemas.openxmlformats.org/drawingml/2006/main">
            <a:pPr>
              <a:buNone/>
              <a:defRPr sz="4350" b="1">
                <a:solidFill>
                  <a:srgbClr val="0000CC"/>
                </a:solidFill>
                <a:latin typeface="Arial"/>
                <a:ea typeface="Arial"/>
                <a:cs typeface="Arial"/>
              </a:defRPr>
            </a:pPr>
            <a:r>
              <a:rPr sz="4350" b="1">
                <a:solidFill>
                  <a:srgbClr val="0000CC"/>
                </a:solidFill>
                <a:latin typeface="Arial"/>
                <a:ea typeface="Arial"/>
                <a:cs typeface="Arial"/>
              </a:rPr>
              <a:t>NarraCare</a:t>
            </a:r>
            <a:endParaRPr sz="4350" b="1">
              <a:solidFill>
                <a:srgbClr val="0000CC"/>
              </a:solidFill>
              <a:latin typeface="Arial"/>
              <a:ea typeface="Arial"/>
              <a:cs typeface="Arial"/>
            </a:endParaRPr>
          </a:p>
        </p:txBody>
      </p:sp>
      <p:sp>
        <p:nvSpPr>
          <p:cNvPr id="10" name="Rectangle 9">
            <a:extLst xmlns:a="http://schemas.openxmlformats.org/drawingml/2006/main">
              <a:ext uri="{FF2B5EF4-FFF2-40B4-BE49-F238E27FC236}">
                <a16:creationId xmlns:a16="http://schemas.microsoft.com/office/drawing/2014/main" id="{6189BC19-B535-4A3C-BDDB-485C8AD60362}"/>
              </a:ext>
            </a:extLst>
          </p:cNvPr>
          <p:cNvSpPr>
            <a:spLocks xmlns:a="http://schemas.openxmlformats.org/drawingml/2006/main" noGrp="1"/>
          </p:cNvSpPr>
          <p:nvPr/>
        </p:nvSpPr>
        <p:spPr>
          <a:xfrm xmlns:a="http://schemas.openxmlformats.org/drawingml/2006/main">
            <a:off x="714375" y="2495550"/>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150" b="1">
                <a:solidFill>
                  <a:srgbClr val="0000CC"/>
                </a:solidFill>
                <a:latin typeface="Arial"/>
                <a:ea typeface="Arial"/>
                <a:cs typeface="Arial"/>
              </a:defRPr>
            </a:defPPr>
          </a:lstStyle>
          <a:p xmlns:a="http://schemas.openxmlformats.org/drawingml/2006/main">
            <a:pPr>
              <a:buNone/>
              <a:defRPr sz="3150" b="1">
                <a:solidFill>
                  <a:srgbClr val="0000CC"/>
                </a:solidFill>
                <a:latin typeface="Arial"/>
                <a:ea typeface="Arial"/>
                <a:cs typeface="Arial"/>
              </a:defRPr>
            </a:pPr>
            <a:r>
              <a:rPr sz="3150" b="1">
                <a:solidFill>
                  <a:srgbClr val="0000CC"/>
                </a:solidFill>
                <a:latin typeface="Arial"/>
                <a:ea typeface="Arial"/>
                <a:cs typeface="Arial"/>
              </a:rPr>
              <a:t>A conversational rehabilitation recommender</a:t>
            </a:r>
            <a:endParaRPr sz="3150" b="1">
              <a:solidFill>
                <a:srgbClr val="0000CC"/>
              </a:solidFill>
              <a:latin typeface="Arial"/>
              <a:ea typeface="Arial"/>
              <a:cs typeface="Arial"/>
            </a:endParaRPr>
          </a:p>
        </p:txBody>
      </p:sp>
      <p:sp>
        <p:nvSpPr>
          <p:cNvPr id="11" name="Rectangle 10">
            <a:extLst xmlns:a="http://schemas.openxmlformats.org/drawingml/2006/main">
              <a:ext uri="{FF2B5EF4-FFF2-40B4-BE49-F238E27FC236}">
                <a16:creationId xmlns:a16="http://schemas.microsoft.com/office/drawing/2014/main" id="{F055117D-57CF-457F-9699-2A61E699C549}"/>
              </a:ext>
            </a:extLst>
          </p:cNvPr>
          <p:cNvSpPr>
            <a:spLocks xmlns:a="http://schemas.openxmlformats.org/drawingml/2006/main" noGrp="1"/>
          </p:cNvSpPr>
          <p:nvPr/>
        </p:nvSpPr>
        <p:spPr>
          <a:xfrm xmlns:a="http://schemas.openxmlformats.org/drawingml/2006/main">
            <a:off x="714375" y="35433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151515"/>
                </a:solidFill>
                <a:latin typeface="Arial"/>
                <a:ea typeface="Arial"/>
                <a:cs typeface="Arial"/>
              </a:defRPr>
            </a:defPPr>
          </a:lstStyle>
          <a:p xmlns:a="http://schemas.openxmlformats.org/drawingml/2006/main">
            <a:pPr>
              <a:buNone/>
              <a:defRPr sz="2550" b="1">
                <a:solidFill>
                  <a:srgbClr val="151515"/>
                </a:solidFill>
                <a:latin typeface="Arial"/>
                <a:ea typeface="Arial"/>
                <a:cs typeface="Arial"/>
              </a:defRPr>
            </a:pPr>
            <a:r>
              <a:rPr sz="2550" b="1">
                <a:solidFill>
                  <a:srgbClr val="151515"/>
                </a:solidFill>
                <a:latin typeface="Arial"/>
                <a:ea typeface="Arial"/>
                <a:cs typeface="Arial"/>
              </a:rPr>
              <a:t>LLM agent and evaluated recommendation pipeline</a:t>
            </a:r>
            <a:endParaRPr sz="2775" b="1">
              <a:solidFill>
                <a:srgbClr val="151515"/>
              </a:solidFill>
              <a:latin typeface="Arial"/>
              <a:ea typeface="Arial"/>
              <a:cs typeface="Arial"/>
            </a:endParaRPr>
          </a:p>
        </p:txBody>
      </p:sp>
      <p:sp>
        <p:nvSpPr>
          <p:cNvPr id="12" name="Rectangle 11">
            <a:extLst xmlns:a="http://schemas.openxmlformats.org/drawingml/2006/main">
              <a:ext uri="{FF2B5EF4-FFF2-40B4-BE49-F238E27FC236}">
                <a16:creationId xmlns:a16="http://schemas.microsoft.com/office/drawing/2014/main" id="{D869CFC9-5FE3-47A1-834D-C59E5FF94E2D}"/>
              </a:ext>
            </a:extLst>
          </p:cNvPr>
          <p:cNvSpPr>
            <a:spLocks xmlns:a="http://schemas.openxmlformats.org/drawingml/2006/main" noGrp="1"/>
          </p:cNvSpPr>
          <p:nvPr/>
        </p:nvSpPr>
        <p:spPr>
          <a:xfrm xmlns:a="http://schemas.openxmlformats.org/drawingml/2006/main">
            <a:off x="714375" y="42386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151515"/>
                </a:solidFill>
                <a:latin typeface="Arial"/>
                <a:ea typeface="Arial"/>
                <a:cs typeface="Arial"/>
              </a:defRPr>
            </a:defPPr>
          </a:lstStyle>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Recommendation and hard safety with a gentle trail companion</a:t>
            </a:r>
            <a:endParaRPr sz="2250" b="0">
              <a:solidFill>
                <a:srgbClr val="151515"/>
              </a:solidFill>
              <a:latin typeface="Arial"/>
              <a:ea typeface="Arial"/>
              <a:cs typeface="Arial"/>
            </a:endParaRPr>
          </a:p>
        </p:txBody>
      </p:sp>
      <p:sp>
        <p:nvSpPr>
          <p:cNvPr id="13" name="Rectangle 12">
            <a:extLst xmlns:a="http://schemas.openxmlformats.org/drawingml/2006/main">
              <a:ext uri="{FF2B5EF4-FFF2-40B4-BE49-F238E27FC236}">
                <a16:creationId xmlns:a16="http://schemas.microsoft.com/office/drawing/2014/main" id="{A92D1F7C-BFDB-42F7-9FDE-158C3892DC7C}"/>
              </a:ext>
            </a:extLst>
          </p:cNvPr>
          <p:cNvSpPr>
            <a:spLocks xmlns:a="http://schemas.openxmlformats.org/drawingml/2006/main" noGrp="1"/>
          </p:cNvSpPr>
          <p:nvPr/>
        </p:nvSpPr>
        <p:spPr>
          <a:xfrm xmlns:a="http://schemas.openxmlformats.org/drawingml/2006/main">
            <a:off x="714375" y="50958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800000"/>
                </a:solidFill>
                <a:latin typeface="Arial"/>
                <a:ea typeface="Arial"/>
                <a:cs typeface="Arial"/>
              </a:defRPr>
            </a:defPPr>
          </a:lstStyle>
          <a:p xmlns:a="http://schemas.openxmlformats.org/drawingml/2006/main">
            <a:pPr>
              <a:buNone/>
              <a:defRPr sz="2175" b="0">
                <a:solidFill>
                  <a:srgbClr val="800000"/>
                </a:solidFill>
                <a:latin typeface="Arial"/>
                <a:ea typeface="Arial"/>
                <a:cs typeface="Arial"/>
              </a:defRPr>
            </a:pPr>
            <a:r>
              <a:rPr sz="2175" b="0">
                <a:solidFill>
                  <a:srgbClr val="800000"/>
                </a:solidFill>
                <a:latin typeface="Arial"/>
                <a:ea typeface="Arial"/>
                <a:cs typeface="Arial"/>
              </a:rPr>
              <a:t>Synthetic benchmark and a live interactive companion</a:t>
            </a:r>
            <a:endParaRPr sz="2175" b="0">
              <a:solidFill>
                <a:srgbClr val="800000"/>
              </a:solidFill>
              <a:latin typeface="Arial"/>
              <a:ea typeface="Arial"/>
              <a:cs typeface="Arial"/>
            </a:endParaRPr>
          </a:p>
        </p:txBody>
      </p:sp>
    </p:spTree>
    <p:extLst>
      <p:ext uri="{BB962C8B-B14F-4D97-AF65-F5344CB8AC3E}">
        <p14:creationId xmlns:p14="http://schemas.microsoft.com/office/powerpoint/2010/main" val="844451424"/>
      </p:ext>
    </p:extLst>
  </p:cSld>
</p:sld>
</file>

<file path=ppt/slides/slide2.xml><?xml version="1.0" encoding="utf-8"?>
<p:sld xmlns:p="http://schemas.openxmlformats.org/presentationml/2006/main">
  <p:cSld>
    <p:bg>
      <p:bgPr>
        <a:blipFill xmlns:a="http://schemas.openxmlformats.org/drawingml/2006/main" rotWithShape="1">
          <a:blip xmlns:r="http://schemas.openxmlformats.org/officeDocument/2006/relationships" r:embed="R567726435ca04e65">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220E66E-A072-4147-9FF2-44C49DE7842C}"/>
              </a:ext>
            </a:extLst>
          </p:cNvPr>
          <p:cNvSpPr>
            <a:spLocks xmlns:a="http://schemas.openxmlformats.org/drawingml/2006/main" noGrp="1"/>
          </p:cNvSpPr>
          <p:nvPr>
            <p:ph type="ctrTitle" idx="0"/>
          </p:nvPr>
        </p:nvSpPr>
        <p:spPr>
          <a:xfrm xmlns:a="http://schemas.openxmlformats.org/drawingml/2006/main">
            <a:off x="190500" y="0"/>
            <a:ext cx="11811000" cy="723900"/>
          </a:xfrm>
        </p:spPr>
        <p:txBody>
          <a:bodyPr xmlns:a="http://schemas.openxmlformats.org/drawingml/2006/main" lIns="288000" anchor="ctr">
            <a:noAutofit/>
          </a:bodyPr>
          <a:lstStyle xmlns:a="http://schemas.openxmlformats.org/drawingml/2006/main">
            <a:defPPr algn="l">
              <a:defRPr sz="3000" b="1">
                <a:solidFill>
                  <a:srgbClr val="800000"/>
                </a:solidFill>
                <a:latin typeface="Arial"/>
                <a:ea typeface="Arial"/>
                <a:cs typeface="Arial"/>
              </a:defRPr>
            </a:defPPr>
          </a:lstStyle>
          <a:p xmlns:a="http://schemas.openxmlformats.org/drawingml/2006/main">
            <a:pPr algn="l">
              <a:buNone/>
              <a:defRPr sz="3000" b="1">
                <a:solidFill>
                  <a:srgbClr val="800000"/>
                </a:solidFill>
                <a:latin typeface="Arial"/>
                <a:ea typeface="Arial"/>
                <a:cs typeface="Arial"/>
              </a:defRPr>
            </a:pPr>
            <a:r>
              <a:rPr sz="3000" b="1">
                <a:solidFill>
                  <a:srgbClr val="800000"/>
                </a:solidFill>
                <a:latin typeface="Arial"/>
                <a:ea typeface="Arial"/>
                <a:cs typeface="Arial"/>
              </a:rPr>
              <a:t>Personalised rehabilitation</a:t>
            </a:r>
            <a:endParaRPr sz="3000" b="1">
              <a:solidFill>
                <a:srgbClr val="800000"/>
              </a:solidFill>
              <a:latin typeface="Arial"/>
              <a:ea typeface="Arial"/>
              <a:cs typeface="Arial"/>
            </a:endParaRPr>
          </a:p>
        </p:txBody>
      </p:sp>
      <p:sp>
        <p:nvSpPr>
          <p:cNvPr id="5" name="Slide Number Placeholder 4">
            <a:extLst xmlns:a="http://schemas.openxmlformats.org/drawingml/2006/main">
              <a:ext uri="{FF2B5EF4-FFF2-40B4-BE49-F238E27FC236}">
                <a16:creationId xmlns:a16="http://schemas.microsoft.com/office/drawing/2014/main" id="{27FA219E-EC66-41DE-A80C-37E2AD979772}"/>
              </a:ext>
            </a:extLst>
          </p:cNvPr>
          <p:cNvSpPr>
            <a:spLocks xmlns:a="http://schemas.openxmlformats.org/drawingml/2006/main" noGrp="1"/>
          </p:cNvSpPr>
          <p:nvPr>
            <p:ph type="sldNum" idx="12"/>
          </p:nvPr>
        </p:nvSpPr>
        <p:spPr>
          <a:xfrm xmlns:a="http://schemas.openxmlformats.org/drawingml/2006/main">
            <a:off x="11561522" y="6356350"/>
            <a:ext cx="518786" cy="362485"/>
          </a:xfrm>
        </p:spPr>
        <p:txBody>
          <a:bodyPr xmlns:a="http://schemas.openxmlformats.org/drawingml/2006/main"/>
          <a:lstStyle xmlns:a="http://schemas.openxmlformats.org/drawingml/2006/main"/>
          <a:p xmlns:a="http://schemas.openxmlformats.org/drawingml/2006/main">
            <a:endParaRPr sz="2000">
              <a:latin typeface="Arial Narrow"/>
              <a:ea typeface="Arial Narrow"/>
              <a:cs typeface="Arial Narrow"/>
            </a:endParaRPr>
          </a:p>
        </p:txBody>
      </p:sp>
      <p:pic>
        <p:nvPicPr>
          <p:cNvPr id="6" name="Picture 5">
            <a:extLst xmlns:a="http://schemas.openxmlformats.org/drawingml/2006/main">
              <a:ext uri="{FF2B5EF4-FFF2-40B4-BE49-F238E27FC236}">
                <a16:creationId xmlns:a16="http://schemas.microsoft.com/office/drawing/2014/main" id="{CCE66CE9-D145-40F5-9B0F-560ACF81DD49}"/>
              </a:ext>
            </a:extLst>
          </p:cNvPr>
          <p:cNvPicPr>
            <a:picLocks xmlns:a="http://schemas.openxmlformats.org/drawingml/2006/main" noChangeAspect="1"/>
          </p:cNvPicPr>
          <p:nvPr/>
        </p:nvPicPr>
        <p:blipFill>
          <a:blip xmlns:r="http://schemas.openxmlformats.org/officeDocument/2006/relationships" xmlns:a="http://schemas.openxmlformats.org/drawingml/2006/main" r:embed="R567726435ca04e65"/>
          <a:srcRect xmlns:a="http://schemas.openxmlformats.org/drawingml/2006/main" l="1953" t="92361" r="87344" b="833"/>
          <a:stretch xmlns:a="http://schemas.openxmlformats.org/drawingml/2006/main">
            <a:fillRect l="0" t="0" r="0" b="0"/>
          </a:stretch>
        </p:blipFill>
        <p:spPr>
          <a:xfrm xmlns:a="http://schemas.openxmlformats.org/drawingml/2006/main">
            <a:off x="238125" y="6334125"/>
            <a:ext cx="1304925" cy="466725"/>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98DE8BC3-89F3-4B86-939D-FF5CE3A01922}"/>
              </a:ext>
            </a:extLst>
          </p:cNvPr>
          <p:cNvSpPr>
            <a:spLocks xmlns:a="http://schemas.openxmlformats.org/drawingml/2006/main" noGrp="1"/>
          </p:cNvSpPr>
          <p:nvPr/>
        </p:nvSpPr>
        <p:spPr>
          <a:xfrm xmlns:a="http://schemas.openxmlformats.org/drawingml/2006/main">
            <a:off x="28575" y="6210300"/>
            <a:ext cx="12087225" cy="28575"/>
          </a:xfrm>
          <a:prstGeom xmlns:a="http://schemas.openxmlformats.org/drawingml/2006/main" prst="rect">
            <a:avLst/>
          </a:prstGeom>
          <a:solidFill xmlns:a="http://schemas.openxmlformats.org/drawingml/2006/main">
            <a:srgbClr val="CC0000"/>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D97AA8B7-A9DA-4097-B79F-7DA1F721EEEF}"/>
              </a:ext>
            </a:extLst>
          </p:cNvPr>
          <p:cNvSpPr>
            <a:spLocks xmlns:a="http://schemas.openxmlformats.org/drawingml/2006/main" noGrp="1"/>
          </p:cNvSpPr>
          <p:nvPr/>
        </p:nvSpPr>
        <p:spPr>
          <a:xfrm xmlns:a="http://schemas.openxmlformats.org/drawingml/2006/main">
            <a:off x="2000250" y="6315075"/>
            <a:ext cx="923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51515"/>
                </a:solidFill>
                <a:latin typeface="Arial"/>
                <a:ea typeface="Arial"/>
                <a:cs typeface="Arial"/>
              </a:defRPr>
            </a:defPPr>
          </a:lstStyle>
          <a:p xmlns:a="http://schemas.openxmlformats.org/drawingml/2006/main">
            <a:pPr>
              <a:buNone/>
              <a:defRPr sz="1500" b="1">
                <a:solidFill>
                  <a:srgbClr val="151515"/>
                </a:solidFill>
                <a:latin typeface="Arial"/>
                <a:ea typeface="Arial"/>
                <a:cs typeface="Arial"/>
              </a:defRPr>
            </a:pPr>
            <a:r>
              <a:rPr sz="1500" b="1">
                <a:solidFill>
                  <a:srgbClr val="151515"/>
                </a:solidFill>
                <a:latin typeface="Arial"/>
                <a:ea typeface="Arial"/>
                <a:cs typeface="Arial"/>
              </a:rPr>
              <a:t>NarraCare    CA6124 Group Project</a:t>
            </a:r>
            <a:endParaRPr sz="1875" b="1">
              <a:solidFill>
                <a:srgbClr val="151515"/>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BFE5CA50-03E4-44D9-92BF-F9D0EC8B81DC}"/>
              </a:ext>
            </a:extLst>
          </p:cNvPr>
          <p:cNvSpPr>
            <a:spLocks xmlns:a="http://schemas.openxmlformats.org/drawingml/2006/main" noGrp="1"/>
          </p:cNvSpPr>
          <p:nvPr/>
        </p:nvSpPr>
        <p:spPr>
          <a:xfrm xmlns:a="http://schemas.openxmlformats.org/drawingml/2006/main">
            <a:off x="523875" y="1095375"/>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75" b="1">
                <a:solidFill>
                  <a:srgbClr val="0000CC"/>
                </a:solidFill>
                <a:latin typeface="Arial"/>
                <a:ea typeface="Arial"/>
                <a:cs typeface="Arial"/>
              </a:defRPr>
            </a:defPPr>
          </a:lstStyle>
          <a:p xmlns:a="http://schemas.openxmlformats.org/drawingml/2006/main">
            <a:pPr>
              <a:buNone/>
              <a:defRPr sz="2775" b="1">
                <a:solidFill>
                  <a:srgbClr val="0000CC"/>
                </a:solidFill>
                <a:latin typeface="Arial"/>
                <a:ea typeface="Arial"/>
                <a:cs typeface="Arial"/>
              </a:defRPr>
            </a:pPr>
            <a:r>
              <a:rPr sz="2775" b="1">
                <a:solidFill>
                  <a:srgbClr val="0000CC"/>
                </a:solidFill>
                <a:latin typeface="Arial"/>
                <a:ea typeface="Arial"/>
                <a:cs typeface="Arial"/>
              </a:rPr>
              <a:t>Changing symptoms meet repetitive daily exercises</a:t>
            </a:r>
            <a:endParaRPr sz="2775" b="1">
              <a:solidFill>
                <a:srgbClr val="0000CC"/>
              </a:solidFill>
              <a:latin typeface="Arial"/>
              <a:ea typeface="Arial"/>
              <a:cs typeface="Arial"/>
            </a:endParaRPr>
          </a:p>
        </p:txBody>
      </p:sp>
      <p:sp>
        <p:nvSpPr>
          <p:cNvPr id="10" name="Rectangle 9">
            <a:extLst xmlns:a="http://schemas.openxmlformats.org/drawingml/2006/main">
              <a:ext uri="{FF2B5EF4-FFF2-40B4-BE49-F238E27FC236}">
                <a16:creationId xmlns:a16="http://schemas.microsoft.com/office/drawing/2014/main" id="{E3BA0536-6C70-46A8-95F7-FAB6D08958E7}"/>
              </a:ext>
            </a:extLst>
          </p:cNvPr>
          <p:cNvSpPr>
            <a:spLocks xmlns:a="http://schemas.openxmlformats.org/drawingml/2006/main" noGrp="1"/>
          </p:cNvSpPr>
          <p:nvPr/>
        </p:nvSpPr>
        <p:spPr>
          <a:xfrm xmlns:a="http://schemas.openxmlformats.org/drawingml/2006/main">
            <a:off x="523875" y="1762125"/>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51515"/>
                </a:solidFill>
                <a:latin typeface="Arial"/>
                <a:ea typeface="Arial"/>
                <a:cs typeface="Arial"/>
              </a:defRPr>
            </a:defPPr>
          </a:lstStyle>
          <a:p xmlns:a="http://schemas.openxmlformats.org/drawingml/2006/main">
            <a:pPr>
              <a:buNone/>
              <a:defRPr sz="2250" b="0">
                <a:solidFill>
                  <a:srgbClr val="151515"/>
                </a:solidFill>
                <a:latin typeface="Arial"/>
                <a:ea typeface="Arial"/>
                <a:cs typeface="Arial"/>
              </a:defRPr>
            </a:pPr>
            <a:r>
              <a:rPr sz="2250" b="0">
                <a:solidFill>
                  <a:srgbClr val="151515"/>
                </a:solidFill>
                <a:latin typeface="Arial"/>
                <a:ea typeface="Arial"/>
                <a:cs typeface="Arial"/>
              </a:rPr>
              <a:t>Pain and fatigue shape suitability. Small milestones make progress visible</a:t>
            </a:r>
            <a:endParaRPr sz="2250" b="0">
              <a:solidFill>
                <a:srgbClr val="151515"/>
              </a:solidFill>
              <a:latin typeface="Arial"/>
              <a:ea typeface="Arial"/>
              <a:cs typeface="Arial"/>
            </a:endParaRPr>
          </a:p>
        </p:txBody>
      </p:sp>
      <p:sp>
        <p:nvSpPr>
          <p:cNvPr id="11" name="Rectangle 10">
            <a:extLst xmlns:a="http://schemas.openxmlformats.org/drawingml/2006/main">
              <a:ext uri="{FF2B5EF4-FFF2-40B4-BE49-F238E27FC236}">
                <a16:creationId xmlns:a16="http://schemas.microsoft.com/office/drawing/2014/main" id="{978F54F8-9046-4C1A-840F-888300A3DE19}"/>
              </a:ext>
            </a:extLst>
          </p:cNvPr>
          <p:cNvSpPr>
            <a:spLocks xmlns:a="http://schemas.openxmlformats.org/drawingml/2006/main" noGrp="1"/>
          </p:cNvSpPr>
          <p:nvPr/>
        </p:nvSpPr>
        <p:spPr>
          <a:xfrm xmlns:a="http://schemas.openxmlformats.org/drawingml/2006/main">
            <a:off x="523875" y="2762250"/>
            <a:ext cx="361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425" b="1">
                <a:solidFill>
                  <a:srgbClr val="800000"/>
                </a:solidFill>
                <a:latin typeface="Arial"/>
                <a:ea typeface="Arial"/>
                <a:cs typeface="Arial"/>
              </a:defRPr>
            </a:defPPr>
          </a:lstStyle>
          <a:p xmlns:a="http://schemas.openxmlformats.org/drawingml/2006/main">
            <a:pPr>
              <a:buNone/>
              <a:defRPr sz="4425" b="1">
                <a:solidFill>
                  <a:srgbClr val="800000"/>
                </a:solidFill>
                <a:latin typeface="Arial"/>
                <a:ea typeface="Arial"/>
                <a:cs typeface="Arial"/>
              </a:defRPr>
            </a:pPr>
            <a:r>
              <a:rPr sz="4425" b="1">
                <a:solidFill>
                  <a:srgbClr val="800000"/>
                </a:solidFill>
                <a:latin typeface="Arial"/>
                <a:ea typeface="Arial"/>
                <a:cs typeface="Arial"/>
              </a:rPr>
              <a:t>20</a:t>
            </a:r>
            <a:endParaRPr sz="4425" b="1">
              <a:solidFill>
                <a:srgbClr val="800000"/>
              </a:solidFill>
              <a:latin typeface="Arial"/>
              <a:ea typeface="Arial"/>
              <a:cs typeface="Arial"/>
            </a:endParaRPr>
          </a:p>
        </p:txBody>
      </p:sp>
      <p:sp>
        <p:nvSpPr>
          <p:cNvPr id="12" name="Rectangle 11">
            <a:extLst xmlns:a="http://schemas.openxmlformats.org/drawingml/2006/main">
              <a:ext uri="{FF2B5EF4-FFF2-40B4-BE49-F238E27FC236}">
                <a16:creationId xmlns:a16="http://schemas.microsoft.com/office/drawing/2014/main" id="{0DF9C3E8-612A-4404-B49B-0CF60E9F0579}"/>
              </a:ext>
            </a:extLst>
          </p:cNvPr>
          <p:cNvSpPr>
            <a:spLocks xmlns:a="http://schemas.openxmlformats.org/drawingml/2006/main" noGrp="1"/>
          </p:cNvSpPr>
          <p:nvPr/>
        </p:nvSpPr>
        <p:spPr>
          <a:xfrm xmlns:a="http://schemas.openxmlformats.org/drawingml/2006/main">
            <a:off x="523875" y="3810000"/>
            <a:ext cx="3524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51515"/>
                </a:solidFill>
                <a:latin typeface="Arial"/>
                <a:ea typeface="Arial"/>
                <a:cs typeface="Arial"/>
              </a:defRPr>
            </a:defPPr>
          </a:lstStyle>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Synthetic personas</a:t>
            </a:r>
            <a:endParaRPr sz="2175" b="0">
              <a:solidFill>
                <a:srgbClr val="151515"/>
              </a:solidFill>
              <a:latin typeface="Arial"/>
              <a:ea typeface="Arial"/>
              <a:cs typeface="Arial"/>
            </a:endParaRPr>
          </a:p>
        </p:txBody>
      </p:sp>
      <p:sp>
        <p:nvSpPr>
          <p:cNvPr id="13" name="Rectangle 12">
            <a:extLst xmlns:a="http://schemas.openxmlformats.org/drawingml/2006/main">
              <a:ext uri="{FF2B5EF4-FFF2-40B4-BE49-F238E27FC236}">
                <a16:creationId xmlns:a16="http://schemas.microsoft.com/office/drawing/2014/main" id="{99B9DAD6-D0D3-4538-8D82-9F392B51178D}"/>
              </a:ext>
            </a:extLst>
          </p:cNvPr>
          <p:cNvSpPr>
            <a:spLocks xmlns:a="http://schemas.openxmlformats.org/drawingml/2006/main" noGrp="1"/>
          </p:cNvSpPr>
          <p:nvPr/>
        </p:nvSpPr>
        <p:spPr>
          <a:xfrm xmlns:a="http://schemas.openxmlformats.org/drawingml/2006/main">
            <a:off x="4429125" y="2762250"/>
            <a:ext cx="361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425" b="1">
                <a:solidFill>
                  <a:srgbClr val="800000"/>
                </a:solidFill>
                <a:latin typeface="Arial"/>
                <a:ea typeface="Arial"/>
                <a:cs typeface="Arial"/>
              </a:defRPr>
            </a:defPPr>
          </a:lstStyle>
          <a:p xmlns:a="http://schemas.openxmlformats.org/drawingml/2006/main">
            <a:pPr>
              <a:buNone/>
              <a:defRPr sz="4425" b="1">
                <a:solidFill>
                  <a:srgbClr val="800000"/>
                </a:solidFill>
                <a:latin typeface="Arial"/>
                <a:ea typeface="Arial"/>
                <a:cs typeface="Arial"/>
              </a:defRPr>
            </a:pPr>
            <a:r>
              <a:rPr sz="4425" b="1">
                <a:solidFill>
                  <a:srgbClr val="800000"/>
                </a:solidFill>
                <a:latin typeface="Arial"/>
                <a:ea typeface="Arial"/>
                <a:cs typeface="Arial"/>
              </a:rPr>
              <a:t>100</a:t>
            </a:r>
            <a:endParaRPr sz="4425" b="1">
              <a:solidFill>
                <a:srgbClr val="800000"/>
              </a:solidFill>
              <a:latin typeface="Arial"/>
              <a:ea typeface="Arial"/>
              <a:cs typeface="Arial"/>
            </a:endParaRPr>
          </a:p>
        </p:txBody>
      </p:sp>
      <p:sp>
        <p:nvSpPr>
          <p:cNvPr id="14" name="Rectangle 13">
            <a:extLst xmlns:a="http://schemas.openxmlformats.org/drawingml/2006/main">
              <a:ext uri="{FF2B5EF4-FFF2-40B4-BE49-F238E27FC236}">
                <a16:creationId xmlns:a16="http://schemas.microsoft.com/office/drawing/2014/main" id="{F8947C4B-5886-41DC-AA00-967366FF42F5}"/>
              </a:ext>
            </a:extLst>
          </p:cNvPr>
          <p:cNvSpPr>
            <a:spLocks xmlns:a="http://schemas.openxmlformats.org/drawingml/2006/main" noGrp="1"/>
          </p:cNvSpPr>
          <p:nvPr/>
        </p:nvSpPr>
        <p:spPr>
          <a:xfrm xmlns:a="http://schemas.openxmlformats.org/drawingml/2006/main">
            <a:off x="4429125" y="3810000"/>
            <a:ext cx="3524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51515"/>
                </a:solidFill>
                <a:latin typeface="Arial"/>
                <a:ea typeface="Arial"/>
                <a:cs typeface="Arial"/>
              </a:defRPr>
            </a:defPPr>
          </a:lstStyle>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Exercise tasks</a:t>
            </a:r>
            <a:endParaRPr sz="2175" b="0">
              <a:solidFill>
                <a:srgbClr val="151515"/>
              </a:solidFill>
              <a:latin typeface="Arial"/>
              <a:ea typeface="Arial"/>
              <a:cs typeface="Arial"/>
            </a:endParaRPr>
          </a:p>
        </p:txBody>
      </p:sp>
      <p:sp>
        <p:nvSpPr>
          <p:cNvPr id="15" name="Rectangle 14">
            <a:extLst xmlns:a="http://schemas.openxmlformats.org/drawingml/2006/main">
              <a:ext uri="{FF2B5EF4-FFF2-40B4-BE49-F238E27FC236}">
                <a16:creationId xmlns:a16="http://schemas.microsoft.com/office/drawing/2014/main" id="{EB684BEE-C373-48D1-A380-414B3C665B0E}"/>
              </a:ext>
            </a:extLst>
          </p:cNvPr>
          <p:cNvSpPr>
            <a:spLocks xmlns:a="http://schemas.openxmlformats.org/drawingml/2006/main" noGrp="1"/>
          </p:cNvSpPr>
          <p:nvPr/>
        </p:nvSpPr>
        <p:spPr>
          <a:xfrm xmlns:a="http://schemas.openxmlformats.org/drawingml/2006/main">
            <a:off x="8334375" y="2762250"/>
            <a:ext cx="361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425" b="1">
                <a:solidFill>
                  <a:srgbClr val="800000"/>
                </a:solidFill>
                <a:latin typeface="Arial"/>
                <a:ea typeface="Arial"/>
                <a:cs typeface="Arial"/>
              </a:defRPr>
            </a:defPPr>
          </a:lstStyle>
          <a:p xmlns:a="http://schemas.openxmlformats.org/drawingml/2006/main">
            <a:pPr>
              <a:buNone/>
              <a:defRPr sz="4425" b="1">
                <a:solidFill>
                  <a:srgbClr val="800000"/>
                </a:solidFill>
                <a:latin typeface="Arial"/>
                <a:ea typeface="Arial"/>
                <a:cs typeface="Arial"/>
              </a:defRPr>
            </a:pPr>
            <a:r>
              <a:rPr sz="4425" b="1">
                <a:solidFill>
                  <a:srgbClr val="800000"/>
                </a:solidFill>
                <a:latin typeface="Arial"/>
                <a:ea typeface="Arial"/>
                <a:cs typeface="Arial"/>
              </a:rPr>
              <a:t>60</a:t>
            </a:r>
            <a:endParaRPr sz="4425" b="1">
              <a:solidFill>
                <a:srgbClr val="800000"/>
              </a:solidFill>
              <a:latin typeface="Arial"/>
              <a:ea typeface="Arial"/>
              <a:cs typeface="Arial"/>
            </a:endParaRPr>
          </a:p>
        </p:txBody>
      </p:sp>
      <p:sp>
        <p:nvSpPr>
          <p:cNvPr id="16" name="Rectangle 15">
            <a:extLst xmlns:a="http://schemas.openxmlformats.org/drawingml/2006/main">
              <a:ext uri="{FF2B5EF4-FFF2-40B4-BE49-F238E27FC236}">
                <a16:creationId xmlns:a16="http://schemas.microsoft.com/office/drawing/2014/main" id="{974C8B99-D0D9-46C3-8421-0478896D45B2}"/>
              </a:ext>
            </a:extLst>
          </p:cNvPr>
          <p:cNvSpPr>
            <a:spLocks xmlns:a="http://schemas.openxmlformats.org/drawingml/2006/main" noGrp="1"/>
          </p:cNvSpPr>
          <p:nvPr/>
        </p:nvSpPr>
        <p:spPr>
          <a:xfrm xmlns:a="http://schemas.openxmlformats.org/drawingml/2006/main">
            <a:off x="8334375" y="3810000"/>
            <a:ext cx="3524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51515"/>
                </a:solidFill>
                <a:latin typeface="Arial"/>
                <a:ea typeface="Arial"/>
                <a:cs typeface="Arial"/>
              </a:defRPr>
            </a:defPPr>
          </a:lstStyle>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Days per rollout</a:t>
            </a:r>
            <a:endParaRPr sz="2175" b="0">
              <a:solidFill>
                <a:srgbClr val="151515"/>
              </a:solidFill>
              <a:latin typeface="Arial"/>
              <a:ea typeface="Arial"/>
              <a:cs typeface="Arial"/>
            </a:endParaRPr>
          </a:p>
        </p:txBody>
      </p:sp>
      <p:sp>
        <p:nvSpPr>
          <p:cNvPr id="17" name="Rectangle 16">
            <a:extLst xmlns:a="http://schemas.openxmlformats.org/drawingml/2006/main">
              <a:ext uri="{FF2B5EF4-FFF2-40B4-BE49-F238E27FC236}">
                <a16:creationId xmlns:a16="http://schemas.microsoft.com/office/drawing/2014/main" id="{8F2FE126-C256-43E0-84D6-19292AB27DB3}"/>
              </a:ext>
            </a:extLst>
          </p:cNvPr>
          <p:cNvSpPr>
            <a:spLocks xmlns:a="http://schemas.openxmlformats.org/drawingml/2006/main" noGrp="1"/>
          </p:cNvSpPr>
          <p:nvPr/>
        </p:nvSpPr>
        <p:spPr>
          <a:xfrm xmlns:a="http://schemas.openxmlformats.org/drawingml/2006/main">
            <a:off x="523875" y="5000625"/>
            <a:ext cx="1114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0000CC"/>
                </a:solidFill>
                <a:latin typeface="Arial"/>
                <a:ea typeface="Arial"/>
                <a:cs typeface="Arial"/>
              </a:defRPr>
            </a:defPPr>
          </a:lstStyle>
          <a:p xmlns:a="http://schemas.openxmlformats.org/drawingml/2006/main">
            <a:pPr>
              <a:buNone/>
              <a:defRPr sz="2175" b="1">
                <a:solidFill>
                  <a:srgbClr val="0000CC"/>
                </a:solidFill>
                <a:latin typeface="Arial"/>
                <a:ea typeface="Arial"/>
                <a:cs typeface="Arial"/>
              </a:defRPr>
            </a:pPr>
            <a:r>
              <a:rPr sz="2175" b="1">
                <a:solidFill>
                  <a:srgbClr val="0000CC"/>
                </a:solidFill>
                <a:latin typeface="Arial"/>
                <a:ea typeface="Arial"/>
                <a:cs typeface="Arial"/>
              </a:rPr>
              <a:t>ACL reconstruction, rotator-cuff repair and chronic back pain</a:t>
            </a:r>
            <a:endParaRPr sz="2175" b="1">
              <a:solidFill>
                <a:srgbClr val="0000CC"/>
              </a:solidFill>
              <a:latin typeface="Arial"/>
              <a:ea typeface="Arial"/>
              <a:cs typeface="Arial"/>
            </a:endParaRPr>
          </a:p>
        </p:txBody>
      </p:sp>
      <p:sp>
        <p:nvSpPr>
          <p:cNvPr id="18" name="Rectangle 17">
            <a:extLst xmlns:a="http://schemas.openxmlformats.org/drawingml/2006/main">
              <a:ext uri="{FF2B5EF4-FFF2-40B4-BE49-F238E27FC236}">
                <a16:creationId xmlns:a16="http://schemas.microsoft.com/office/drawing/2014/main" id="{5830C4B0-C920-4A64-9493-3E3C4C0E2DC5}"/>
              </a:ext>
            </a:extLst>
          </p:cNvPr>
          <p:cNvSpPr>
            <a:spLocks xmlns:a="http://schemas.openxmlformats.org/drawingml/2006/main" noGrp="1"/>
          </p:cNvSpPr>
          <p:nvPr/>
        </p:nvSpPr>
        <p:spPr>
          <a:xfrm xmlns:a="http://schemas.openxmlformats.org/drawingml/2006/main">
            <a:off x="523875" y="5724525"/>
            <a:ext cx="1114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66666"/>
                </a:solidFill>
                <a:latin typeface="Arial"/>
                <a:ea typeface="Arial"/>
                <a:cs typeface="Arial"/>
              </a:defRPr>
            </a:defPPr>
          </a:lstStyle>
          <a:p xmlns:a="http://schemas.openxmlformats.org/drawingml/2006/main">
            <a:pPr>
              <a:buNone/>
              <a:defRPr sz="1650" b="0">
                <a:solidFill>
                  <a:srgbClr val="666666"/>
                </a:solidFill>
                <a:latin typeface="Arial"/>
                <a:ea typeface="Arial"/>
                <a:cs typeface="Arial"/>
              </a:defRPr>
            </a:pPr>
            <a:r>
              <a:rPr sz="1650" b="0">
                <a:solidFill>
                  <a:srgbClr val="666666"/>
                </a:solidFill>
                <a:latin typeface="Arial"/>
                <a:ea typeface="Arial"/>
                <a:cs typeface="Arial"/>
              </a:rPr>
              <a:t>Synthetic inputs support controlled inspection, with no claim of clinical efficacy</a:t>
            </a:r>
            <a:endParaRPr sz="1650" b="0">
              <a:solidFill>
                <a:srgbClr val="666666"/>
              </a:solidFill>
              <a:latin typeface="Arial"/>
              <a:ea typeface="Arial"/>
              <a:cs typeface="Arial"/>
            </a:endParaRPr>
          </a:p>
        </p:txBody>
      </p:sp>
    </p:spTree>
    <p:extLst>
      <p:ext uri="{BB962C8B-B14F-4D97-AF65-F5344CB8AC3E}">
        <p14:creationId xmlns:p14="http://schemas.microsoft.com/office/powerpoint/2010/main" val="1962114080"/>
      </p:ext>
    </p:extLst>
  </p:cSld>
</p:sld>
</file>

<file path=ppt/slides/slide3.xml><?xml version="1.0" encoding="utf-8"?>
<p:sld xmlns:p="http://schemas.openxmlformats.org/presentationml/2006/main">
  <p:cSld>
    <p:bg>
      <p:bgPr>
        <a:blipFill xmlns:a="http://schemas.openxmlformats.org/drawingml/2006/main" rotWithShape="1">
          <a:blip xmlns:r="http://schemas.openxmlformats.org/officeDocument/2006/relationships" r:embed="R3a1143ba49714766">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9E491C-2A8F-4233-A88B-FF965C74818D}"/>
              </a:ext>
            </a:extLst>
          </p:cNvPr>
          <p:cNvSpPr>
            <a:spLocks xmlns:a="http://schemas.openxmlformats.org/drawingml/2006/main" noGrp="1"/>
          </p:cNvSpPr>
          <p:nvPr>
            <p:ph type="ctrTitle" idx="0"/>
          </p:nvPr>
        </p:nvSpPr>
        <p:spPr>
          <a:xfrm xmlns:a="http://schemas.openxmlformats.org/drawingml/2006/main">
            <a:off x="190500" y="0"/>
            <a:ext cx="11811000" cy="723900"/>
          </a:xfrm>
        </p:spPr>
        <p:txBody>
          <a:bodyPr xmlns:a="http://schemas.openxmlformats.org/drawingml/2006/main" lIns="288000" anchor="ctr">
            <a:noAutofit/>
          </a:bodyPr>
          <a:lstStyle xmlns:a="http://schemas.openxmlformats.org/drawingml/2006/main">
            <a:defPPr algn="l">
              <a:defRPr sz="3000" b="1">
                <a:solidFill>
                  <a:srgbClr val="800000"/>
                </a:solidFill>
                <a:latin typeface="Arial"/>
                <a:ea typeface="Arial"/>
                <a:cs typeface="Arial"/>
              </a:defRPr>
            </a:defPPr>
          </a:lstStyle>
          <a:p xmlns:a="http://schemas.openxmlformats.org/drawingml/2006/main">
            <a:pPr algn="l">
              <a:buNone/>
              <a:defRPr sz="3000" b="1">
                <a:solidFill>
                  <a:srgbClr val="800000"/>
                </a:solidFill>
                <a:latin typeface="Arial"/>
                <a:ea typeface="Arial"/>
                <a:cs typeface="Arial"/>
              </a:defRPr>
            </a:pPr>
            <a:r>
              <a:rPr sz="3000" b="1">
                <a:solidFill>
                  <a:srgbClr val="800000"/>
                </a:solidFill>
                <a:latin typeface="Arial"/>
                <a:ea typeface="Arial"/>
                <a:cs typeface="Arial"/>
              </a:rPr>
              <a:t>Learning and conversation with hard safety</a:t>
            </a:r>
            <a:endParaRPr sz="3200" b="1">
              <a:solidFill>
                <a:srgbClr val="800000"/>
              </a:solidFill>
              <a:latin typeface="Arial"/>
              <a:ea typeface="Arial"/>
              <a:cs typeface="Arial"/>
            </a:endParaRPr>
          </a:p>
        </p:txBody>
      </p:sp>
      <p:sp>
        <p:nvSpPr>
          <p:cNvPr id="5" name="Slide Number Placeholder 4">
            <a:extLst xmlns:a="http://schemas.openxmlformats.org/drawingml/2006/main">
              <a:ext uri="{FF2B5EF4-FFF2-40B4-BE49-F238E27FC236}">
                <a16:creationId xmlns:a16="http://schemas.microsoft.com/office/drawing/2014/main" id="{8453A8D4-9A83-4E2B-94E7-7BDC30E0FF49}"/>
              </a:ext>
            </a:extLst>
          </p:cNvPr>
          <p:cNvSpPr>
            <a:spLocks xmlns:a="http://schemas.openxmlformats.org/drawingml/2006/main" noGrp="1"/>
          </p:cNvSpPr>
          <p:nvPr>
            <p:ph type="sldNum" idx="12"/>
          </p:nvPr>
        </p:nvSpPr>
        <p:spPr>
          <a:xfrm xmlns:a="http://schemas.openxmlformats.org/drawingml/2006/main">
            <a:off x="11561522" y="6356350"/>
            <a:ext cx="518786" cy="362485"/>
          </a:xfrm>
        </p:spPr>
        <p:txBody>
          <a:bodyPr xmlns:a="http://schemas.openxmlformats.org/drawingml/2006/main"/>
          <a:lstStyle xmlns:a="http://schemas.openxmlformats.org/drawingml/2006/main"/>
          <a:p xmlns:a="http://schemas.openxmlformats.org/drawingml/2006/main">
            <a:pPr marL="0" marR="0" lvl="0" indent="0" algn="r" defTabSz="914400">
              <a:lnSpc>
                <a:spcPct val="100000"/>
              </a:lnSpc>
              <a:spcBef>
                <a:spcPts val="0"/>
              </a:spcBef>
              <a:spcAft>
                <a:spcPts val="0"/>
              </a:spcAft>
              <a:buClrTx/>
              <a:buSzTx/>
              <a:buFontTx/>
              <a:buNone/>
            </a:pPr>
            <a:endParaRPr sz="2000" b="0" i="0" u="none" strike="noStrike" kern="1200" cap="none" spc="0" baseline="0">
              <a:ln>
                <a:noFill/>
              </a:ln>
              <a:solidFill>
                <a:prstClr val="black">
                  <a:tint val="75000"/>
                </a:prstClr>
              </a:solidFill>
              <a:latin typeface="Arial Narrow"/>
              <a:ea typeface="Arial Narrow"/>
              <a:cs typeface="Arial Narrow"/>
            </a:endParaRPr>
          </a:p>
        </p:txBody>
      </p:sp>
      <p:sp>
        <p:nvSpPr>
          <p:cNvPr id="6" name="Rectangle 5">
            <a:extLst xmlns:a="http://schemas.openxmlformats.org/drawingml/2006/main">
              <a:ext uri="{FF2B5EF4-FFF2-40B4-BE49-F238E27FC236}">
                <a16:creationId xmlns:a16="http://schemas.microsoft.com/office/drawing/2014/main" id="{A7CDC042-F2E2-4C68-8166-54DC0AD16777}"/>
              </a:ext>
            </a:extLst>
          </p:cNvPr>
          <p:cNvSpPr>
            <a:spLocks xmlns:a="http://schemas.openxmlformats.org/drawingml/2006/main" noGrp="1"/>
          </p:cNvSpPr>
          <p:nvPr/>
        </p:nvSpPr>
        <p:spPr>
          <a:xfrm xmlns:a="http://schemas.openxmlformats.org/drawingml/2006/main">
            <a:off x="2000250" y="6315075"/>
            <a:ext cx="923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00" b="1">
                <a:solidFill>
                  <a:srgbClr val="151515"/>
                </a:solidFill>
                <a:latin typeface="Arial"/>
                <a:ea typeface="Arial"/>
                <a:cs typeface="Arial"/>
              </a:defRPr>
            </a:defPPr>
          </a:lstStyle>
          <a:p xmlns:a="http://schemas.openxmlformats.org/drawingml/2006/main">
            <a:pPr>
              <a:buNone/>
              <a:defRPr sz="1500" b="1">
                <a:solidFill>
                  <a:srgbClr val="151515"/>
                </a:solidFill>
                <a:latin typeface="Arial"/>
                <a:ea typeface="Arial"/>
                <a:cs typeface="Arial"/>
              </a:defRPr>
            </a:pPr>
            <a:r>
              <a:rPr sz="1500" b="1">
                <a:solidFill>
                  <a:srgbClr val="151515"/>
                </a:solidFill>
                <a:latin typeface="Arial"/>
                <a:ea typeface="Arial"/>
                <a:cs typeface="Arial"/>
              </a:rPr>
              <a:t>NarraCare    CA6124 Group Project</a:t>
            </a:r>
            <a:endParaRPr sz="1875" b="1">
              <a:solidFill>
                <a:srgbClr val="151515"/>
              </a:solidFill>
              <a:latin typeface="Arial"/>
              <a:ea typeface="Arial"/>
              <a:cs typeface="Arial"/>
            </a:endParaRPr>
          </a:p>
        </p:txBody>
      </p:sp>
      <p:sp>
        <p:nvSpPr>
          <p:cNvPr id="7" name="Rectangle 6">
            <a:extLst xmlns:a="http://schemas.openxmlformats.org/drawingml/2006/main">
              <a:ext uri="{FF2B5EF4-FFF2-40B4-BE49-F238E27FC236}">
                <a16:creationId xmlns:a16="http://schemas.microsoft.com/office/drawing/2014/main" id="{B0A31E5A-3E34-4E48-BDFC-FBDEE91429C1}"/>
              </a:ext>
            </a:extLst>
          </p:cNvPr>
          <p:cNvSpPr>
            <a:spLocks xmlns:a="http://schemas.openxmlformats.org/drawingml/2006/main" noGrp="1"/>
          </p:cNvSpPr>
          <p:nvPr/>
        </p:nvSpPr>
        <p:spPr>
          <a:xfrm xmlns:a="http://schemas.openxmlformats.org/drawingml/2006/main">
            <a:off x="457200" y="10572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0000CC"/>
                </a:solidFill>
                <a:latin typeface="Arial"/>
                <a:ea typeface="Arial"/>
                <a:cs typeface="Arial"/>
              </a:defRPr>
            </a:defPPr>
          </a:lstStyle>
          <a:p xmlns:a="http://schemas.openxmlformats.org/drawingml/2006/main">
            <a:pPr>
              <a:buNone/>
              <a:defRPr sz="2550" b="1">
                <a:solidFill>
                  <a:srgbClr val="0000CC"/>
                </a:solidFill>
                <a:latin typeface="Arial"/>
                <a:ea typeface="Arial"/>
                <a:cs typeface="Arial"/>
              </a:defRPr>
            </a:pPr>
            <a:r>
              <a:rPr sz="2550" b="1">
                <a:solidFill>
                  <a:srgbClr val="0000CC"/>
                </a:solidFill>
                <a:latin typeface="Arial"/>
                <a:ea typeface="Arial"/>
                <a:cs typeface="Arial"/>
              </a:rPr>
              <a:t>Benchmark components</a:t>
            </a:r>
            <a:endParaRPr sz="2550" b="1">
              <a:solidFill>
                <a:srgbClr val="0000CC"/>
              </a:solidFill>
              <a:latin typeface="Arial"/>
              <a:ea typeface="Arial"/>
              <a:cs typeface="Arial"/>
            </a:endParaRPr>
          </a:p>
        </p:txBody>
      </p:sp>
      <p:sp>
        <p:nvSpPr>
          <p:cNvPr id="8" name="Rectangle 7">
            <a:extLst xmlns:a="http://schemas.openxmlformats.org/drawingml/2006/main">
              <a:ext uri="{FF2B5EF4-FFF2-40B4-BE49-F238E27FC236}">
                <a16:creationId xmlns:a16="http://schemas.microsoft.com/office/drawing/2014/main" id="{B6D278A5-627E-4DE2-8ECD-73553C5E4B39}"/>
              </a:ext>
            </a:extLst>
          </p:cNvPr>
          <p:cNvSpPr>
            <a:spLocks xmlns:a="http://schemas.openxmlformats.org/drawingml/2006/main" noGrp="1"/>
          </p:cNvSpPr>
          <p:nvPr/>
        </p:nvSpPr>
        <p:spPr>
          <a:xfrm xmlns:a="http://schemas.openxmlformats.org/drawingml/2006/main">
            <a:off x="457200" y="1666875"/>
            <a:ext cx="5334000"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151515"/>
                </a:solidFill>
                <a:latin typeface="Arial"/>
                <a:ea typeface="Arial"/>
                <a:cs typeface="Arial"/>
              </a:defRPr>
            </a:defPPr>
          </a:lstStyle>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Simulator supplies state</a:t>
            </a:r>
            <a:endParaRPr sz="2325" b="0">
              <a:solidFill>
                <a:srgbClr val="151515"/>
              </a:solidFill>
              <a:latin typeface="Arial"/>
              <a:ea typeface="Arial"/>
              <a:cs typeface="Arial"/>
            </a:endParaRPr>
          </a:p>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Safety filters; SAPS ranks and checks</a:t>
            </a:r>
            <a:endParaRPr sz="2325" b="0">
              <a:solidFill>
                <a:srgbClr val="151515"/>
              </a:solidFill>
              <a:latin typeface="Arial"/>
              <a:ea typeface="Arial"/>
              <a:cs typeface="Arial"/>
            </a:endParaRPr>
          </a:p>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Template Narrator presents a task</a:t>
            </a:r>
            <a:endParaRPr sz="2325" b="0">
              <a:solidFill>
                <a:srgbClr val="151515"/>
              </a:solidFill>
              <a:latin typeface="Arial"/>
              <a:ea typeface="Arial"/>
              <a:cs typeface="Arial"/>
            </a:endParaRPr>
          </a:p>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Simulated feedback supplies reward</a:t>
            </a:r>
            <a:endParaRPr sz="2325" b="0">
              <a:solidFill>
                <a:srgbClr val="151515"/>
              </a:solidFill>
              <a:latin typeface="Arial"/>
              <a:ea typeface="Arial"/>
              <a:cs typeface="Arial"/>
            </a:endParaRPr>
          </a:p>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Models update; Narrator closes</a:t>
            </a:r>
            <a:endParaRPr sz="2325" b="0">
              <a:solidFill>
                <a:srgbClr val="151515"/>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9295A1E4-D88A-4F5E-9984-0299F9E06262}"/>
              </a:ext>
            </a:extLst>
          </p:cNvPr>
          <p:cNvSpPr>
            <a:spLocks xmlns:a="http://schemas.openxmlformats.org/drawingml/2006/main" noGrp="1"/>
          </p:cNvSpPr>
          <p:nvPr/>
        </p:nvSpPr>
        <p:spPr>
          <a:xfrm xmlns:a="http://schemas.openxmlformats.org/drawingml/2006/main">
            <a:off x="6267450" y="1057275"/>
            <a:ext cx="552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0000CC"/>
                </a:solidFill>
                <a:latin typeface="Arial"/>
                <a:ea typeface="Arial"/>
                <a:cs typeface="Arial"/>
              </a:defRPr>
            </a:defPPr>
          </a:lstStyle>
          <a:p xmlns:a="http://schemas.openxmlformats.org/drawingml/2006/main">
            <a:pPr>
              <a:buNone/>
              <a:defRPr sz="2550" b="1">
                <a:solidFill>
                  <a:srgbClr val="0000CC"/>
                </a:solidFill>
                <a:latin typeface="Arial"/>
                <a:ea typeface="Arial"/>
                <a:cs typeface="Arial"/>
              </a:defRPr>
            </a:pPr>
            <a:r>
              <a:rPr sz="2550" b="1">
                <a:solidFill>
                  <a:srgbClr val="0000CC"/>
                </a:solidFill>
                <a:latin typeface="Arial"/>
                <a:ea typeface="Arial"/>
                <a:cs typeface="Arial"/>
              </a:rPr>
              <a:t>Live LLM tool controller</a:t>
            </a:r>
            <a:endParaRPr sz="2550" b="1">
              <a:solidFill>
                <a:srgbClr val="0000CC"/>
              </a:solidFill>
              <a:latin typeface="Arial"/>
              <a:ea typeface="Arial"/>
              <a:cs typeface="Arial"/>
            </a:endParaRPr>
          </a:p>
        </p:txBody>
      </p:sp>
      <p:sp>
        <p:nvSpPr>
          <p:cNvPr id="10" name="Rectangle 9">
            <a:extLst xmlns:a="http://schemas.openxmlformats.org/drawingml/2006/main">
              <a:ext uri="{FF2B5EF4-FFF2-40B4-BE49-F238E27FC236}">
                <a16:creationId xmlns:a16="http://schemas.microsoft.com/office/drawing/2014/main" id="{5C7FE6C7-4770-4001-AB6F-E52B55AE1F5B}"/>
              </a:ext>
            </a:extLst>
          </p:cNvPr>
          <p:cNvSpPr>
            <a:spLocks xmlns:a="http://schemas.openxmlformats.org/drawingml/2006/main" noGrp="1"/>
          </p:cNvSpPr>
          <p:nvPr/>
        </p:nvSpPr>
        <p:spPr>
          <a:xfrm xmlns:a="http://schemas.openxmlformats.org/drawingml/2006/main">
            <a:off x="6267450" y="1666875"/>
            <a:ext cx="54768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151515"/>
                </a:solidFill>
                <a:latin typeface="Arial"/>
                <a:ea typeface="Arial"/>
                <a:cs typeface="Arial"/>
              </a:defRPr>
            </a:defPPr>
          </a:lstStyle>
          <a:p xmlns:a="http://schemas.openxmlformats.org/drawingml/2006/main">
            <a:pPr>
              <a:buNone/>
              <a:defRPr sz="2100" b="0">
                <a:solidFill>
                  <a:srgbClr val="151515"/>
                </a:solidFill>
                <a:latin typeface="Arial"/>
                <a:ea typeface="Arial"/>
                <a:cs typeface="Arial"/>
              </a:defRPr>
            </a:pPr>
            <a:r>
              <a:rPr sz="2100" b="0">
                <a:solidFill>
                  <a:srgbClr val="151515"/>
                </a:solidFill>
                <a:latin typeface="Arial"/>
                <a:ea typeface="Arial"/>
                <a:cs typeface="Arial"/>
              </a:rPr>
              <a:t>gpt-4o-mini clarifies and calls tools</a:t>
            </a:r>
            <a:endParaRPr sz="2250" b="0">
              <a:solidFill>
                <a:srgbClr val="151515"/>
              </a:solidFill>
              <a:latin typeface="Arial"/>
              <a:ea typeface="Arial"/>
              <a:cs typeface="Arial"/>
            </a:endParaRPr>
          </a:p>
          <a:p xmlns:a="http://schemas.openxmlformats.org/drawingml/2006/main">
            <a:pPr>
              <a:buNone/>
              <a:defRPr sz="2100" b="0">
                <a:solidFill>
                  <a:srgbClr val="151515"/>
                </a:solidFill>
                <a:latin typeface="Arial"/>
                <a:ea typeface="Arial"/>
                <a:cs typeface="Arial"/>
              </a:defRPr>
            </a:pPr>
            <a:r>
              <a:rPr sz="2100" b="0">
                <a:solidFill>
                  <a:srgbClr val="151515"/>
                </a:solidFill>
                <a:latin typeface="Arial"/>
                <a:ea typeface="Arial"/>
                <a:cs typeface="Arial"/>
              </a:rPr>
              <a:t>User reports replace simulation</a:t>
            </a:r>
            <a:endParaRPr sz="2250" b="0">
              <a:solidFill>
                <a:srgbClr val="151515"/>
              </a:solidFill>
              <a:latin typeface="Arial"/>
              <a:ea typeface="Arial"/>
              <a:cs typeface="Arial"/>
            </a:endParaRPr>
          </a:p>
          <a:p xmlns:a="http://schemas.openxmlformats.org/drawingml/2006/main">
            <a:pPr>
              <a:buNone/>
              <a:defRPr sz="2100" b="0">
                <a:solidFill>
                  <a:srgbClr val="151515"/>
                </a:solidFill>
                <a:latin typeface="Arial"/>
                <a:ea typeface="Arial"/>
                <a:cs typeface="Arial"/>
              </a:defRPr>
            </a:pPr>
            <a:r>
              <a:rPr sz="2100" b="0">
                <a:solidFill>
                  <a:srgbClr val="151515"/>
                </a:solidFill>
                <a:latin typeface="Arial"/>
                <a:ea typeface="Arial"/>
                <a:cs typeface="Arial"/>
              </a:rPr>
              <a:t>Preferences change actual retrieval</a:t>
            </a:r>
            <a:endParaRPr sz="2250" b="0">
              <a:solidFill>
                <a:srgbClr val="151515"/>
              </a:solidFill>
              <a:latin typeface="Arial"/>
              <a:ea typeface="Arial"/>
              <a:cs typeface="Arial"/>
            </a:endParaRPr>
          </a:p>
          <a:p xmlns:a="http://schemas.openxmlformats.org/drawingml/2006/main">
            <a:pPr>
              <a:buNone/>
              <a:defRPr sz="2100" b="0">
                <a:solidFill>
                  <a:srgbClr val="151515"/>
                </a:solidFill>
                <a:latin typeface="Arial"/>
                <a:ea typeface="Arial"/>
                <a:cs typeface="Arial"/>
              </a:defRPr>
            </a:pPr>
            <a:r>
              <a:rPr sz="2100" b="0">
                <a:solidFill>
                  <a:srgbClr val="151515"/>
                </a:solidFill>
                <a:latin typeface="Arial"/>
                <a:ea typeface="Arial"/>
                <a:cs typeface="Arial"/>
              </a:rPr>
              <a:t>Guarded tools enforce safety</a:t>
            </a:r>
            <a:endParaRPr sz="2250" b="0">
              <a:solidFill>
                <a:srgbClr val="151515"/>
              </a:solidFill>
              <a:latin typeface="Arial"/>
              <a:ea typeface="Arial"/>
              <a:cs typeface="Arial"/>
            </a:endParaRPr>
          </a:p>
          <a:p xmlns:a="http://schemas.openxmlformats.org/drawingml/2006/main">
            <a:pPr>
              <a:buNone/>
              <a:defRPr sz="2100" b="0">
                <a:solidFill>
                  <a:srgbClr val="151515"/>
                </a:solidFill>
                <a:latin typeface="Arial"/>
                <a:ea typeface="Arial"/>
                <a:cs typeface="Arial"/>
              </a:defRPr>
            </a:pPr>
            <a:r>
              <a:rPr sz="2100" b="0">
                <a:solidFill>
                  <a:srgbClr val="151515"/>
                </a:solidFill>
                <a:latin typeface="Arial"/>
                <a:ea typeface="Arial"/>
                <a:cs typeface="Arial"/>
              </a:rPr>
              <a:t>Reported outcomes update learning</a:t>
            </a:r>
            <a:endParaRPr sz="2250" b="0">
              <a:solidFill>
                <a:srgbClr val="151515"/>
              </a:solidFill>
              <a:latin typeface="Arial"/>
              <a:ea typeface="Arial"/>
              <a:cs typeface="Arial"/>
            </a:endParaRPr>
          </a:p>
        </p:txBody>
      </p:sp>
      <p:sp>
        <p:nvSpPr>
          <p:cNvPr id="11" name="Rectangle 10">
            <a:extLst xmlns:a="http://schemas.openxmlformats.org/drawingml/2006/main">
              <a:ext uri="{FF2B5EF4-FFF2-40B4-BE49-F238E27FC236}">
                <a16:creationId xmlns:a16="http://schemas.microsoft.com/office/drawing/2014/main" id="{7230BEEF-74A2-4047-BE56-1CFA3376019E}"/>
              </a:ext>
            </a:extLst>
          </p:cNvPr>
          <p:cNvSpPr>
            <a:spLocks xmlns:a="http://schemas.openxmlformats.org/drawingml/2006/main" noGrp="1"/>
          </p:cNvSpPr>
          <p:nvPr/>
        </p:nvSpPr>
        <p:spPr>
          <a:xfrm xmlns:a="http://schemas.openxmlformats.org/drawingml/2006/main">
            <a:off x="333375" y="4895850"/>
            <a:ext cx="11525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800000"/>
                </a:solidFill>
                <a:latin typeface="Arial"/>
                <a:ea typeface="Arial"/>
                <a:cs typeface="Arial"/>
              </a:defRPr>
            </a:defPPr>
          </a:lstStyle>
          <a:p xmlns:a="http://schemas.openxmlformats.org/drawingml/2006/main">
            <a:pPr>
              <a:buNone/>
              <a:defRPr sz="2175" b="1">
                <a:solidFill>
                  <a:srgbClr val="800000"/>
                </a:solidFill>
                <a:latin typeface="Arial"/>
                <a:ea typeface="Arial"/>
                <a:cs typeface="Arial"/>
              </a:defRPr>
            </a:pPr>
            <a:r>
              <a:rPr sz="2175" b="1">
                <a:solidFill>
                  <a:srgbClr val="800000"/>
                </a:solidFill>
                <a:latin typeface="Arial"/>
                <a:ea typeface="Arial"/>
                <a:cs typeface="Arial"/>
              </a:rPr>
              <a:t>S(a) = r_ucb(a) + 2.0 × s       s ~ Beta(alpha_a, beta_a)</a:t>
            </a:r>
            <a:endParaRPr sz="2175" b="1">
              <a:solidFill>
                <a:srgbClr val="800000"/>
              </a:solidFill>
              <a:latin typeface="Arial"/>
              <a:ea typeface="Arial"/>
              <a:cs typeface="Arial"/>
            </a:endParaRPr>
          </a:p>
        </p:txBody>
      </p:sp>
      <p:sp>
        <p:nvSpPr>
          <p:cNvPr id="12" name="Rectangle 11">
            <a:extLst xmlns:a="http://schemas.openxmlformats.org/drawingml/2006/main">
              <a:ext uri="{FF2B5EF4-FFF2-40B4-BE49-F238E27FC236}">
                <a16:creationId xmlns:a16="http://schemas.microsoft.com/office/drawing/2014/main" id="{235F6EFE-A9E0-4D97-BCD3-E5EEAF5264A5}"/>
              </a:ext>
            </a:extLst>
          </p:cNvPr>
          <p:cNvSpPr>
            <a:spLocks xmlns:a="http://schemas.openxmlformats.org/drawingml/2006/main" noGrp="1"/>
          </p:cNvSpPr>
          <p:nvPr/>
        </p:nvSpPr>
        <p:spPr>
          <a:xfrm xmlns:a="http://schemas.openxmlformats.org/drawingml/2006/main">
            <a:off x="457200" y="5715000"/>
            <a:ext cx="1123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66666"/>
                </a:solidFill>
                <a:latin typeface="Arial"/>
                <a:ea typeface="Arial"/>
                <a:cs typeface="Arial"/>
              </a:defRPr>
            </a:defPPr>
          </a:lstStyle>
          <a:p xmlns:a="http://schemas.openxmlformats.org/drawingml/2006/main">
            <a:pPr>
              <a:buNone/>
              <a:defRPr sz="1650" b="0">
                <a:solidFill>
                  <a:srgbClr val="666666"/>
                </a:solidFill>
                <a:latin typeface="Arial"/>
                <a:ea typeface="Arial"/>
                <a:cs typeface="Arial"/>
              </a:defRPr>
            </a:pPr>
            <a:r>
              <a:rPr sz="1650" b="0">
                <a:solidFill>
                  <a:srgbClr val="666666"/>
                </a:solidFill>
                <a:latin typeface="Arial"/>
                <a:ea typeface="Arial"/>
                <a:cs typeface="Arial"/>
              </a:rPr>
              <a:t>Chosen-task pain_change ≤ 1.0 updates Beta. Narrator stays template-based</a:t>
            </a:r>
            <a:endParaRPr sz="1575" b="0">
              <a:solidFill>
                <a:srgbClr val="666666"/>
              </a:solidFill>
              <a:latin typeface="Arial"/>
              <a:ea typeface="Arial"/>
              <a:cs typeface="Arial"/>
            </a:endParaRPr>
          </a:p>
        </p:txBody>
      </p:sp>
    </p:spTree>
    <p:extLst>
      <p:ext uri="{BB962C8B-B14F-4D97-AF65-F5344CB8AC3E}">
        <p14:creationId xmlns:p14="http://schemas.microsoft.com/office/powerpoint/2010/main" val="1370698126"/>
      </p:ext>
    </p:extLst>
  </p:cSld>
</p:sld>
</file>

<file path=ppt/slides/slide4.xml><?xml version="1.0" encoding="utf-8"?>
<p:sld xmlns:p="http://schemas.openxmlformats.org/presentationml/2006/main">
  <p:cSld>
    <p:bg>
      <p:bgPr>
        <a:blipFill xmlns:a="http://schemas.openxmlformats.org/drawingml/2006/main" rotWithShape="1">
          <a:blip xmlns:r="http://schemas.openxmlformats.org/officeDocument/2006/relationships" r:embed="R2ee0a0dfe1124473">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A787CD-3CBE-46CC-81E8-E6A43638D9AF}"/>
              </a:ext>
            </a:extLst>
          </p:cNvPr>
          <p:cNvSpPr>
            <a:spLocks xmlns:a="http://schemas.openxmlformats.org/drawingml/2006/main" noGrp="1"/>
          </p:cNvSpPr>
          <p:nvPr>
            <p:ph type="ctrTitle" idx="0"/>
          </p:nvPr>
        </p:nvSpPr>
        <p:spPr>
          <a:xfrm xmlns:a="http://schemas.openxmlformats.org/drawingml/2006/main">
            <a:off x="190500" y="0"/>
            <a:ext cx="11811000" cy="723900"/>
          </a:xfrm>
        </p:spPr>
        <p:txBody>
          <a:bodyPr xmlns:a="http://schemas.openxmlformats.org/drawingml/2006/main" lIns="288000" anchor="ctr">
            <a:noAutofit/>
          </a:bodyPr>
          <a:lstStyle xmlns:a="http://schemas.openxmlformats.org/drawingml/2006/main">
            <a:defPPr algn="l">
              <a:defRPr sz="3200" b="1">
                <a:solidFill>
                  <a:srgbClr val="800000"/>
                </a:solidFill>
                <a:latin typeface="Arial"/>
                <a:ea typeface="Arial"/>
                <a:cs typeface="Arial"/>
              </a:defRPr>
            </a:defPPr>
          </a:lstStyle>
          <a:p xmlns:a="http://schemas.openxmlformats.org/drawingml/2006/main">
            <a:pPr algn="l">
              <a:buNone/>
              <a:defRPr sz="3200" b="1">
                <a:solidFill>
                  <a:srgbClr val="800000"/>
                </a:solidFill>
                <a:latin typeface="Arial"/>
                <a:ea typeface="Arial"/>
                <a:cs typeface="Arial"/>
              </a:defRPr>
            </a:pPr>
            <a:r>
              <a:rPr sz="3200" b="1">
                <a:solidFill>
                  <a:srgbClr val="800000"/>
                </a:solidFill>
                <a:latin typeface="Arial"/>
                <a:ea typeface="Arial"/>
                <a:cs typeface="Arial"/>
              </a:rPr>
              <a:t>Reward and proposal feasibility</a:t>
            </a:r>
            <a:endParaRPr sz="3200" b="1">
              <a:solidFill>
                <a:srgbClr val="800000"/>
              </a:solidFill>
              <a:latin typeface="Arial"/>
              <a:ea typeface="Arial"/>
              <a:cs typeface="Arial"/>
            </a:endParaRPr>
          </a:p>
        </p:txBody>
      </p:sp>
      <p:sp>
        <p:nvSpPr>
          <p:cNvPr id="5" name="Slide Number Placeholder 4">
            <a:extLst xmlns:a="http://schemas.openxmlformats.org/drawingml/2006/main">
              <a:ext uri="{FF2B5EF4-FFF2-40B4-BE49-F238E27FC236}">
                <a16:creationId xmlns:a16="http://schemas.microsoft.com/office/drawing/2014/main" id="{7A747AC8-A631-44A1-AF6A-55EFE15A99A2}"/>
              </a:ext>
            </a:extLst>
          </p:cNvPr>
          <p:cNvSpPr>
            <a:spLocks xmlns:a="http://schemas.openxmlformats.org/drawingml/2006/main" noGrp="1"/>
          </p:cNvSpPr>
          <p:nvPr>
            <p:ph type="sldNum" idx="12"/>
          </p:nvPr>
        </p:nvSpPr>
        <p:spPr>
          <a:xfrm xmlns:a="http://schemas.openxmlformats.org/drawingml/2006/main">
            <a:off x="11561522" y="6356350"/>
            <a:ext cx="518786" cy="362485"/>
          </a:xfrm>
        </p:spPr>
        <p:txBody>
          <a:bodyPr xmlns:a="http://schemas.openxmlformats.org/drawingml/2006/main"/>
          <a:lstStyle xmlns:a="http://schemas.openxmlformats.org/drawingml/2006/main"/>
          <a:p xmlns:a="http://schemas.openxmlformats.org/drawingml/2006/main">
            <a:pPr marL="0" marR="0" lvl="0" indent="0" algn="r" defTabSz="914400">
              <a:lnSpc>
                <a:spcPct val="100000"/>
              </a:lnSpc>
              <a:spcBef>
                <a:spcPts val="0"/>
              </a:spcBef>
              <a:spcAft>
                <a:spcPts val="0"/>
              </a:spcAft>
              <a:buClrTx/>
              <a:buSzTx/>
              <a:buFontTx/>
              <a:buNone/>
            </a:pPr>
            <a:endParaRPr sz="2000" b="0" i="0" u="none" strike="noStrike" kern="1200" cap="none" spc="0" baseline="0">
              <a:ln>
                <a:noFill/>
              </a:ln>
              <a:solidFill>
                <a:prstClr val="black">
                  <a:tint val="75000"/>
                </a:prstClr>
              </a:solidFill>
              <a:latin typeface="Arial Narrow"/>
              <a:ea typeface="Arial Narrow"/>
              <a:cs typeface="Arial Narrow"/>
            </a:endParaRPr>
          </a:p>
        </p:txBody>
      </p:sp>
      <p:sp>
        <p:nvSpPr>
          <p:cNvPr id="6" name="Rectangle 5">
            <a:extLst xmlns:a="http://schemas.openxmlformats.org/drawingml/2006/main">
              <a:ext uri="{FF2B5EF4-FFF2-40B4-BE49-F238E27FC236}">
                <a16:creationId xmlns:a16="http://schemas.microsoft.com/office/drawing/2014/main" id="{F70C7389-4260-47AB-962E-1C47E26BB371}"/>
              </a:ext>
            </a:extLst>
          </p:cNvPr>
          <p:cNvSpPr>
            <a:spLocks xmlns:a="http://schemas.openxmlformats.org/drawingml/2006/main" noGrp="1"/>
          </p:cNvSpPr>
          <p:nvPr/>
        </p:nvSpPr>
        <p:spPr>
          <a:xfrm xmlns:a="http://schemas.openxmlformats.org/drawingml/2006/main">
            <a:off x="2000250" y="6315075"/>
            <a:ext cx="923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00" b="1">
                <a:solidFill>
                  <a:srgbClr val="151515"/>
                </a:solidFill>
                <a:latin typeface="Arial"/>
                <a:ea typeface="Arial"/>
                <a:cs typeface="Arial"/>
              </a:defRPr>
            </a:defPPr>
          </a:lstStyle>
          <a:p xmlns:a="http://schemas.openxmlformats.org/drawingml/2006/main">
            <a:pPr>
              <a:buNone/>
              <a:defRPr sz="1500" b="1">
                <a:solidFill>
                  <a:srgbClr val="151515"/>
                </a:solidFill>
                <a:latin typeface="Arial"/>
                <a:ea typeface="Arial"/>
                <a:cs typeface="Arial"/>
              </a:defRPr>
            </a:pPr>
            <a:r>
              <a:rPr sz="1500" b="1">
                <a:solidFill>
                  <a:srgbClr val="151515"/>
                </a:solidFill>
                <a:latin typeface="Arial"/>
                <a:ea typeface="Arial"/>
                <a:cs typeface="Arial"/>
              </a:rPr>
              <a:t>NarraCare    CA6124 Group Project</a:t>
            </a:r>
            <a:endParaRPr sz="1875" b="1">
              <a:solidFill>
                <a:srgbClr val="151515"/>
              </a:solidFill>
              <a:latin typeface="Arial"/>
              <a:ea typeface="Arial"/>
              <a:cs typeface="Arial"/>
            </a:endParaRPr>
          </a:p>
        </p:txBody>
      </p:sp>
      <p:sp>
        <p:nvSpPr>
          <p:cNvPr id="7" name="Rectangle 6">
            <a:extLst xmlns:a="http://schemas.openxmlformats.org/drawingml/2006/main">
              <a:ext uri="{FF2B5EF4-FFF2-40B4-BE49-F238E27FC236}">
                <a16:creationId xmlns:a16="http://schemas.microsoft.com/office/drawing/2014/main" id="{A972626A-BAA7-4AC4-9389-5E29F69D3984}"/>
              </a:ext>
            </a:extLst>
          </p:cNvPr>
          <p:cNvSpPr>
            <a:spLocks xmlns:a="http://schemas.openxmlformats.org/drawingml/2006/main" noGrp="1"/>
          </p:cNvSpPr>
          <p:nvPr/>
        </p:nvSpPr>
        <p:spPr>
          <a:xfrm xmlns:a="http://schemas.openxmlformats.org/drawingml/2006/main">
            <a:off x="409575" y="876300"/>
            <a:ext cx="1123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0000CC"/>
                </a:solidFill>
                <a:latin typeface="Arial"/>
                <a:ea typeface="Arial"/>
                <a:cs typeface="Arial"/>
              </a:defRPr>
            </a:defPPr>
          </a:lstStyle>
          <a:p xmlns:a="http://schemas.openxmlformats.org/drawingml/2006/main">
            <a:pPr>
              <a:buNone/>
              <a:defRPr sz="2100" b="1">
                <a:solidFill>
                  <a:srgbClr val="0000CC"/>
                </a:solidFill>
                <a:latin typeface="Arial"/>
                <a:ea typeface="Arial"/>
                <a:cs typeface="Arial"/>
              </a:defRPr>
            </a:pPr>
            <a:r>
              <a:rPr sz="2100" b="1">
                <a:solidFill>
                  <a:srgbClr val="0000CC"/>
                </a:solidFill>
                <a:latin typeface="Arial"/>
                <a:ea typeface="Arial"/>
                <a:cs typeface="Arial"/>
              </a:rPr>
              <a:t>20 synthetic personas, 60 days, seed 42</a:t>
            </a:r>
            <a:endParaRPr sz="2100" b="1">
              <a:solidFill>
                <a:srgbClr val="0000CC"/>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C132027E-5426-4D0E-8C6C-4FC206355A9A}"/>
              </a:ext>
            </a:extLst>
          </p:cNvPr>
          <p:cNvSpPr>
            <a:spLocks xmlns:a="http://schemas.openxmlformats.org/drawingml/2006/main" noGrp="1"/>
          </p:cNvSpPr>
          <p:nvPr/>
        </p:nvSpPr>
        <p:spPr>
          <a:xfrm xmlns:a="http://schemas.openxmlformats.org/drawingml/2006/main">
            <a:off x="8001000" y="1495425"/>
            <a:ext cx="3619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0000CC"/>
                </a:solidFill>
                <a:latin typeface="Arial"/>
                <a:ea typeface="Arial"/>
                <a:cs typeface="Arial"/>
              </a:defRPr>
            </a:defPPr>
          </a:lstStyle>
          <a:p xmlns:a="http://schemas.openxmlformats.org/drawingml/2006/main">
            <a:pPr>
              <a:buNone/>
              <a:defRPr sz="2400" b="1">
                <a:solidFill>
                  <a:srgbClr val="0000CC"/>
                </a:solidFill>
                <a:latin typeface="Arial"/>
                <a:ea typeface="Arial"/>
                <a:cs typeface="Arial"/>
              </a:defRPr>
            </a:pPr>
            <a:r>
              <a:rPr sz="2400" b="1">
                <a:solidFill>
                  <a:srgbClr val="0000CC"/>
                </a:solidFill>
                <a:latin typeface="Arial"/>
                <a:ea typeface="Arial"/>
                <a:cs typeface="Arial"/>
              </a:rPr>
              <a:t>Ungated IER</a:t>
            </a:r>
            <a:endParaRPr sz="2550" b="1">
              <a:solidFill>
                <a:srgbClr val="0000CC"/>
              </a:solidFill>
              <a:latin typeface="Arial"/>
              <a:ea typeface="Arial"/>
              <a:cs typeface="Arial"/>
            </a:endParaRPr>
          </a:p>
        </p:txBody>
      </p:sp>
      <p:sp>
        <p:nvSpPr>
          <p:cNvPr id="10" name="Rectangle 9">
            <a:extLst xmlns:a="http://schemas.openxmlformats.org/drawingml/2006/main">
              <a:ext uri="{FF2B5EF4-FFF2-40B4-BE49-F238E27FC236}">
                <a16:creationId xmlns:a16="http://schemas.microsoft.com/office/drawing/2014/main" id="{AAA68F86-E4EB-4E4B-9980-4369FD55518C}"/>
              </a:ext>
            </a:extLst>
          </p:cNvPr>
          <p:cNvSpPr>
            <a:spLocks xmlns:a="http://schemas.openxmlformats.org/drawingml/2006/main" noGrp="1"/>
          </p:cNvSpPr>
          <p:nvPr/>
        </p:nvSpPr>
        <p:spPr>
          <a:xfrm xmlns:a="http://schemas.openxmlformats.org/drawingml/2006/main">
            <a:off x="8001000" y="2133600"/>
            <a:ext cx="361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700" b="1">
                <a:solidFill>
                  <a:srgbClr val="800000"/>
                </a:solidFill>
                <a:latin typeface="Arial"/>
                <a:ea typeface="Arial"/>
                <a:cs typeface="Arial"/>
              </a:defRPr>
            </a:defPPr>
          </a:lstStyle>
          <a:p xmlns:a="http://schemas.openxmlformats.org/drawingml/2006/main">
            <a:pPr>
              <a:buNone/>
              <a:defRPr sz="2700" b="1">
                <a:solidFill>
                  <a:srgbClr val="800000"/>
                </a:solidFill>
                <a:latin typeface="Arial"/>
                <a:ea typeface="Arial"/>
                <a:cs typeface="Arial"/>
              </a:defRPr>
            </a:pPr>
            <a:r>
              <a:rPr sz="2700" b="1">
                <a:solidFill>
                  <a:srgbClr val="800000"/>
                </a:solidFill>
                <a:latin typeface="Arial"/>
                <a:ea typeface="Arial"/>
                <a:cs typeface="Arial"/>
              </a:rPr>
              <a:t>SAPS  0.0223</a:t>
            </a:r>
            <a:endParaRPr sz="3150" b="1">
              <a:solidFill>
                <a:srgbClr val="800000"/>
              </a:solidFill>
              <a:latin typeface="Arial"/>
              <a:ea typeface="Arial"/>
              <a:cs typeface="Arial"/>
            </a:endParaRPr>
          </a:p>
        </p:txBody>
      </p:sp>
      <p:sp>
        <p:nvSpPr>
          <p:cNvPr id="11" name="Rectangle 10">
            <a:extLst xmlns:a="http://schemas.openxmlformats.org/drawingml/2006/main">
              <a:ext uri="{FF2B5EF4-FFF2-40B4-BE49-F238E27FC236}">
                <a16:creationId xmlns:a16="http://schemas.microsoft.com/office/drawing/2014/main" id="{D5A17026-B9A1-4BDD-8AB7-8266E357D812}"/>
              </a:ext>
            </a:extLst>
          </p:cNvPr>
          <p:cNvSpPr>
            <a:spLocks xmlns:a="http://schemas.openxmlformats.org/drawingml/2006/main" noGrp="1"/>
          </p:cNvSpPr>
          <p:nvPr/>
        </p:nvSpPr>
        <p:spPr>
          <a:xfrm xmlns:a="http://schemas.openxmlformats.org/drawingml/2006/main">
            <a:off x="8001000" y="297180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buNone/>
              <a:defRPr sz="2325" b="0">
                <a:solidFill>
                  <a:srgbClr val="151515"/>
                </a:solidFill>
                <a:latin typeface="Arial"/>
                <a:ea typeface="Arial"/>
                <a:cs typeface="Arial"/>
              </a:defRPr>
            </a:pPr>
            <a:r>
              <a:rPr sz="2325" b="0">
                <a:solidFill>
                  <a:srgbClr val="151515"/>
                </a:solidFill>
                <a:latin typeface="Arial"/>
                <a:ea typeface="Arial"/>
                <a:cs typeface="Arial"/>
              </a:rPr>
              <a:t>LinUCB  0.0233</a:t>
            </a:r>
            <a:endParaRPr sz="2400" b="0">
              <a:solidFill>
                <a:srgbClr val="151515"/>
              </a:solidFill>
              <a:latin typeface="Arial"/>
              <a:ea typeface="Arial"/>
              <a:cs typeface="Arial"/>
            </a:endParaRPr>
          </a:p>
          <a:p xmlns:a="http://schemas.openxmlformats.org/drawingml/2006/main">
            <a:pPr>
              <a:buNone/>
              <a:defRPr sz="2325" b="0">
                <a:solidFill>
                  <a:srgbClr val="151515"/>
                </a:solidFill>
                <a:latin typeface="Arial"/>
                <a:ea typeface="Arial"/>
                <a:cs typeface="Arial"/>
              </a:defRPr>
            </a:pPr>
            <a:r>
              <a:rPr sz="2325" b="0">
                <a:solidFill>
                  <a:srgbClr val="151515"/>
                </a:solidFill>
                <a:latin typeface="Arial"/>
                <a:ea typeface="Arial"/>
                <a:cs typeface="Arial"/>
              </a:rPr>
              <a:t>Random  0.4082</a:t>
            </a:r>
            <a:endParaRPr sz="2400" b="0">
              <a:solidFill>
                <a:srgbClr val="151515"/>
              </a:solidFill>
              <a:latin typeface="Arial"/>
              <a:ea typeface="Arial"/>
              <a:cs typeface="Arial"/>
            </a:endParaRPr>
          </a:p>
        </p:txBody>
      </p:sp>
      <p:sp>
        <p:nvSpPr>
          <p:cNvPr id="12" name="Rectangle 11">
            <a:extLst xmlns:a="http://schemas.openxmlformats.org/drawingml/2006/main">
              <a:ext uri="{FF2B5EF4-FFF2-40B4-BE49-F238E27FC236}">
                <a16:creationId xmlns:a16="http://schemas.microsoft.com/office/drawing/2014/main" id="{01D099D3-3401-42C4-8310-B8E1FD163760}"/>
              </a:ext>
            </a:extLst>
          </p:cNvPr>
          <p:cNvSpPr>
            <a:spLocks xmlns:a="http://schemas.openxmlformats.org/drawingml/2006/main" noGrp="1"/>
          </p:cNvSpPr>
          <p:nvPr/>
        </p:nvSpPr>
        <p:spPr>
          <a:xfrm xmlns:a="http://schemas.openxmlformats.org/drawingml/2006/main">
            <a:off x="333375" y="5181600"/>
            <a:ext cx="11525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800000"/>
                </a:solidFill>
                <a:latin typeface="Arial"/>
                <a:ea typeface="Arial"/>
                <a:cs typeface="Arial"/>
              </a:defRPr>
            </a:defPPr>
          </a:lstStyle>
          <a:p xmlns:a="http://schemas.openxmlformats.org/drawingml/2006/main">
            <a:pPr>
              <a:buNone/>
              <a:defRPr sz="2025" b="1">
                <a:solidFill>
                  <a:srgbClr val="800000"/>
                </a:solidFill>
                <a:latin typeface="Arial"/>
                <a:ea typeface="Arial"/>
                <a:cs typeface="Arial"/>
              </a:defRPr>
            </a:pPr>
            <a:r>
              <a:rPr sz="2025" b="1">
                <a:solidFill>
                  <a:srgbClr val="800000"/>
                </a:solidFill>
                <a:latin typeface="Arial"/>
                <a:ea typeface="Arial"/>
                <a:cs typeface="Arial"/>
              </a:rPr>
              <a:t>LinUCB without Safety: 171 / 772 accepted tasks violate runtime rules</a:t>
            </a:r>
            <a:endParaRPr sz="2175" b="1">
              <a:solidFill>
                <a:srgbClr val="800000"/>
              </a:solidFill>
              <a:latin typeface="Arial"/>
              <a:ea typeface="Arial"/>
              <a:cs typeface="Arial"/>
            </a:endParaRPr>
          </a:p>
        </p:txBody>
      </p:sp>
      <p:sp>
        <p:nvSpPr>
          <p:cNvPr id="13" name="Rectangle 12">
            <a:extLst xmlns:a="http://schemas.openxmlformats.org/drawingml/2006/main">
              <a:ext uri="{FF2B5EF4-FFF2-40B4-BE49-F238E27FC236}">
                <a16:creationId xmlns:a16="http://schemas.microsoft.com/office/drawing/2014/main" id="{AFD4C821-82DE-40BD-8E8E-292D0FEC1536}"/>
              </a:ext>
            </a:extLst>
          </p:cNvPr>
          <p:cNvSpPr>
            <a:spLocks xmlns:a="http://schemas.openxmlformats.org/drawingml/2006/main" noGrp="1"/>
          </p:cNvSpPr>
          <p:nvPr/>
        </p:nvSpPr>
        <p:spPr>
          <a:xfrm xmlns:a="http://schemas.openxmlformats.org/drawingml/2006/main">
            <a:off x="457200" y="5800725"/>
            <a:ext cx="1123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66666"/>
                </a:solidFill>
                <a:latin typeface="Arial"/>
                <a:ea typeface="Arial"/>
                <a:cs typeface="Arial"/>
              </a:defRPr>
            </a:defPPr>
          </a:lstStyle>
          <a:p xmlns:a="http://schemas.openxmlformats.org/drawingml/2006/main">
            <a:pPr>
              <a:buNone/>
              <a:defRPr sz="1650" b="0">
                <a:solidFill>
                  <a:srgbClr val="666666"/>
                </a:solidFill>
                <a:latin typeface="Arial"/>
                <a:ea typeface="Arial"/>
                <a:cs typeface="Arial"/>
              </a:defRPr>
            </a:pPr>
            <a:r>
              <a:rPr sz="1650" b="0">
                <a:solidFill>
                  <a:srgbClr val="666666"/>
                </a:solidFill>
                <a:latin typeface="Arial"/>
                <a:ea typeface="Arial"/>
                <a:cs typeface="Arial"/>
              </a:rPr>
              <a:t>SAPS vs LinUCB reward p = 0.743. No significant advantage</a:t>
            </a:r>
            <a:endParaRPr sz="1725" b="0">
              <a:solidFill>
                <a:srgbClr val="666666"/>
              </a:solidFill>
              <a:latin typeface="Arial"/>
              <a:ea typeface="Arial"/>
              <a:cs typeface="Arial"/>
            </a:endParaRPr>
          </a:p>
        </p:txBody>
      </p:sp>
      <p:graphicFrame>
        <p:nvGraphicFramePr>
          <p:cNvPr id="14" name="Chart">
            <a:extLst xmlns:a="http://schemas.openxmlformats.org/drawingml/2006/main">
              <a:ext uri="{FF2B5EF4-FFF2-40B4-BE49-F238E27FC236}">
                <a16:creationId xmlns:a16="http://schemas.microsoft.com/office/drawing/2014/main" id="{826903D3-DD73-4424-A1D9-41C368B92114}"/>
              </a:ext>
            </a:extLst>
          </p:cNvPr>
          <p:cNvGraphicFramePr/>
          <p:nvPr/>
        </p:nvGraphicFramePr>
        <p:xfrm>
          <a:off xmlns:a="http://schemas.openxmlformats.org/drawingml/2006/main" x="457200" y="1428750"/>
          <a:ext xmlns:a="http://schemas.openxmlformats.org/drawingml/2006/main" cx="7191375" cy="3571875"/>
        </p:xfrm>
        <a:graphic xmlns:a="http://schemas.openxmlformats.org/drawingml/2006/main">
          <a:graphicData uri="http://schemas.openxmlformats.org/drawingml/2006/chart">
            <c:chart xmlns:r="http://schemas.openxmlformats.org/officeDocument/2006/relationships" xmlns:c="http://schemas.openxmlformats.org/drawingml/2006/chart" r:id="R6e7a2d4fab9d42df"/>
          </a:graphicData>
        </a:graphic>
      </p:graphicFrame>
    </p:spTree>
    <p:extLst>
      <p:ext uri="{BB962C8B-B14F-4D97-AF65-F5344CB8AC3E}">
        <p14:creationId xmlns:p14="http://schemas.microsoft.com/office/powerpoint/2010/main" val="673159097"/>
      </p:ext>
    </p:extLst>
  </p:cSld>
</p:sld>
</file>

<file path=ppt/slides/slide5.xml><?xml version="1.0" encoding="utf-8"?>
<p:sld xmlns:p="http://schemas.openxmlformats.org/presentationml/2006/main">
  <p:cSld>
    <p:bg>
      <p:bgPr>
        <a:blipFill xmlns:a="http://schemas.openxmlformats.org/drawingml/2006/main" rotWithShape="1">
          <a:blip xmlns:r="http://schemas.openxmlformats.org/officeDocument/2006/relationships" r:embed="R692cde345b694138">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A41AE5A-71E3-4E3A-B19A-35164390A9FB}"/>
              </a:ext>
            </a:extLst>
          </p:cNvPr>
          <p:cNvSpPr>
            <a:spLocks xmlns:a="http://schemas.openxmlformats.org/drawingml/2006/main" noGrp="1"/>
          </p:cNvSpPr>
          <p:nvPr>
            <p:ph type="ctrTitle" idx="0"/>
          </p:nvPr>
        </p:nvSpPr>
        <p:spPr>
          <a:xfrm xmlns:a="http://schemas.openxmlformats.org/drawingml/2006/main">
            <a:off x="190500" y="0"/>
            <a:ext cx="11811000" cy="723900"/>
          </a:xfrm>
        </p:spPr>
        <p:txBody>
          <a:bodyPr xmlns:a="http://schemas.openxmlformats.org/drawingml/2006/main" lIns="288000" anchor="ctr">
            <a:noAutofit/>
          </a:bodyPr>
          <a:lstStyle xmlns:a="http://schemas.openxmlformats.org/drawingml/2006/main">
            <a:defPPr algn="l">
              <a:defRPr sz="3000" b="1">
                <a:solidFill>
                  <a:srgbClr val="800000"/>
                </a:solidFill>
                <a:latin typeface="Arial"/>
                <a:ea typeface="Arial"/>
                <a:cs typeface="Arial"/>
              </a:defRPr>
            </a:defPPr>
          </a:lstStyle>
          <a:p xmlns:a="http://schemas.openxmlformats.org/drawingml/2006/main">
            <a:pPr algn="l">
              <a:buNone/>
              <a:defRPr sz="3000" b="1">
                <a:solidFill>
                  <a:srgbClr val="800000"/>
                </a:solidFill>
                <a:latin typeface="Arial"/>
                <a:ea typeface="Arial"/>
                <a:cs typeface="Arial"/>
              </a:defRPr>
            </a:pPr>
            <a:r>
              <a:rPr sz="3000" b="1">
                <a:solidFill>
                  <a:srgbClr val="800000"/>
                </a:solidFill>
                <a:latin typeface="Arial"/>
                <a:ea typeface="Arial"/>
                <a:cs typeface="Arial"/>
              </a:rPr>
              <a:t>A live companion that responds to you</a:t>
            </a:r>
            <a:endParaRPr sz="3200" b="1">
              <a:solidFill>
                <a:srgbClr val="800000"/>
              </a:solidFill>
              <a:latin typeface="Arial"/>
              <a:ea typeface="Arial"/>
              <a:cs typeface="Arial"/>
            </a:endParaRPr>
          </a:p>
        </p:txBody>
      </p:sp>
      <p:sp>
        <p:nvSpPr>
          <p:cNvPr id="5" name="Slide Number Placeholder 4">
            <a:extLst xmlns:a="http://schemas.openxmlformats.org/drawingml/2006/main">
              <a:ext uri="{FF2B5EF4-FFF2-40B4-BE49-F238E27FC236}">
                <a16:creationId xmlns:a16="http://schemas.microsoft.com/office/drawing/2014/main" id="{CFF60F36-0EB1-4710-A32A-40DB3E4F4B0F}"/>
              </a:ext>
            </a:extLst>
          </p:cNvPr>
          <p:cNvSpPr>
            <a:spLocks xmlns:a="http://schemas.openxmlformats.org/drawingml/2006/main" noGrp="1"/>
          </p:cNvSpPr>
          <p:nvPr>
            <p:ph type="sldNum" idx="12"/>
          </p:nvPr>
        </p:nvSpPr>
        <p:spPr>
          <a:xfrm xmlns:a="http://schemas.openxmlformats.org/drawingml/2006/main">
            <a:off x="11561522" y="6356350"/>
            <a:ext cx="518786" cy="362485"/>
          </a:xfrm>
        </p:spPr>
        <p:txBody>
          <a:bodyPr xmlns:a="http://schemas.openxmlformats.org/drawingml/2006/main"/>
          <a:lstStyle xmlns:a="http://schemas.openxmlformats.org/drawingml/2006/main"/>
          <a:p xmlns:a="http://schemas.openxmlformats.org/drawingml/2006/main">
            <a:pPr marL="0" marR="0" lvl="0" indent="0" algn="r" defTabSz="914400">
              <a:lnSpc>
                <a:spcPct val="100000"/>
              </a:lnSpc>
              <a:spcBef>
                <a:spcPts val="0"/>
              </a:spcBef>
              <a:spcAft>
                <a:spcPts val="0"/>
              </a:spcAft>
              <a:buClrTx/>
              <a:buSzTx/>
              <a:buFontTx/>
              <a:buNone/>
            </a:pPr>
            <a:endParaRPr sz="2000" b="0" i="0" u="none" strike="noStrike" kern="1200" cap="none" spc="0" baseline="0">
              <a:ln>
                <a:noFill/>
              </a:ln>
              <a:solidFill>
                <a:prstClr val="black">
                  <a:tint val="75000"/>
                </a:prstClr>
              </a:solidFill>
              <a:latin typeface="Arial Narrow"/>
              <a:ea typeface="Arial Narrow"/>
              <a:cs typeface="Arial Narrow"/>
            </a:endParaRPr>
          </a:p>
        </p:txBody>
      </p:sp>
      <p:sp>
        <p:nvSpPr>
          <p:cNvPr id="6" name="Rectangle 5">
            <a:extLst xmlns:a="http://schemas.openxmlformats.org/drawingml/2006/main">
              <a:ext uri="{FF2B5EF4-FFF2-40B4-BE49-F238E27FC236}">
                <a16:creationId xmlns:a16="http://schemas.microsoft.com/office/drawing/2014/main" id="{52622551-5633-4F98-9312-81EB95EDF319}"/>
              </a:ext>
            </a:extLst>
          </p:cNvPr>
          <p:cNvSpPr>
            <a:spLocks xmlns:a="http://schemas.openxmlformats.org/drawingml/2006/main" noGrp="1"/>
          </p:cNvSpPr>
          <p:nvPr/>
        </p:nvSpPr>
        <p:spPr>
          <a:xfrm xmlns:a="http://schemas.openxmlformats.org/drawingml/2006/main">
            <a:off x="2000250" y="6315075"/>
            <a:ext cx="923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00" b="1">
                <a:solidFill>
                  <a:srgbClr val="151515"/>
                </a:solidFill>
                <a:latin typeface="Arial"/>
                <a:ea typeface="Arial"/>
                <a:cs typeface="Arial"/>
              </a:defRPr>
            </a:defPPr>
          </a:lstStyle>
          <a:p xmlns:a="http://schemas.openxmlformats.org/drawingml/2006/main">
            <a:pPr>
              <a:buNone/>
              <a:defRPr sz="1500" b="1">
                <a:solidFill>
                  <a:srgbClr val="151515"/>
                </a:solidFill>
                <a:latin typeface="Arial"/>
                <a:ea typeface="Arial"/>
                <a:cs typeface="Arial"/>
              </a:defRPr>
            </a:pPr>
            <a:r>
              <a:rPr sz="1500" b="1">
                <a:solidFill>
                  <a:srgbClr val="151515"/>
                </a:solidFill>
                <a:latin typeface="Arial"/>
                <a:ea typeface="Arial"/>
                <a:cs typeface="Arial"/>
              </a:rPr>
              <a:t>NarraCare    CA6124 Group Project</a:t>
            </a:r>
            <a:endParaRPr sz="1875" b="1">
              <a:solidFill>
                <a:srgbClr val="151515"/>
              </a:solidFill>
              <a:latin typeface="Arial"/>
              <a:ea typeface="Arial"/>
              <a:cs typeface="Arial"/>
            </a:endParaRPr>
          </a:p>
        </p:txBody>
      </p:sp>
      <p:sp>
        <p:nvSpPr>
          <p:cNvPr id="7" name="Rectangle 6">
            <a:extLst xmlns:a="http://schemas.openxmlformats.org/drawingml/2006/main">
              <a:ext uri="{FF2B5EF4-FFF2-40B4-BE49-F238E27FC236}">
                <a16:creationId xmlns:a16="http://schemas.microsoft.com/office/drawing/2014/main" id="{C994B5FE-65B7-4008-9502-A8C242483019}"/>
              </a:ext>
            </a:extLst>
          </p:cNvPr>
          <p:cNvSpPr>
            <a:spLocks xmlns:a="http://schemas.openxmlformats.org/drawingml/2006/main" noGrp="1"/>
          </p:cNvSpPr>
          <p:nvPr/>
        </p:nvSpPr>
        <p:spPr>
          <a:xfrm xmlns:a="http://schemas.openxmlformats.org/drawingml/2006/main">
            <a:off x="457200" y="866775"/>
            <a:ext cx="1114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0000CC"/>
                </a:solidFill>
                <a:latin typeface="Arial"/>
                <a:ea typeface="Arial"/>
                <a:cs typeface="Arial"/>
              </a:defRPr>
            </a:defPPr>
          </a:lstStyle>
          <a:p xmlns:a="http://schemas.openxmlformats.org/drawingml/2006/main">
            <a:pPr>
              <a:buNone/>
              <a:defRPr sz="2100" b="1">
                <a:solidFill>
                  <a:srgbClr val="0000CC"/>
                </a:solidFill>
                <a:latin typeface="Arial"/>
                <a:ea typeface="Arial"/>
                <a:cs typeface="Arial"/>
              </a:defRPr>
            </a:pPr>
            <a:r>
              <a:rPr sz="2100" b="1">
                <a:solidFill>
                  <a:srgbClr val="0000CC"/>
                </a:solidFill>
                <a:latin typeface="Arial"/>
                <a:ea typeface="Arial"/>
                <a:cs typeface="Arial"/>
              </a:rPr>
              <a:t>Real input changes the task, feedback changes learning</a:t>
            </a:r>
            <a:endParaRPr sz="2175" b="1">
              <a:solidFill>
                <a:srgbClr val="0000CC"/>
              </a:solidFill>
              <a:latin typeface="Arial"/>
              <a:ea typeface="Arial"/>
              <a:cs typeface="Arial"/>
            </a:endParaRPr>
          </a:p>
        </p:txBody>
      </p:sp>
      <p:sp>
        <p:nvSpPr>
          <p:cNvPr id="8" name="Rectangle 7">
            <a:extLst xmlns:a="http://schemas.openxmlformats.org/drawingml/2006/main">
              <a:ext uri="{FF2B5EF4-FFF2-40B4-BE49-F238E27FC236}">
                <a16:creationId xmlns:a16="http://schemas.microsoft.com/office/drawing/2014/main" id="{4416DCC2-7446-4D97-8A50-1F09EFAD284D}"/>
              </a:ext>
            </a:extLst>
          </p:cNvPr>
          <p:cNvSpPr>
            <a:spLocks xmlns:a="http://schemas.openxmlformats.org/drawingml/2006/main" noGrp="1"/>
          </p:cNvSpPr>
          <p:nvPr/>
        </p:nvSpPr>
        <p:spPr>
          <a:xfrm xmlns:a="http://schemas.openxmlformats.org/drawingml/2006/main">
            <a:off x="457200" y="13811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51515"/>
                </a:solidFill>
                <a:latin typeface="Arial"/>
                <a:ea typeface="Arial"/>
                <a:cs typeface="Arial"/>
              </a:defRPr>
            </a:defPPr>
          </a:lstStyle>
          <a:p xmlns:a="http://schemas.openxmlformats.org/drawingml/2006/main">
            <a:pPr>
              <a:buNone/>
              <a:defRPr sz="2025" b="0">
                <a:solidFill>
                  <a:srgbClr val="151515"/>
                </a:solidFill>
                <a:latin typeface="Arial"/>
                <a:ea typeface="Arial"/>
                <a:cs typeface="Arial"/>
              </a:defRPr>
            </a:pPr>
            <a:r>
              <a:rPr sz="2025" b="0">
                <a:solidFill>
                  <a:srgbClr val="151515"/>
                </a:solidFill>
                <a:latin typeface="Arial"/>
                <a:ea typeface="Arial"/>
                <a:cs typeface="Arial"/>
              </a:rPr>
              <a:t>Verified live Gradio session</a:t>
            </a:r>
            <a:endParaRPr sz="2100" b="0">
              <a:solidFill>
                <a:srgbClr val="151515"/>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EBAA5BA0-3A12-4C40-81CF-D1C065AB6483}"/>
              </a:ext>
            </a:extLst>
          </p:cNvPr>
          <p:cNvSpPr>
            <a:spLocks xmlns:a="http://schemas.openxmlformats.org/drawingml/2006/main" noGrp="1"/>
          </p:cNvSpPr>
          <p:nvPr/>
        </p:nvSpPr>
        <p:spPr>
          <a:xfrm xmlns:a="http://schemas.openxmlformats.org/drawingml/2006/main">
            <a:off x="7858125" y="1381125"/>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51515"/>
                </a:solidFill>
                <a:latin typeface="Arial"/>
                <a:ea typeface="Arial"/>
                <a:cs typeface="Arial"/>
              </a:defRPr>
            </a:defPPr>
          </a:lstStyle>
          <a:p xmlns:a="http://schemas.openxmlformats.org/drawingml/2006/main">
            <a:pPr>
              <a:buNone/>
              <a:defRPr sz="2025" b="0">
                <a:solidFill>
                  <a:srgbClr val="151515"/>
                </a:solidFill>
                <a:latin typeface="Arial"/>
                <a:ea typeface="Arial"/>
                <a:cs typeface="Arial"/>
              </a:defRPr>
            </a:pPr>
            <a:r>
              <a:rPr sz="2025" b="0">
                <a:solidFill>
                  <a:srgbClr val="151515"/>
                </a:solidFill>
                <a:latin typeface="Arial"/>
                <a:ea typeface="Arial"/>
                <a:cs typeface="Arial"/>
              </a:rPr>
              <a:t>Preference revision</a:t>
            </a:r>
            <a:endParaRPr sz="2100" b="0">
              <a:solidFill>
                <a:srgbClr val="151515"/>
              </a:solidFill>
              <a:latin typeface="Arial"/>
              <a:ea typeface="Arial"/>
              <a:cs typeface="Arial"/>
            </a:endParaRPr>
          </a:p>
        </p:txBody>
      </p:sp>
      <p:sp>
        <p:nvSpPr>
          <p:cNvPr id="11" name="Rectangle 10">
            <a:extLst xmlns:a="http://schemas.openxmlformats.org/drawingml/2006/main">
              <a:ext uri="{FF2B5EF4-FFF2-40B4-BE49-F238E27FC236}">
                <a16:creationId xmlns:a16="http://schemas.microsoft.com/office/drawing/2014/main" id="{67175688-B2E8-40DA-92D1-17E0CFCCB461}"/>
              </a:ext>
            </a:extLst>
          </p:cNvPr>
          <p:cNvSpPr>
            <a:spLocks xmlns:a="http://schemas.openxmlformats.org/drawingml/2006/main" noGrp="1"/>
          </p:cNvSpPr>
          <p:nvPr/>
        </p:nvSpPr>
        <p:spPr>
          <a:xfrm xmlns:a="http://schemas.openxmlformats.org/drawingml/2006/main">
            <a:off x="333375" y="5362575"/>
            <a:ext cx="11525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800000"/>
                </a:solidFill>
                <a:latin typeface="Arial"/>
                <a:ea typeface="Arial"/>
                <a:cs typeface="Arial"/>
              </a:defRPr>
            </a:defPPr>
          </a:lstStyle>
          <a:p xmlns:a="http://schemas.openxmlformats.org/drawingml/2006/main">
            <a:pPr>
              <a:buNone/>
              <a:defRPr sz="1875" b="1">
                <a:solidFill>
                  <a:srgbClr val="800000"/>
                </a:solidFill>
                <a:latin typeface="Arial"/>
                <a:ea typeface="Arial"/>
                <a:cs typeface="Arial"/>
              </a:defRPr>
            </a:pPr>
            <a:r>
              <a:rPr sz="1875" b="1">
                <a:solidFill>
                  <a:srgbClr val="800000"/>
                </a:solidFill>
                <a:latin typeface="Arial"/>
                <a:ea typeface="Arial"/>
                <a:cs typeface="Arial"/>
              </a:rPr>
              <a:t>8/8 real-provider smoke cases. 67 tests. Frozen benchmark unchanged</a:t>
            </a:r>
            <a:endParaRPr sz="2175" b="1">
              <a:solidFill>
                <a:srgbClr val="800000"/>
              </a:solidFill>
              <a:latin typeface="Arial"/>
              <a:ea typeface="Arial"/>
              <a:cs typeface="Arial"/>
            </a:endParaRPr>
          </a:p>
        </p:txBody>
      </p:sp>
      <p:pic>
        <p:nvPicPr>
          <p:cNvPr id="12" name="">
            <a:extLst xmlns:a="http://schemas.openxmlformats.org/drawingml/2006/main">
              <a:ext uri="{FF2B5EF4-FFF2-40B4-BE49-F238E27FC236}">
                <a16:creationId xmlns:a16="http://schemas.microsoft.com/office/drawing/2014/main" id="{3168D826-12DD-4289-86D6-DA4839AD22B4}"/>
              </a:ext>
            </a:extLst>
          </p:cNvPr>
          <p:cNvPicPr>
            <a:picLocks xmlns:a="http://schemas.openxmlformats.org/drawingml/2006/main" noChangeAspect="1"/>
          </p:cNvPicPr>
          <p:nvPr/>
        </p:nvPicPr>
        <p:blipFill>
          <a:blip xmlns:r="http://schemas.openxmlformats.org/officeDocument/2006/relationships" xmlns:a="http://schemas.openxmlformats.org/drawingml/2006/main" r:embed="R2da8223019104694"/>
          <a:stretch xmlns:a="http://schemas.openxmlformats.org/drawingml/2006/main"/>
        </p:blipFill>
        <p:spPr>
          <a:xfrm xmlns:a="http://schemas.openxmlformats.org/drawingml/2006/main">
            <a:off x="823792" y="1838325"/>
            <a:ext cx="6124816" cy="3371850"/>
          </a:xfrm>
          <a:prstGeom xmlns:a="http://schemas.openxmlformats.org/drawingml/2006/main" prst="rect">
            <a:avLst/>
          </a:prstGeom>
        </p:spPr>
      </p:pic>
      <p:sp>
        <p:nvSpPr>
          <p:cNvPr id="13" name="day1-trace">
            <a:extLst xmlns:a="http://schemas.openxmlformats.org/drawingml/2006/main">
              <a:ext uri="{FF2B5EF4-FFF2-40B4-BE49-F238E27FC236}">
                <a16:creationId xmlns:a16="http://schemas.microsoft.com/office/drawing/2014/main" id="{CFDA9977-8DFC-4FFA-8F11-B05AA8744CF0}"/>
              </a:ext>
            </a:extLst>
          </p:cNvPr>
          <p:cNvSpPr>
            <a:spLocks xmlns:a="http://schemas.openxmlformats.org/drawingml/2006/main" noGrp="1"/>
          </p:cNvSpPr>
          <p:nvPr/>
        </p:nvSpPr>
        <p:spPr>
          <a:xfrm xmlns:a="http://schemas.openxmlformats.org/drawingml/2006/main">
            <a:off x="7858125" y="1905000"/>
            <a:ext cx="37147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flexibility: T017</a:t>
            </a:r>
          </a:p>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10 retrieved candidates</a:t>
            </a:r>
          </a:p>
          <a:p xmlns:a="http://schemas.openxmlformats.org/drawingml/2006/main">
            <a:r>
              <a:t/>
            </a:r>
          </a:p>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balance: T029</a:t>
            </a:r>
          </a:p>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4 retrieved candidates</a:t>
            </a:r>
          </a:p>
          <a:p xmlns:a="http://schemas.openxmlformats.org/drawingml/2006/main">
            <a:r>
              <a:t/>
            </a:r>
          </a:p>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Safety retained 77 / 100</a:t>
            </a:r>
          </a:p>
        </p:txBody>
      </p:sp>
    </p:spTree>
    <p:extLst>
      <p:ext uri="{BB962C8B-B14F-4D97-AF65-F5344CB8AC3E}">
        <p14:creationId xmlns:p14="http://schemas.microsoft.com/office/powerpoint/2010/main" val="1693522217"/>
      </p:ext>
    </p:extLst>
  </p:cSld>
</p:sld>
</file>

<file path=ppt/slides/slide6.xml><?xml version="1.0" encoding="utf-8"?>
<p:sld xmlns:p="http://schemas.openxmlformats.org/presentationml/2006/main">
  <p:cSld>
    <p:bg>
      <p:bgPr>
        <a:blipFill xmlns:a="http://schemas.openxmlformats.org/drawingml/2006/main" rotWithShape="1">
          <a:blip xmlns:r="http://schemas.openxmlformats.org/officeDocument/2006/relationships" r:embed="Re1d3ba3d8d1c4754">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5561170-33CC-429B-93F2-5282ECCB5963}"/>
              </a:ext>
            </a:extLst>
          </p:cNvPr>
          <p:cNvSpPr>
            <a:spLocks xmlns:a="http://schemas.openxmlformats.org/drawingml/2006/main" noGrp="1"/>
          </p:cNvSpPr>
          <p:nvPr>
            <p:ph type="ctrTitle" idx="0"/>
          </p:nvPr>
        </p:nvSpPr>
        <p:spPr>
          <a:xfrm xmlns:a="http://schemas.openxmlformats.org/drawingml/2006/main">
            <a:off x="190500" y="0"/>
            <a:ext cx="11811000" cy="723900"/>
          </a:xfrm>
        </p:spPr>
        <p:txBody>
          <a:bodyPr xmlns:a="http://schemas.openxmlformats.org/drawingml/2006/main" lIns="288000" anchor="ctr">
            <a:noAutofit/>
          </a:bodyPr>
          <a:lstStyle xmlns:a="http://schemas.openxmlformats.org/drawingml/2006/main">
            <a:defPPr algn="l">
              <a:defRPr sz="3200" b="1">
                <a:solidFill>
                  <a:srgbClr val="800000"/>
                </a:solidFill>
                <a:latin typeface="Arial"/>
                <a:ea typeface="Arial"/>
                <a:cs typeface="Arial"/>
              </a:defRPr>
            </a:defPPr>
          </a:lstStyle>
          <a:p xmlns:a="http://schemas.openxmlformats.org/drawingml/2006/main">
            <a:pPr algn="l">
              <a:buNone/>
              <a:defRPr sz="3200" b="1">
                <a:solidFill>
                  <a:srgbClr val="800000"/>
                </a:solidFill>
                <a:latin typeface="Arial"/>
                <a:ea typeface="Arial"/>
                <a:cs typeface="Arial"/>
              </a:defRPr>
            </a:pPr>
            <a:r>
              <a:rPr sz="3200" b="1">
                <a:solidFill>
                  <a:srgbClr val="800000"/>
                </a:solidFill>
                <a:latin typeface="Arial"/>
                <a:ea typeface="Arial"/>
                <a:cs typeface="Arial"/>
              </a:rPr>
              <a:t>Conclusion</a:t>
            </a:r>
            <a:endParaRPr sz="3200" b="1">
              <a:solidFill>
                <a:srgbClr val="800000"/>
              </a:solidFill>
              <a:latin typeface="Arial"/>
              <a:ea typeface="Arial"/>
              <a:cs typeface="Arial"/>
            </a:endParaRPr>
          </a:p>
        </p:txBody>
      </p:sp>
      <p:sp>
        <p:nvSpPr>
          <p:cNvPr id="5" name="Slide Number Placeholder 4">
            <a:extLst xmlns:a="http://schemas.openxmlformats.org/drawingml/2006/main">
              <a:ext uri="{FF2B5EF4-FFF2-40B4-BE49-F238E27FC236}">
                <a16:creationId xmlns:a16="http://schemas.microsoft.com/office/drawing/2014/main" id="{B307C642-BD96-4C01-8918-0371CE5C675F}"/>
              </a:ext>
            </a:extLst>
          </p:cNvPr>
          <p:cNvSpPr>
            <a:spLocks xmlns:a="http://schemas.openxmlformats.org/drawingml/2006/main" noGrp="1"/>
          </p:cNvSpPr>
          <p:nvPr>
            <p:ph type="sldNum" idx="12"/>
          </p:nvPr>
        </p:nvSpPr>
        <p:spPr>
          <a:xfrm xmlns:a="http://schemas.openxmlformats.org/drawingml/2006/main">
            <a:off x="11561522" y="6356350"/>
            <a:ext cx="518786" cy="362485"/>
          </a:xfrm>
        </p:spPr>
        <p:txBody>
          <a:bodyPr xmlns:a="http://schemas.openxmlformats.org/drawingml/2006/main"/>
          <a:lstStyle xmlns:a="http://schemas.openxmlformats.org/drawingml/2006/main"/>
          <a:p xmlns:a="http://schemas.openxmlformats.org/drawingml/2006/main">
            <a:pPr marL="0" marR="0" lvl="0" indent="0" algn="r" defTabSz="914400">
              <a:lnSpc>
                <a:spcPct val="100000"/>
              </a:lnSpc>
              <a:spcBef>
                <a:spcPts val="0"/>
              </a:spcBef>
              <a:spcAft>
                <a:spcPts val="0"/>
              </a:spcAft>
              <a:buClrTx/>
              <a:buSzTx/>
              <a:buFontTx/>
              <a:buNone/>
            </a:pPr>
            <a:endParaRPr sz="2000" b="0" i="0" u="none" strike="noStrike" kern="1200" cap="none" spc="0" baseline="0">
              <a:ln>
                <a:noFill/>
              </a:ln>
              <a:solidFill>
                <a:prstClr val="black">
                  <a:tint val="75000"/>
                </a:prstClr>
              </a:solidFill>
              <a:latin typeface="Arial Narrow"/>
              <a:ea typeface="Arial Narrow"/>
              <a:cs typeface="Arial Narrow"/>
            </a:endParaRPr>
          </a:p>
        </p:txBody>
      </p:sp>
      <p:sp>
        <p:nvSpPr>
          <p:cNvPr id="6" name="Rectangle 5">
            <a:extLst xmlns:a="http://schemas.openxmlformats.org/drawingml/2006/main">
              <a:ext uri="{FF2B5EF4-FFF2-40B4-BE49-F238E27FC236}">
                <a16:creationId xmlns:a16="http://schemas.microsoft.com/office/drawing/2014/main" id="{28A6C43E-B7B9-421B-B121-8678D5EAFCD4}"/>
              </a:ext>
            </a:extLst>
          </p:cNvPr>
          <p:cNvSpPr>
            <a:spLocks xmlns:a="http://schemas.openxmlformats.org/drawingml/2006/main" noGrp="1"/>
          </p:cNvSpPr>
          <p:nvPr/>
        </p:nvSpPr>
        <p:spPr>
          <a:xfrm xmlns:a="http://schemas.openxmlformats.org/drawingml/2006/main">
            <a:off x="2000250" y="6315075"/>
            <a:ext cx="923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00" b="1">
                <a:solidFill>
                  <a:srgbClr val="151515"/>
                </a:solidFill>
                <a:latin typeface="Arial"/>
                <a:ea typeface="Arial"/>
                <a:cs typeface="Arial"/>
              </a:defRPr>
            </a:defPPr>
          </a:lstStyle>
          <a:p xmlns:a="http://schemas.openxmlformats.org/drawingml/2006/main">
            <a:pPr>
              <a:buNone/>
              <a:defRPr sz="1500" b="1">
                <a:solidFill>
                  <a:srgbClr val="151515"/>
                </a:solidFill>
                <a:latin typeface="Arial"/>
                <a:ea typeface="Arial"/>
                <a:cs typeface="Arial"/>
              </a:defRPr>
            </a:pPr>
            <a:r>
              <a:rPr sz="1500" b="1">
                <a:solidFill>
                  <a:srgbClr val="151515"/>
                </a:solidFill>
                <a:latin typeface="Arial"/>
                <a:ea typeface="Arial"/>
                <a:cs typeface="Arial"/>
              </a:rPr>
              <a:t>NarraCare    CA6124 Group Project</a:t>
            </a:r>
            <a:endParaRPr sz="1875" b="1">
              <a:solidFill>
                <a:srgbClr val="151515"/>
              </a:solidFill>
              <a:latin typeface="Arial"/>
              <a:ea typeface="Arial"/>
              <a:cs typeface="Arial"/>
            </a:endParaRPr>
          </a:p>
        </p:txBody>
      </p:sp>
      <p:sp>
        <p:nvSpPr>
          <p:cNvPr id="7" name="Rectangle 6">
            <a:extLst xmlns:a="http://schemas.openxmlformats.org/drawingml/2006/main">
              <a:ext uri="{FF2B5EF4-FFF2-40B4-BE49-F238E27FC236}">
                <a16:creationId xmlns:a16="http://schemas.microsoft.com/office/drawing/2014/main" id="{32A22298-6203-4A62-93C5-0E9DE36DE001}"/>
              </a:ext>
            </a:extLst>
          </p:cNvPr>
          <p:cNvSpPr>
            <a:spLocks xmlns:a="http://schemas.openxmlformats.org/drawingml/2006/main" noGrp="1"/>
          </p:cNvSpPr>
          <p:nvPr/>
        </p:nvSpPr>
        <p:spPr>
          <a:xfrm xmlns:a="http://schemas.openxmlformats.org/drawingml/2006/main">
            <a:off x="457200" y="952500"/>
            <a:ext cx="1114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625" b="1">
                <a:solidFill>
                  <a:srgbClr val="0000CC"/>
                </a:solidFill>
                <a:latin typeface="Arial"/>
                <a:ea typeface="Arial"/>
                <a:cs typeface="Arial"/>
              </a:defRPr>
            </a:defPPr>
          </a:lstStyle>
          <a:p xmlns:a="http://schemas.openxmlformats.org/drawingml/2006/main">
            <a:pPr>
              <a:buNone/>
              <a:defRPr sz="2625" b="1">
                <a:solidFill>
                  <a:srgbClr val="0000CC"/>
                </a:solidFill>
                <a:latin typeface="Arial"/>
                <a:ea typeface="Arial"/>
                <a:cs typeface="Arial"/>
              </a:defRPr>
            </a:pPr>
            <a:r>
              <a:rPr sz="2625" b="1">
                <a:solidFill>
                  <a:srgbClr val="0000CC"/>
                </a:solidFill>
                <a:latin typeface="Arial"/>
                <a:ea typeface="Arial"/>
                <a:cs typeface="Arial"/>
              </a:rPr>
              <a:t>Contribution and next evaluation</a:t>
            </a:r>
            <a:endParaRPr sz="2625" b="1">
              <a:solidFill>
                <a:srgbClr val="0000CC"/>
              </a:solidFill>
              <a:latin typeface="Arial"/>
              <a:ea typeface="Arial"/>
              <a:cs typeface="Arial"/>
            </a:endParaRPr>
          </a:p>
        </p:txBody>
      </p:sp>
      <p:sp>
        <p:nvSpPr>
          <p:cNvPr id="8" name="Rectangle 7">
            <a:extLst xmlns:a="http://schemas.openxmlformats.org/drawingml/2006/main">
              <a:ext uri="{FF2B5EF4-FFF2-40B4-BE49-F238E27FC236}">
                <a16:creationId xmlns:a16="http://schemas.microsoft.com/office/drawing/2014/main" id="{743BDF21-A14C-493D-976F-04B8EB325BFB}"/>
              </a:ext>
            </a:extLst>
          </p:cNvPr>
          <p:cNvSpPr>
            <a:spLocks xmlns:a="http://schemas.openxmlformats.org/drawingml/2006/main" noGrp="1"/>
          </p:cNvSpPr>
          <p:nvPr/>
        </p:nvSpPr>
        <p:spPr>
          <a:xfrm xmlns:a="http://schemas.openxmlformats.org/drawingml/2006/main">
            <a:off x="457200" y="1695450"/>
            <a:ext cx="11191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buNone/>
              <a:defRPr sz="2325" b="0">
                <a:solidFill>
                  <a:srgbClr val="151515"/>
                </a:solidFill>
                <a:latin typeface="Arial"/>
                <a:ea typeface="Arial"/>
                <a:cs typeface="Arial"/>
              </a:defRPr>
            </a:pPr>
            <a:r>
              <a:rPr sz="2325" b="0">
                <a:solidFill>
                  <a:srgbClr val="151515"/>
                </a:solidFill>
                <a:latin typeface="Arial"/>
                <a:ea typeface="Arial"/>
                <a:cs typeface="Arial"/>
              </a:rPr>
              <a:t>Inspectable architecture for safety-aware recommendations</a:t>
            </a:r>
            <a:endParaRPr sz="2325" b="0">
              <a:solidFill>
                <a:srgbClr val="151515"/>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7C106C0B-7A1F-45E6-88DF-24ACA22F8275}"/>
              </a:ext>
            </a:extLst>
          </p:cNvPr>
          <p:cNvSpPr>
            <a:spLocks xmlns:a="http://schemas.openxmlformats.org/drawingml/2006/main" noGrp="1"/>
          </p:cNvSpPr>
          <p:nvPr/>
        </p:nvSpPr>
        <p:spPr>
          <a:xfrm xmlns:a="http://schemas.openxmlformats.org/drawingml/2006/main">
            <a:off x="457200" y="2581275"/>
            <a:ext cx="11191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buNone/>
              <a:defRPr sz="2325" b="0">
                <a:solidFill>
                  <a:srgbClr val="151515"/>
                </a:solidFill>
                <a:latin typeface="Arial"/>
                <a:ea typeface="Arial"/>
                <a:cs typeface="Arial"/>
              </a:defRPr>
            </a:pPr>
            <a:r>
              <a:rPr sz="2325" b="0">
                <a:solidFill>
                  <a:srgbClr val="151515"/>
                </a:solidFill>
                <a:latin typeface="Arial"/>
                <a:ea typeface="Arial"/>
                <a:cs typeface="Arial"/>
              </a:rPr>
              <a:t>Proposal and execution safety measured separately</a:t>
            </a:r>
            <a:endParaRPr sz="2325" b="0">
              <a:solidFill>
                <a:srgbClr val="151515"/>
              </a:solidFill>
              <a:latin typeface="Arial"/>
              <a:ea typeface="Arial"/>
              <a:cs typeface="Arial"/>
            </a:endParaRPr>
          </a:p>
        </p:txBody>
      </p:sp>
      <p:sp>
        <p:nvSpPr>
          <p:cNvPr id="10" name="Rectangle 9">
            <a:extLst xmlns:a="http://schemas.openxmlformats.org/drawingml/2006/main">
              <a:ext uri="{FF2B5EF4-FFF2-40B4-BE49-F238E27FC236}">
                <a16:creationId xmlns:a16="http://schemas.microsoft.com/office/drawing/2014/main" id="{F26C34F8-AA3B-4D71-9561-9D6C088A00B4}"/>
              </a:ext>
            </a:extLst>
          </p:cNvPr>
          <p:cNvSpPr>
            <a:spLocks xmlns:a="http://schemas.openxmlformats.org/drawingml/2006/main" noGrp="1"/>
          </p:cNvSpPr>
          <p:nvPr/>
        </p:nvSpPr>
        <p:spPr>
          <a:xfrm xmlns:a="http://schemas.openxmlformats.org/drawingml/2006/main">
            <a:off x="457200" y="3467100"/>
            <a:ext cx="11191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buNone/>
              <a:defRPr sz="2325" b="0">
                <a:solidFill>
                  <a:srgbClr val="151515"/>
                </a:solidFill>
                <a:latin typeface="Arial"/>
                <a:ea typeface="Arial"/>
                <a:cs typeface="Arial"/>
              </a:defRPr>
            </a:pPr>
            <a:r>
              <a:rPr sz="2325" b="0">
                <a:solidFill>
                  <a:srgbClr val="151515"/>
                </a:solidFill>
                <a:latin typeface="Arial"/>
                <a:ea typeface="Arial"/>
                <a:cs typeface="Arial"/>
              </a:rPr>
              <a:t>Live conversational companion with reported feedback</a:t>
            </a:r>
            <a:endParaRPr sz="2325" b="0">
              <a:solidFill>
                <a:srgbClr val="151515"/>
              </a:solidFill>
              <a:latin typeface="Arial"/>
              <a:ea typeface="Arial"/>
              <a:cs typeface="Arial"/>
            </a:endParaRPr>
          </a:p>
        </p:txBody>
      </p:sp>
      <p:sp>
        <p:nvSpPr>
          <p:cNvPr id="11" name="Rectangle 10">
            <a:extLst xmlns:a="http://schemas.openxmlformats.org/drawingml/2006/main">
              <a:ext uri="{FF2B5EF4-FFF2-40B4-BE49-F238E27FC236}">
                <a16:creationId xmlns:a16="http://schemas.microsoft.com/office/drawing/2014/main" id="{085BCC5D-8168-4909-9B44-D0C69115768A}"/>
              </a:ext>
            </a:extLst>
          </p:cNvPr>
          <p:cNvSpPr>
            <a:spLocks xmlns:a="http://schemas.openxmlformats.org/drawingml/2006/main" noGrp="1"/>
          </p:cNvSpPr>
          <p:nvPr/>
        </p:nvSpPr>
        <p:spPr>
          <a:xfrm xmlns:a="http://schemas.openxmlformats.org/drawingml/2006/main">
            <a:off x="333375" y="4524375"/>
            <a:ext cx="11525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800000"/>
                </a:solidFill>
                <a:latin typeface="Arial"/>
                <a:ea typeface="Arial"/>
                <a:cs typeface="Arial"/>
              </a:defRPr>
            </a:defPPr>
          </a:lstStyle>
          <a:p xmlns:a="http://schemas.openxmlformats.org/drawingml/2006/main">
            <a:pPr>
              <a:buNone/>
              <a:defRPr sz="2175" b="1">
                <a:solidFill>
                  <a:srgbClr val="800000"/>
                </a:solidFill>
                <a:latin typeface="Arial"/>
                <a:ea typeface="Arial"/>
                <a:cs typeface="Arial"/>
              </a:defRPr>
            </a:pPr>
            <a:r>
              <a:rPr sz="2175" b="1">
                <a:solidFill>
                  <a:srgbClr val="800000"/>
                </a:solidFill>
                <a:latin typeface="Arial"/>
                <a:ea typeface="Arial"/>
                <a:cs typeface="Arial"/>
              </a:rPr>
              <a:t>Synthetic prototype. Clinical and engagement benefits need validation</a:t>
            </a:r>
            <a:endParaRPr sz="2175" b="1">
              <a:solidFill>
                <a:srgbClr val="800000"/>
              </a:solidFill>
              <a:latin typeface="Arial"/>
              <a:ea typeface="Arial"/>
              <a:cs typeface="Arial"/>
            </a:endParaRPr>
          </a:p>
        </p:txBody>
      </p:sp>
      <p:sp>
        <p:nvSpPr>
          <p:cNvPr id="12" name="Rectangle 11">
            <a:extLst xmlns:a="http://schemas.openxmlformats.org/drawingml/2006/main">
              <a:ext uri="{FF2B5EF4-FFF2-40B4-BE49-F238E27FC236}">
                <a16:creationId xmlns:a16="http://schemas.microsoft.com/office/drawing/2014/main" id="{7845E0E3-86E9-491D-8D65-C69B9AD6D1C2}"/>
              </a:ext>
            </a:extLst>
          </p:cNvPr>
          <p:cNvSpPr>
            <a:spLocks xmlns:a="http://schemas.openxmlformats.org/drawingml/2006/main" noGrp="1"/>
          </p:cNvSpPr>
          <p:nvPr/>
        </p:nvSpPr>
        <p:spPr>
          <a:xfrm xmlns:a="http://schemas.openxmlformats.org/drawingml/2006/main">
            <a:off x="457200" y="550545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0">
                <a:solidFill>
                  <a:srgbClr val="151515"/>
                </a:solidFill>
                <a:latin typeface="Arial"/>
                <a:ea typeface="Arial"/>
                <a:cs typeface="Arial"/>
              </a:defRPr>
            </a:defPPr>
          </a:lstStyle>
          <a:p xmlns:a="http://schemas.openxmlformats.org/drawingml/2006/main">
            <a:pPr>
              <a:buNone/>
              <a:defRPr sz="1950" b="0">
                <a:solidFill>
                  <a:srgbClr val="151515"/>
                </a:solidFill>
                <a:latin typeface="Arial"/>
                <a:ea typeface="Arial"/>
                <a:cs typeface="Arial"/>
              </a:defRPr>
            </a:pPr>
            <a:r>
              <a:rPr sz="1950" b="0">
                <a:solidFill>
                  <a:srgbClr val="151515"/>
                </a:solidFill>
                <a:latin typeface="Arial"/>
                <a:ea typeface="Arial"/>
                <a:cs typeface="Arial"/>
              </a:rPr>
              <a:t>Next: stronger baselines, dialogue evaluation and clinician-reviewed studies</a:t>
            </a:r>
            <a:endParaRPr sz="2025" b="0">
              <a:solidFill>
                <a:srgbClr val="151515"/>
              </a:solidFill>
              <a:latin typeface="Arial"/>
              <a:ea typeface="Arial"/>
              <a:cs typeface="Arial"/>
            </a:endParaRPr>
          </a:p>
        </p:txBody>
      </p:sp>
    </p:spTree>
    <p:extLst>
      <p:ext uri="{BB962C8B-B14F-4D97-AF65-F5344CB8AC3E}">
        <p14:creationId xmlns:p14="http://schemas.microsoft.com/office/powerpoint/2010/main" val="902714676"/>
      </p:ext>
    </p:extLst>
  </p:cSld>
</p:sld>
</file>

<file path=ppt/slides/slide7.xml><?xml version="1.0" encoding="utf-8"?>
<p:sld xmlns:p="http://schemas.openxmlformats.org/presentationml/2006/main">
  <p:cSld>
    <p:bg>
      <p:bgPr>
        <a:blipFill xmlns:a="http://schemas.openxmlformats.org/drawingml/2006/main" rotWithShape="1">
          <a:blip xmlns:r="http://schemas.openxmlformats.org/officeDocument/2006/relationships" r:embed="Rcfb2f8cee8d14d4b">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028E8C1-F103-4C3D-ACD2-7548AAF8CD5F}"/>
              </a:ext>
            </a:extLst>
          </p:cNvPr>
          <p:cNvSpPr>
            <a:spLocks xmlns:a="http://schemas.openxmlformats.org/drawingml/2006/main" noGrp="1"/>
          </p:cNvSpPr>
          <p:nvPr>
            <p:ph type="ctrTitle" idx="0"/>
          </p:nvPr>
        </p:nvSpPr>
        <p:spPr>
          <a:xfrm xmlns:a="http://schemas.openxmlformats.org/drawingml/2006/main">
            <a:off x="190500" y="0"/>
            <a:ext cx="11811000" cy="723900"/>
          </a:xfrm>
        </p:spPr>
        <p:txBody>
          <a:bodyPr xmlns:a="http://schemas.openxmlformats.org/drawingml/2006/main" lIns="288000" anchor="ctr">
            <a:noAutofit/>
          </a:bodyPr>
          <a:lstStyle xmlns:a="http://schemas.openxmlformats.org/drawingml/2006/main">
            <a:defPPr algn="l">
              <a:defRPr sz="3200" b="1">
                <a:solidFill>
                  <a:srgbClr val="800000"/>
                </a:solidFill>
                <a:latin typeface="Arial"/>
                <a:ea typeface="Arial"/>
                <a:cs typeface="Arial"/>
              </a:defRPr>
            </a:defPPr>
          </a:lstStyle>
          <a:p xmlns:a="http://schemas.openxmlformats.org/drawingml/2006/main">
            <a:pPr algn="l">
              <a:buNone/>
              <a:defRPr sz="3200" b="1">
                <a:solidFill>
                  <a:srgbClr val="800000"/>
                </a:solidFill>
                <a:latin typeface="Arial"/>
                <a:ea typeface="Arial"/>
                <a:cs typeface="Arial"/>
              </a:defRPr>
            </a:pPr>
            <a:r>
              <a:rPr sz="3200" b="1">
                <a:solidFill>
                  <a:srgbClr val="800000"/>
                </a:solidFill>
                <a:latin typeface="Arial"/>
                <a:ea typeface="Arial"/>
                <a:cs typeface="Arial"/>
              </a:rPr>
              <a:t>Backup: complete policy comparison</a:t>
            </a:r>
            <a:endParaRPr sz="3200" b="1">
              <a:solidFill>
                <a:srgbClr val="800000"/>
              </a:solidFill>
              <a:latin typeface="Arial"/>
              <a:ea typeface="Arial"/>
              <a:cs typeface="Arial"/>
            </a:endParaRPr>
          </a:p>
        </p:txBody>
      </p:sp>
      <p:sp>
        <p:nvSpPr>
          <p:cNvPr id="5" name="Slide Number Placeholder 4">
            <a:extLst xmlns:a="http://schemas.openxmlformats.org/drawingml/2006/main">
              <a:ext uri="{FF2B5EF4-FFF2-40B4-BE49-F238E27FC236}">
                <a16:creationId xmlns:a16="http://schemas.microsoft.com/office/drawing/2014/main" id="{8BBABA77-E4F3-454E-812F-DA9A0B164253}"/>
              </a:ext>
            </a:extLst>
          </p:cNvPr>
          <p:cNvSpPr>
            <a:spLocks xmlns:a="http://schemas.openxmlformats.org/drawingml/2006/main" noGrp="1"/>
          </p:cNvSpPr>
          <p:nvPr>
            <p:ph type="sldNum" idx="12"/>
          </p:nvPr>
        </p:nvSpPr>
        <p:spPr>
          <a:xfrm xmlns:a="http://schemas.openxmlformats.org/drawingml/2006/main">
            <a:off x="11561522" y="6356350"/>
            <a:ext cx="518786" cy="362485"/>
          </a:xfrm>
        </p:spPr>
        <p:txBody>
          <a:bodyPr xmlns:a="http://schemas.openxmlformats.org/drawingml/2006/main"/>
          <a:lstStyle xmlns:a="http://schemas.openxmlformats.org/drawingml/2006/main"/>
          <a:p xmlns:a="http://schemas.openxmlformats.org/drawingml/2006/main">
            <a:pPr marL="0" marR="0" lvl="0" indent="0" algn="r" defTabSz="914400">
              <a:lnSpc>
                <a:spcPct val="100000"/>
              </a:lnSpc>
              <a:spcBef>
                <a:spcPts val="0"/>
              </a:spcBef>
              <a:spcAft>
                <a:spcPts val="0"/>
              </a:spcAft>
              <a:buClrTx/>
              <a:buSzTx/>
              <a:buFontTx/>
              <a:buNone/>
            </a:pPr>
            <a:endParaRPr sz="2000" b="0" i="0" u="none" strike="noStrike" kern="1200" cap="none" spc="0" baseline="0">
              <a:ln>
                <a:noFill/>
              </a:ln>
              <a:solidFill>
                <a:prstClr val="black">
                  <a:tint val="75000"/>
                </a:prstClr>
              </a:solidFill>
              <a:latin typeface="Arial Narrow"/>
              <a:ea typeface="Arial Narrow"/>
              <a:cs typeface="Arial Narrow"/>
            </a:endParaRPr>
          </a:p>
        </p:txBody>
      </p:sp>
      <p:sp>
        <p:nvSpPr>
          <p:cNvPr id="6" name="Rectangle 5">
            <a:extLst xmlns:a="http://schemas.openxmlformats.org/drawingml/2006/main">
              <a:ext uri="{FF2B5EF4-FFF2-40B4-BE49-F238E27FC236}">
                <a16:creationId xmlns:a16="http://schemas.microsoft.com/office/drawing/2014/main" id="{9221A55D-1438-4F74-86C2-B54D84B105D2}"/>
              </a:ext>
            </a:extLst>
          </p:cNvPr>
          <p:cNvSpPr>
            <a:spLocks xmlns:a="http://schemas.openxmlformats.org/drawingml/2006/main" noGrp="1"/>
          </p:cNvSpPr>
          <p:nvPr/>
        </p:nvSpPr>
        <p:spPr>
          <a:xfrm xmlns:a="http://schemas.openxmlformats.org/drawingml/2006/main">
            <a:off x="2000250" y="6315075"/>
            <a:ext cx="923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00" b="1">
                <a:solidFill>
                  <a:srgbClr val="151515"/>
                </a:solidFill>
                <a:latin typeface="Arial"/>
                <a:ea typeface="Arial"/>
                <a:cs typeface="Arial"/>
              </a:defRPr>
            </a:defPPr>
          </a:lstStyle>
          <a:p xmlns:a="http://schemas.openxmlformats.org/drawingml/2006/main">
            <a:pPr>
              <a:buNone/>
              <a:defRPr sz="1500" b="1">
                <a:solidFill>
                  <a:srgbClr val="151515"/>
                </a:solidFill>
                <a:latin typeface="Arial"/>
                <a:ea typeface="Arial"/>
                <a:cs typeface="Arial"/>
              </a:defRPr>
            </a:pPr>
            <a:r>
              <a:rPr sz="1500" b="1">
                <a:solidFill>
                  <a:srgbClr val="151515"/>
                </a:solidFill>
                <a:latin typeface="Arial"/>
                <a:ea typeface="Arial"/>
                <a:cs typeface="Arial"/>
              </a:rPr>
              <a:t>NarraCare    CA6124 Group Project</a:t>
            </a:r>
            <a:endParaRPr sz="1875" b="1">
              <a:solidFill>
                <a:srgbClr val="151515"/>
              </a:solidFill>
              <a:latin typeface="Arial"/>
              <a:ea typeface="Arial"/>
              <a:cs typeface="Arial"/>
            </a:endParaRPr>
          </a:p>
        </p:txBody>
      </p:sp>
      <p:sp>
        <p:nvSpPr>
          <p:cNvPr id="7" name="Rectangle 6">
            <a:extLst xmlns:a="http://schemas.openxmlformats.org/drawingml/2006/main">
              <a:ext uri="{FF2B5EF4-FFF2-40B4-BE49-F238E27FC236}">
                <a16:creationId xmlns:a16="http://schemas.microsoft.com/office/drawing/2014/main" id="{06CFA6BB-646A-4A41-B7F0-1BD04366AF36}"/>
              </a:ext>
            </a:extLst>
          </p:cNvPr>
          <p:cNvSpPr>
            <a:spLocks xmlns:a="http://schemas.openxmlformats.org/drawingml/2006/main" noGrp="1"/>
          </p:cNvSpPr>
          <p:nvPr/>
        </p:nvSpPr>
        <p:spPr>
          <a:xfrm xmlns:a="http://schemas.openxmlformats.org/drawingml/2006/main">
            <a:off x="409575" y="857250"/>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0000CC"/>
                </a:solidFill>
                <a:latin typeface="Arial"/>
                <a:ea typeface="Arial"/>
                <a:cs typeface="Arial"/>
              </a:defRPr>
            </a:defPPr>
          </a:lstStyle>
          <a:p xmlns:a="http://schemas.openxmlformats.org/drawingml/2006/main">
            <a:pPr>
              <a:buNone/>
              <a:defRPr sz="2100" b="1">
                <a:solidFill>
                  <a:srgbClr val="0000CC"/>
                </a:solidFill>
                <a:latin typeface="Arial"/>
                <a:ea typeface="Arial"/>
                <a:cs typeface="Arial"/>
              </a:defRPr>
            </a:pPr>
            <a:r>
              <a:rPr sz="2100" b="1">
                <a:solidFill>
                  <a:srgbClr val="0000CC"/>
                </a:solidFill>
                <a:latin typeface="Arial"/>
                <a:ea typeface="Arial"/>
                <a:cs typeface="Arial"/>
              </a:rPr>
              <a:t>Frozen seed-42 artifacts, 20 personas and 60 days</a:t>
            </a:r>
            <a:endParaRPr sz="2100" b="1">
              <a:solidFill>
                <a:srgbClr val="0000CC"/>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9658E995-048D-4495-A6DB-1B11DDA88971}"/>
              </a:ext>
            </a:extLst>
          </p:cNvPr>
          <p:cNvSpPr>
            <a:spLocks xmlns:a="http://schemas.openxmlformats.org/drawingml/2006/main" noGrp="1"/>
          </p:cNvSpPr>
          <p:nvPr/>
        </p:nvSpPr>
        <p:spPr>
          <a:xfrm xmlns:a="http://schemas.openxmlformats.org/drawingml/2006/main">
            <a:off x="333375" y="5153025"/>
            <a:ext cx="11525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800000"/>
                </a:solidFill>
                <a:latin typeface="Arial"/>
                <a:ea typeface="Arial"/>
                <a:cs typeface="Arial"/>
              </a:defRPr>
            </a:defPPr>
          </a:lstStyle>
          <a:p xmlns:a="http://schemas.openxmlformats.org/drawingml/2006/main">
            <a:pPr>
              <a:buNone/>
              <a:defRPr sz="2025" b="1">
                <a:solidFill>
                  <a:srgbClr val="800000"/>
                </a:solidFill>
                <a:latin typeface="Arial"/>
                <a:ea typeface="Arial"/>
                <a:cs typeface="Arial"/>
              </a:defRPr>
            </a:pPr>
            <a:r>
              <a:rPr sz="2025" b="1">
                <a:solidFill>
                  <a:srgbClr val="800000"/>
                </a:solidFill>
                <a:latin typeface="Arial"/>
                <a:ea typeface="Arial"/>
                <a:cs typeface="Arial"/>
              </a:rPr>
              <a:t>Raw SAPS IER bypasses its gate. Baseline implementations remain limited</a:t>
            </a:r>
            <a:endParaRPr sz="2175" b="1">
              <a:solidFill>
                <a:srgbClr val="800000"/>
              </a:solidFill>
              <a:latin typeface="Arial"/>
              <a:ea typeface="Arial"/>
              <a:cs typeface="Arial"/>
            </a:endParaRPr>
          </a:p>
        </p:txBody>
      </p:sp>
      <p:sp>
        <p:nvSpPr>
          <p:cNvPr id="10" name="Rectangle 9">
            <a:extLst xmlns:a="http://schemas.openxmlformats.org/drawingml/2006/main">
              <a:ext uri="{FF2B5EF4-FFF2-40B4-BE49-F238E27FC236}">
                <a16:creationId xmlns:a16="http://schemas.microsoft.com/office/drawing/2014/main" id="{71EFA2D7-755E-494B-96F9-9E35C4E8C90D}"/>
              </a:ext>
            </a:extLst>
          </p:cNvPr>
          <p:cNvSpPr>
            <a:spLocks xmlns:a="http://schemas.openxmlformats.org/drawingml/2006/main" noGrp="1"/>
          </p:cNvSpPr>
          <p:nvPr/>
        </p:nvSpPr>
        <p:spPr>
          <a:xfrm xmlns:a="http://schemas.openxmlformats.org/drawingml/2006/main">
            <a:off x="457200" y="5819775"/>
            <a:ext cx="1123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666666"/>
                </a:solidFill>
                <a:latin typeface="Arial"/>
                <a:ea typeface="Arial"/>
                <a:cs typeface="Arial"/>
              </a:defRPr>
            </a:defPPr>
          </a:lstStyle>
          <a:p xmlns:a="http://schemas.openxmlformats.org/drawingml/2006/main">
            <a:pPr>
              <a:buNone/>
              <a:defRPr sz="1575" b="0">
                <a:solidFill>
                  <a:srgbClr val="666666"/>
                </a:solidFill>
                <a:latin typeface="Arial"/>
                <a:ea typeface="Arial"/>
                <a:cs typeface="Arial"/>
              </a:defRPr>
            </a:pPr>
            <a:r>
              <a:rPr sz="1575" b="0">
                <a:solidFill>
                  <a:srgbClr val="666666"/>
                </a:solidFill>
                <a:latin typeface="Arial"/>
                <a:ea typeface="Arial"/>
                <a:cs typeface="Arial"/>
              </a:rPr>
              <a:t>Sources: evaluation/results/*60day*.json and docs/implementation_notes.md</a:t>
            </a:r>
            <a:endParaRPr sz="1575" b="0">
              <a:solidFill>
                <a:srgbClr val="666666"/>
              </a:solidFill>
              <a:latin typeface="Arial"/>
              <a:ea typeface="Arial"/>
              <a:cs typeface="Arial"/>
            </a:endParaRPr>
          </a:p>
        </p:txBody>
      </p:sp>
      <p:graphicFrame>
        <p:nvGraphicFramePr>
          <p:cNvPr id="11" name="">
            <a:extLst xmlns:a="http://schemas.openxmlformats.org/drawingml/2006/main">
              <a:ext uri="{FF2B5EF4-FFF2-40B4-BE49-F238E27FC236}">
                <a16:creationId xmlns:a16="http://schemas.microsoft.com/office/drawing/2014/main" id="{9BCAED45-2039-4ED6-AA12-F1FDA1D9E555}"/>
              </a:ext>
            </a:extLst>
          </p:cNvPr>
          <p:cNvGraphicFramePr/>
          <p:nvPr/>
        </p:nvGraphicFramePr>
        <p:xfrm>
          <a:off xmlns:a="http://schemas.openxmlformats.org/drawingml/2006/main" x="762000" y="1457325"/>
          <a:ext xmlns:a="http://schemas.openxmlformats.org/drawingml/2006/main" cx="10572750" cy="3400425"/>
        </p:xfrm>
        <a:graphic xmlns:a="http://schemas.openxmlformats.org/drawingml/2006/main">
          <a:graphicData uri="http://schemas.openxmlformats.org/drawingml/2006/table">
            <a:tbl>
              <a:tblPr/>
              <a:tblGrid>
                <a:gridCol w="4095750"/>
                <a:gridCol w="3905250"/>
                <a:gridCol w="2571750"/>
              </a:tblGrid>
              <a:tr h="423863">
                <a:tc>
                  <a:txBody>
                    <a:bodyPr lIns="76200" tIns="76200" rIns="76200" bIns="76200"/>
                    <a:lstStyle/>
                    <a:p>
                      <a:r>
                        <a:rPr sz="1875" b="1">
                          <a:solidFill>
                            <a:srgbClr val="FFFFFF"/>
                          </a:solidFill>
                          <a:latin typeface="Arial"/>
                          <a:ea typeface="Arial"/>
                          <a:cs typeface="Arial"/>
                        </a:rPr>
                        <a:t>Policy</a:t>
                      </a:r>
                    </a:p>
                  </a:txBody>
                  <a:tcPr marL="91440" marR="91440" marT="45720" marB="45720">
                    <a:solidFill>
                      <a:srgbClr val="0000CC"/>
                    </a:solidFill>
                  </a:tcPr>
                </a:tc>
                <a:tc>
                  <a:txBody>
                    <a:bodyPr lIns="76200" tIns="76200" rIns="76200" bIns="76200"/>
                    <a:lstStyle/>
                    <a:p>
                      <a:r>
                        <a:rPr sz="1875" b="1">
                          <a:solidFill>
                            <a:srgbClr val="FFFFFF"/>
                          </a:solidFill>
                          <a:latin typeface="Arial"/>
                          <a:ea typeface="Arial"/>
                          <a:cs typeface="Arial"/>
                        </a:rPr>
                        <a:t>Mean cumulative reward</a:t>
                      </a:r>
                    </a:p>
                  </a:txBody>
                  <a:tcPr marL="91440" marR="91440" marT="45720" marB="45720">
                    <a:solidFill>
                      <a:srgbClr val="0000CC"/>
                    </a:solidFill>
                  </a:tcPr>
                </a:tc>
                <a:tc>
                  <a:txBody>
                    <a:bodyPr lIns="76200" tIns="76200" rIns="76200" bIns="76200"/>
                    <a:lstStyle/>
                    <a:p>
                      <a:r>
                        <a:rPr sz="1875" b="1">
                          <a:solidFill>
                            <a:srgbClr val="FFFFFF"/>
                          </a:solidFill>
                          <a:latin typeface="Arial"/>
                          <a:ea typeface="Arial"/>
                          <a:cs typeface="Arial"/>
                        </a:rPr>
                        <a:t>Ungated IER</a:t>
                      </a:r>
                    </a:p>
                  </a:txBody>
                  <a:tcPr marL="91440" marR="91440" marT="45720" marB="45720">
                    <a:solidFill>
                      <a:srgbClr val="0000CC"/>
                    </a:solidFill>
                  </a:tcPr>
                </a:tc>
              </a:tr>
              <a:tr h="423863">
                <a:tc>
                  <a:txBody>
                    <a:bodyPr lIns="76200" tIns="76200" rIns="76200" bIns="76200"/>
                    <a:lstStyle/>
                    <a:p>
                      <a:r>
                        <a:rPr sz="1875" b="1">
                          <a:solidFill>
                            <a:srgbClr val="151515"/>
                          </a:solidFill>
                          <a:latin typeface="Arial"/>
                          <a:ea typeface="Arial"/>
                          <a:cs typeface="Arial"/>
                        </a:rPr>
                        <a:t>SAPS</a:t>
                      </a:r>
                    </a:p>
                  </a:txBody>
                  <a:tcPr marL="91440" marR="91440" marT="45720" marB="45720">
                    <a:solidFill>
                      <a:srgbClr val="FFFFFF"/>
                    </a:solidFill>
                  </a:tcPr>
                </a:tc>
                <a:tc>
                  <a:txBody>
                    <a:bodyPr lIns="76200" tIns="76200" rIns="76200" bIns="76200"/>
                    <a:lstStyle/>
                    <a:p>
                      <a:r>
                        <a:rPr sz="1875" b="1">
                          <a:solidFill>
                            <a:srgbClr val="151515"/>
                          </a:solidFill>
                          <a:latin typeface="Arial"/>
                          <a:ea typeface="Arial"/>
                          <a:cs typeface="Arial"/>
                        </a:rPr>
                        <a:t>42.02</a:t>
                      </a:r>
                    </a:p>
                  </a:txBody>
                  <a:tcPr marL="91440" marR="91440" marT="45720" marB="45720">
                    <a:solidFill>
                      <a:srgbClr val="FFFFFF"/>
                    </a:solidFill>
                  </a:tcPr>
                </a:tc>
                <a:tc>
                  <a:txBody>
                    <a:bodyPr lIns="76200" tIns="76200" rIns="76200" bIns="76200"/>
                    <a:lstStyle/>
                    <a:p>
                      <a:r>
                        <a:rPr sz="1875" b="1">
                          <a:solidFill>
                            <a:srgbClr val="151515"/>
                          </a:solidFill>
                          <a:latin typeface="Arial"/>
                          <a:ea typeface="Arial"/>
                          <a:cs typeface="Arial"/>
                        </a:rPr>
                        <a:t>0.0223</a:t>
                      </a:r>
                    </a:p>
                  </a:txBody>
                  <a:tcPr marL="91440" marR="91440" marT="45720" marB="45720">
                    <a:solidFill>
                      <a:srgbClr val="FFFFFF"/>
                    </a:solidFill>
                  </a:tcPr>
                </a:tc>
              </a:tr>
              <a:tr h="423863">
                <a:tc>
                  <a:txBody>
                    <a:bodyPr lIns="76200" tIns="76200" rIns="76200" bIns="76200"/>
                    <a:lstStyle/>
                    <a:p>
                      <a:r>
                        <a:rPr sz="1875" b="0">
                          <a:solidFill>
                            <a:srgbClr val="151515"/>
                          </a:solidFill>
                          <a:latin typeface="Arial"/>
                          <a:ea typeface="Arial"/>
                          <a:cs typeface="Arial"/>
                        </a:rPr>
                        <a:t>LinUCB</a:t>
                      </a:r>
                    </a:p>
                  </a:txBody>
                  <a:tcPr marL="91440" marR="91440" marT="45720" marB="45720">
                    <a:solidFill>
                      <a:srgbClr val="F1F1F1"/>
                    </a:solidFill>
                  </a:tcPr>
                </a:tc>
                <a:tc>
                  <a:txBody>
                    <a:bodyPr lIns="76200" tIns="76200" rIns="76200" bIns="76200"/>
                    <a:lstStyle/>
                    <a:p>
                      <a:r>
                        <a:rPr sz="1875" b="0">
                          <a:solidFill>
                            <a:srgbClr val="151515"/>
                          </a:solidFill>
                          <a:latin typeface="Arial"/>
                          <a:ea typeface="Arial"/>
                          <a:cs typeface="Arial"/>
                        </a:rPr>
                        <a:t>41.94</a:t>
                      </a:r>
                    </a:p>
                  </a:txBody>
                  <a:tcPr marL="91440" marR="91440" marT="45720" marB="45720">
                    <a:solidFill>
                      <a:srgbClr val="F1F1F1"/>
                    </a:solidFill>
                  </a:tcPr>
                </a:tc>
                <a:tc>
                  <a:txBody>
                    <a:bodyPr lIns="76200" tIns="76200" rIns="76200" bIns="76200"/>
                    <a:lstStyle/>
                    <a:p>
                      <a:r>
                        <a:rPr sz="1875" b="0">
                          <a:solidFill>
                            <a:srgbClr val="151515"/>
                          </a:solidFill>
                          <a:latin typeface="Arial"/>
                          <a:ea typeface="Arial"/>
                          <a:cs typeface="Arial"/>
                        </a:rPr>
                        <a:t>0.0233</a:t>
                      </a:r>
                    </a:p>
                  </a:txBody>
                  <a:tcPr marL="91440" marR="91440" marT="45720" marB="45720">
                    <a:solidFill>
                      <a:srgbClr val="F1F1F1"/>
                    </a:solidFill>
                  </a:tcPr>
                </a:tc>
              </a:tr>
              <a:tr h="423863">
                <a:tc>
                  <a:txBody>
                    <a:bodyPr lIns="76200" tIns="76200" rIns="76200" bIns="76200"/>
                    <a:lstStyle/>
                    <a:p>
                      <a:r>
                        <a:rPr sz="1875" b="0">
                          <a:solidFill>
                            <a:srgbClr val="151515"/>
                          </a:solidFill>
                          <a:latin typeface="Arial"/>
                          <a:ea typeface="Arial"/>
                          <a:cs typeface="Arial"/>
                        </a:rPr>
                        <a:t>NeuralUCB modified</a:t>
                      </a:r>
                    </a:p>
                  </a:txBody>
                  <a:tcPr marL="91440" marR="91440" marT="45720" marB="45720">
                    <a:solidFill>
                      <a:srgbClr val="FFFFFF"/>
                    </a:solidFill>
                  </a:tcPr>
                </a:tc>
                <a:tc>
                  <a:txBody>
                    <a:bodyPr lIns="76200" tIns="76200" rIns="76200" bIns="76200"/>
                    <a:lstStyle/>
                    <a:p>
                      <a:r>
                        <a:rPr sz="1875" b="0">
                          <a:solidFill>
                            <a:srgbClr val="151515"/>
                          </a:solidFill>
                          <a:latin typeface="Arial"/>
                          <a:ea typeface="Arial"/>
                          <a:cs typeface="Arial"/>
                        </a:rPr>
                        <a:t>38.31</a:t>
                      </a:r>
                    </a:p>
                  </a:txBody>
                  <a:tcPr marL="91440" marR="91440" marT="45720" marB="45720">
                    <a:solidFill>
                      <a:srgbClr val="FFFFFF"/>
                    </a:solidFill>
                  </a:tcPr>
                </a:tc>
                <a:tc>
                  <a:txBody>
                    <a:bodyPr lIns="76200" tIns="76200" rIns="76200" bIns="76200"/>
                    <a:lstStyle/>
                    <a:p>
                      <a:r>
                        <a:rPr sz="1875" b="0">
                          <a:solidFill>
                            <a:srgbClr val="151515"/>
                          </a:solidFill>
                          <a:latin typeface="Arial"/>
                          <a:ea typeface="Arial"/>
                          <a:cs typeface="Arial"/>
                        </a:rPr>
                        <a:t>0.0022</a:t>
                      </a:r>
                    </a:p>
                  </a:txBody>
                  <a:tcPr marL="91440" marR="91440" marT="45720" marB="45720">
                    <a:solidFill>
                      <a:srgbClr val="FFFFFF"/>
                    </a:solidFill>
                  </a:tcPr>
                </a:tc>
              </a:tr>
              <a:tr h="423863">
                <a:tc>
                  <a:txBody>
                    <a:bodyPr lIns="76200" tIns="76200" rIns="76200" bIns="76200"/>
                    <a:lstStyle/>
                    <a:p>
                      <a:r>
                        <a:rPr sz="1875" b="0">
                          <a:solidFill>
                            <a:srgbClr val="151515"/>
                          </a:solidFill>
                          <a:latin typeface="Arial"/>
                          <a:ea typeface="Arial"/>
                          <a:cs typeface="Arial"/>
                        </a:rPr>
                        <a:t>Random</a:t>
                      </a:r>
                    </a:p>
                  </a:txBody>
                  <a:tcPr marL="91440" marR="91440" marT="45720" marB="45720">
                    <a:solidFill>
                      <a:srgbClr val="F1F1F1"/>
                    </a:solidFill>
                  </a:tcPr>
                </a:tc>
                <a:tc>
                  <a:txBody>
                    <a:bodyPr lIns="76200" tIns="76200" rIns="76200" bIns="76200"/>
                    <a:lstStyle/>
                    <a:p>
                      <a:r>
                        <a:rPr sz="1875" b="0">
                          <a:solidFill>
                            <a:srgbClr val="151515"/>
                          </a:solidFill>
                          <a:latin typeface="Arial"/>
                          <a:ea typeface="Arial"/>
                          <a:cs typeface="Arial"/>
                        </a:rPr>
                        <a:t>45.94</a:t>
                      </a:r>
                    </a:p>
                  </a:txBody>
                  <a:tcPr marL="91440" marR="91440" marT="45720" marB="45720">
                    <a:solidFill>
                      <a:srgbClr val="F1F1F1"/>
                    </a:solidFill>
                  </a:tcPr>
                </a:tc>
                <a:tc>
                  <a:txBody>
                    <a:bodyPr lIns="76200" tIns="76200" rIns="76200" bIns="76200"/>
                    <a:lstStyle/>
                    <a:p>
                      <a:r>
                        <a:rPr sz="1875" b="0">
                          <a:solidFill>
                            <a:srgbClr val="151515"/>
                          </a:solidFill>
                          <a:latin typeface="Arial"/>
                          <a:ea typeface="Arial"/>
                          <a:cs typeface="Arial"/>
                        </a:rPr>
                        <a:t>0.4082</a:t>
                      </a:r>
                    </a:p>
                  </a:txBody>
                  <a:tcPr marL="91440" marR="91440" marT="45720" marB="45720">
                    <a:solidFill>
                      <a:srgbClr val="F1F1F1"/>
                    </a:solidFill>
                  </a:tcPr>
                </a:tc>
              </a:tr>
              <a:tr h="423863">
                <a:tc>
                  <a:txBody>
                    <a:bodyPr lIns="76200" tIns="76200" rIns="76200" bIns="76200"/>
                    <a:lstStyle/>
                    <a:p>
                      <a:r>
                        <a:rPr sz="1875" b="0">
                          <a:solidFill>
                            <a:srgbClr val="151515"/>
                          </a:solidFill>
                          <a:latin typeface="Arial"/>
                          <a:ea typeface="Arial"/>
                          <a:cs typeface="Arial"/>
                        </a:rPr>
                        <a:t>Popularity</a:t>
                      </a:r>
                    </a:p>
                  </a:txBody>
                  <a:tcPr marL="91440" marR="91440" marT="45720" marB="45720">
                    <a:solidFill>
                      <a:srgbClr val="FFFFFF"/>
                    </a:solidFill>
                  </a:tcPr>
                </a:tc>
                <a:tc>
                  <a:txBody>
                    <a:bodyPr lIns="76200" tIns="76200" rIns="76200" bIns="76200"/>
                    <a:lstStyle/>
                    <a:p>
                      <a:r>
                        <a:rPr sz="1875" b="0">
                          <a:solidFill>
                            <a:srgbClr val="151515"/>
                          </a:solidFill>
                          <a:latin typeface="Arial"/>
                          <a:ea typeface="Arial"/>
                          <a:cs typeface="Arial"/>
                        </a:rPr>
                        <a:t>39.03</a:t>
                      </a:r>
                    </a:p>
                  </a:txBody>
                  <a:tcPr marL="91440" marR="91440" marT="45720" marB="45720">
                    <a:solidFill>
                      <a:srgbClr val="FFFFFF"/>
                    </a:solidFill>
                  </a:tcPr>
                </a:tc>
                <a:tc>
                  <a:txBody>
                    <a:bodyPr lIns="76200" tIns="76200" rIns="76200" bIns="76200"/>
                    <a:lstStyle/>
                    <a:p>
                      <a:r>
                        <a:rPr sz="1875" b="0">
                          <a:solidFill>
                            <a:srgbClr val="151515"/>
                          </a:solidFill>
                          <a:latin typeface="Arial"/>
                          <a:ea typeface="Arial"/>
                          <a:cs typeface="Arial"/>
                        </a:rPr>
                        <a:t>0.0127</a:t>
                      </a:r>
                    </a:p>
                  </a:txBody>
                  <a:tcPr marL="91440" marR="91440" marT="45720" marB="45720">
                    <a:solidFill>
                      <a:srgbClr val="FFFFFF"/>
                    </a:solidFill>
                  </a:tcPr>
                </a:tc>
              </a:tr>
              <a:tr h="423863">
                <a:tc>
                  <a:txBody>
                    <a:bodyPr lIns="76200" tIns="76200" rIns="76200" bIns="76200"/>
                    <a:lstStyle/>
                    <a:p>
                      <a:r>
                        <a:rPr sz="1875" b="0">
                          <a:solidFill>
                            <a:srgbClr val="151515"/>
                          </a:solidFill>
                          <a:latin typeface="Arial"/>
                          <a:ea typeface="Arial"/>
                          <a:cs typeface="Arial"/>
                        </a:rPr>
                        <a:t>RuleBased</a:t>
                      </a:r>
                    </a:p>
                  </a:txBody>
                  <a:tcPr marL="91440" marR="91440" marT="45720" marB="45720">
                    <a:solidFill>
                      <a:srgbClr val="F1F1F1"/>
                    </a:solidFill>
                  </a:tcPr>
                </a:tc>
                <a:tc>
                  <a:txBody>
                    <a:bodyPr lIns="76200" tIns="76200" rIns="76200" bIns="76200"/>
                    <a:lstStyle/>
                    <a:p>
                      <a:r>
                        <a:rPr sz="1875" b="0">
                          <a:solidFill>
                            <a:srgbClr val="151515"/>
                          </a:solidFill>
                          <a:latin typeface="Arial"/>
                          <a:ea typeface="Arial"/>
                          <a:cs typeface="Arial"/>
                        </a:rPr>
                        <a:t>43.33</a:t>
                      </a:r>
                    </a:p>
                  </a:txBody>
                  <a:tcPr marL="91440" marR="91440" marT="45720" marB="45720">
                    <a:solidFill>
                      <a:srgbClr val="F1F1F1"/>
                    </a:solidFill>
                  </a:tcPr>
                </a:tc>
                <a:tc>
                  <a:txBody>
                    <a:bodyPr lIns="76200" tIns="76200" rIns="76200" bIns="76200"/>
                    <a:lstStyle/>
                    <a:p>
                      <a:r>
                        <a:rPr sz="1875" b="0">
                          <a:solidFill>
                            <a:srgbClr val="151515"/>
                          </a:solidFill>
                          <a:latin typeface="Arial"/>
                          <a:ea typeface="Arial"/>
                          <a:cs typeface="Arial"/>
                        </a:rPr>
                        <a:t>0.3257</a:t>
                      </a:r>
                    </a:p>
                  </a:txBody>
                  <a:tcPr marL="91440" marR="91440" marT="45720" marB="45720">
                    <a:solidFill>
                      <a:srgbClr val="F1F1F1"/>
                    </a:solidFill>
                  </a:tcPr>
                </a:tc>
              </a:tr>
              <a:tr h="423863">
                <a:tc>
                  <a:txBody>
                    <a:bodyPr lIns="76200" tIns="76200" rIns="76200" bIns="76200"/>
                    <a:lstStyle/>
                    <a:p>
                      <a:r>
                        <a:rPr sz="1875" b="0">
                          <a:solidFill>
                            <a:srgbClr val="151515"/>
                          </a:solidFill>
                          <a:latin typeface="Arial"/>
                          <a:ea typeface="Arial"/>
                          <a:cs typeface="Arial"/>
                        </a:rPr>
                        <a:t>EpsilonGreedy</a:t>
                      </a:r>
                    </a:p>
                  </a:txBody>
                  <a:tcPr marL="91440" marR="91440" marT="45720" marB="45720">
                    <a:solidFill>
                      <a:srgbClr val="FFFFFF"/>
                    </a:solidFill>
                  </a:tcPr>
                </a:tc>
                <a:tc>
                  <a:txBody>
                    <a:bodyPr lIns="76200" tIns="76200" rIns="76200" bIns="76200"/>
                    <a:lstStyle/>
                    <a:p>
                      <a:r>
                        <a:rPr sz="1875" b="0">
                          <a:solidFill>
                            <a:srgbClr val="151515"/>
                          </a:solidFill>
                          <a:latin typeface="Arial"/>
                          <a:ea typeface="Arial"/>
                          <a:cs typeface="Arial"/>
                        </a:rPr>
                        <a:t>40.95</a:t>
                      </a:r>
                    </a:p>
                  </a:txBody>
                  <a:tcPr marL="91440" marR="91440" marT="45720" marB="45720">
                    <a:solidFill>
                      <a:srgbClr val="FFFFFF"/>
                    </a:solidFill>
                  </a:tcPr>
                </a:tc>
                <a:tc>
                  <a:txBody>
                    <a:bodyPr lIns="76200" tIns="76200" rIns="76200" bIns="76200"/>
                    <a:lstStyle/>
                    <a:p>
                      <a:r>
                        <a:rPr sz="1875" b="0">
                          <a:solidFill>
                            <a:srgbClr val="151515"/>
                          </a:solidFill>
                          <a:latin typeface="Arial"/>
                          <a:ea typeface="Arial"/>
                          <a:cs typeface="Arial"/>
                        </a:rPr>
                        <a:t>0.0503</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22536778"/>
      </p:ext>
    </p:extLst>
  </p:cSld>
</p:sld>
</file>

<file path=ppt/slides/slide8.xml><?xml version="1.0" encoding="utf-8"?>
<p:sld xmlns:p="http://schemas.openxmlformats.org/presentationml/2006/main">
  <p:cSld>
    <p:bg>
      <p:bgPr>
        <a:blipFill xmlns:a="http://schemas.openxmlformats.org/drawingml/2006/main" rotWithShape="1">
          <a:blip xmlns:r="http://schemas.openxmlformats.org/officeDocument/2006/relationships" r:embed="Rd91cb119ac634fe8">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ECC1E37-B704-49D6-997A-68B835904F58}"/>
              </a:ext>
            </a:extLst>
          </p:cNvPr>
          <p:cNvSpPr>
            <a:spLocks xmlns:a="http://schemas.openxmlformats.org/drawingml/2006/main" noGrp="1"/>
          </p:cNvSpPr>
          <p:nvPr>
            <p:ph type="ctrTitle" idx="0"/>
          </p:nvPr>
        </p:nvSpPr>
        <p:spPr>
          <a:xfrm xmlns:a="http://schemas.openxmlformats.org/drawingml/2006/main">
            <a:off x="190500" y="0"/>
            <a:ext cx="11811000" cy="723900"/>
          </a:xfrm>
        </p:spPr>
        <p:txBody>
          <a:bodyPr xmlns:a="http://schemas.openxmlformats.org/drawingml/2006/main" lIns="288000" anchor="ctr">
            <a:noAutofit/>
          </a:bodyPr>
          <a:lstStyle xmlns:a="http://schemas.openxmlformats.org/drawingml/2006/main">
            <a:defPPr algn="l">
              <a:defRPr sz="3000" b="1">
                <a:solidFill>
                  <a:srgbClr val="800000"/>
                </a:solidFill>
                <a:latin typeface="Arial"/>
                <a:ea typeface="Arial"/>
                <a:cs typeface="Arial"/>
              </a:defRPr>
            </a:defPPr>
          </a:lstStyle>
          <a:p xmlns:a="http://schemas.openxmlformats.org/drawingml/2006/main">
            <a:pPr algn="l">
              <a:buNone/>
              <a:defRPr sz="3000" b="1">
                <a:solidFill>
                  <a:srgbClr val="800000"/>
                </a:solidFill>
                <a:latin typeface="Arial"/>
                <a:ea typeface="Arial"/>
                <a:cs typeface="Arial"/>
              </a:defRPr>
            </a:pPr>
            <a:r>
              <a:rPr sz="3000" b="1">
                <a:solidFill>
                  <a:srgbClr val="800000"/>
                </a:solidFill>
                <a:latin typeface="Arial"/>
                <a:ea typeface="Arial"/>
                <a:cs typeface="Arial"/>
              </a:rPr>
              <a:t>Backup: safety ablation evidence</a:t>
            </a:r>
            <a:endParaRPr sz="3000" b="1">
              <a:solidFill>
                <a:srgbClr val="800000"/>
              </a:solidFill>
              <a:latin typeface="Arial"/>
              <a:ea typeface="Arial"/>
              <a:cs typeface="Arial"/>
            </a:endParaRPr>
          </a:p>
        </p:txBody>
      </p:sp>
      <p:sp>
        <p:nvSpPr>
          <p:cNvPr id="5" name="Slide Number Placeholder 4">
            <a:extLst xmlns:a="http://schemas.openxmlformats.org/drawingml/2006/main">
              <a:ext uri="{FF2B5EF4-FFF2-40B4-BE49-F238E27FC236}">
                <a16:creationId xmlns:a16="http://schemas.microsoft.com/office/drawing/2014/main" id="{7696B1A8-1751-4C42-A23D-2A069AFB3BA4}"/>
              </a:ext>
            </a:extLst>
          </p:cNvPr>
          <p:cNvSpPr>
            <a:spLocks xmlns:a="http://schemas.openxmlformats.org/drawingml/2006/main" noGrp="1"/>
          </p:cNvSpPr>
          <p:nvPr>
            <p:ph type="sldNum" idx="12"/>
          </p:nvPr>
        </p:nvSpPr>
        <p:spPr>
          <a:xfrm xmlns:a="http://schemas.openxmlformats.org/drawingml/2006/main">
            <a:off x="11561522" y="6356350"/>
            <a:ext cx="518786" cy="362485"/>
          </a:xfrm>
        </p:spPr>
        <p:txBody>
          <a:bodyPr xmlns:a="http://schemas.openxmlformats.org/drawingml/2006/main"/>
          <a:lstStyle xmlns:a="http://schemas.openxmlformats.org/drawingml/2006/main"/>
          <a:p xmlns:a="http://schemas.openxmlformats.org/drawingml/2006/main">
            <a:endParaRPr sz="2000">
              <a:latin typeface="Arial Narrow"/>
              <a:ea typeface="Arial Narrow"/>
              <a:cs typeface="Arial Narrow"/>
            </a:endParaRPr>
          </a:p>
        </p:txBody>
      </p:sp>
      <p:pic>
        <p:nvPicPr>
          <p:cNvPr id="6" name="Picture 5">
            <a:extLst xmlns:a="http://schemas.openxmlformats.org/drawingml/2006/main">
              <a:ext uri="{FF2B5EF4-FFF2-40B4-BE49-F238E27FC236}">
                <a16:creationId xmlns:a16="http://schemas.microsoft.com/office/drawing/2014/main" id="{4B1AC383-A92E-4647-8BC5-FC7551703547}"/>
              </a:ext>
            </a:extLst>
          </p:cNvPr>
          <p:cNvPicPr>
            <a:picLocks xmlns:a="http://schemas.openxmlformats.org/drawingml/2006/main" noChangeAspect="1"/>
          </p:cNvPicPr>
          <p:nvPr/>
        </p:nvPicPr>
        <p:blipFill>
          <a:blip xmlns:r="http://schemas.openxmlformats.org/officeDocument/2006/relationships" xmlns:a="http://schemas.openxmlformats.org/drawingml/2006/main" r:embed="Rd91cb119ac634fe8"/>
          <a:srcRect xmlns:a="http://schemas.openxmlformats.org/drawingml/2006/main" l="1953" t="92361" r="87344" b="833"/>
          <a:stretch xmlns:a="http://schemas.openxmlformats.org/drawingml/2006/main">
            <a:fillRect l="0" t="0" r="0" b="0"/>
          </a:stretch>
        </p:blipFill>
        <p:spPr>
          <a:xfrm xmlns:a="http://schemas.openxmlformats.org/drawingml/2006/main">
            <a:off x="238125" y="6334125"/>
            <a:ext cx="1304925" cy="466725"/>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83AC6E8A-11F8-4EAF-96DE-0BC9D66B1D8C}"/>
              </a:ext>
            </a:extLst>
          </p:cNvPr>
          <p:cNvSpPr>
            <a:spLocks xmlns:a="http://schemas.openxmlformats.org/drawingml/2006/main" noGrp="1"/>
          </p:cNvSpPr>
          <p:nvPr/>
        </p:nvSpPr>
        <p:spPr>
          <a:xfrm xmlns:a="http://schemas.openxmlformats.org/drawingml/2006/main">
            <a:off x="28575" y="6210300"/>
            <a:ext cx="12087225" cy="28575"/>
          </a:xfrm>
          <a:prstGeom xmlns:a="http://schemas.openxmlformats.org/drawingml/2006/main" prst="rect">
            <a:avLst/>
          </a:prstGeom>
          <a:solidFill xmlns:a="http://schemas.openxmlformats.org/drawingml/2006/main">
            <a:srgbClr val="CC0000"/>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E9907E66-900F-4F93-98C7-7AC3BD533989}"/>
              </a:ext>
            </a:extLst>
          </p:cNvPr>
          <p:cNvSpPr>
            <a:spLocks xmlns:a="http://schemas.openxmlformats.org/drawingml/2006/main" noGrp="1"/>
          </p:cNvSpPr>
          <p:nvPr/>
        </p:nvSpPr>
        <p:spPr>
          <a:xfrm xmlns:a="http://schemas.openxmlformats.org/drawingml/2006/main">
            <a:off x="2000250" y="6315075"/>
            <a:ext cx="923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51515"/>
                </a:solidFill>
                <a:latin typeface="Arial"/>
                <a:ea typeface="Arial"/>
                <a:cs typeface="Arial"/>
              </a:defRPr>
            </a:defPPr>
          </a:lstStyle>
          <a:p xmlns:a="http://schemas.openxmlformats.org/drawingml/2006/main">
            <a:pPr>
              <a:buNone/>
              <a:defRPr sz="1500" b="1">
                <a:solidFill>
                  <a:srgbClr val="151515"/>
                </a:solidFill>
                <a:latin typeface="Arial"/>
                <a:ea typeface="Arial"/>
                <a:cs typeface="Arial"/>
              </a:defRPr>
            </a:pPr>
            <a:r>
              <a:rPr sz="1500" b="1">
                <a:solidFill>
                  <a:srgbClr val="151515"/>
                </a:solidFill>
                <a:latin typeface="Arial"/>
                <a:ea typeface="Arial"/>
                <a:cs typeface="Arial"/>
              </a:rPr>
              <a:t>NarraCare    CA6124 Group Project</a:t>
            </a:r>
            <a:endParaRPr sz="1875" b="1">
              <a:solidFill>
                <a:srgbClr val="151515"/>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492E4873-1931-4E77-A70E-7E0040DEF71F}"/>
              </a:ext>
            </a:extLst>
          </p:cNvPr>
          <p:cNvSpPr>
            <a:spLocks xmlns:a="http://schemas.openxmlformats.org/drawingml/2006/main" noGrp="1"/>
          </p:cNvSpPr>
          <p:nvPr/>
        </p:nvSpPr>
        <p:spPr>
          <a:xfrm xmlns:a="http://schemas.openxmlformats.org/drawingml/2006/main">
            <a:off x="523875" y="119062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0000CC"/>
                </a:solidFill>
                <a:latin typeface="Arial"/>
                <a:ea typeface="Arial"/>
                <a:cs typeface="Arial"/>
              </a:defRPr>
            </a:defPPr>
          </a:lstStyle>
          <a:p xmlns:a="http://schemas.openxmlformats.org/drawingml/2006/main">
            <a:pPr>
              <a:buNone/>
              <a:defRPr sz="2625" b="1">
                <a:solidFill>
                  <a:srgbClr val="0000CC"/>
                </a:solidFill>
                <a:latin typeface="Arial"/>
                <a:ea typeface="Arial"/>
                <a:cs typeface="Arial"/>
              </a:defRPr>
            </a:pPr>
            <a:r>
              <a:rPr sz="2625" b="1">
                <a:solidFill>
                  <a:srgbClr val="0000CC"/>
                </a:solidFill>
                <a:latin typeface="Arial"/>
                <a:ea typeface="Arial"/>
                <a:cs typeface="Arial"/>
              </a:rPr>
              <a:t>LinUCB with Safety</a:t>
            </a:r>
            <a:endParaRPr sz="2625" b="1">
              <a:solidFill>
                <a:srgbClr val="0000CC"/>
              </a:solidFill>
              <a:latin typeface="Arial"/>
              <a:ea typeface="Arial"/>
              <a:cs typeface="Arial"/>
            </a:endParaRPr>
          </a:p>
        </p:txBody>
      </p:sp>
      <p:sp>
        <p:nvSpPr>
          <p:cNvPr id="10" name="Rectangle 9">
            <a:extLst xmlns:a="http://schemas.openxmlformats.org/drawingml/2006/main">
              <a:ext uri="{FF2B5EF4-FFF2-40B4-BE49-F238E27FC236}">
                <a16:creationId xmlns:a16="http://schemas.microsoft.com/office/drawing/2014/main" id="{DE8AC7EF-0B39-4204-AA9A-C00B516B2FFC}"/>
              </a:ext>
            </a:extLst>
          </p:cNvPr>
          <p:cNvSpPr>
            <a:spLocks xmlns:a="http://schemas.openxmlformats.org/drawingml/2006/main" noGrp="1"/>
          </p:cNvSpPr>
          <p:nvPr/>
        </p:nvSpPr>
        <p:spPr>
          <a:xfrm xmlns:a="http://schemas.openxmlformats.org/drawingml/2006/main">
            <a:off x="523875" y="2190750"/>
            <a:ext cx="5334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800000"/>
                </a:solidFill>
                <a:latin typeface="Arial"/>
                <a:ea typeface="Arial"/>
                <a:cs typeface="Arial"/>
              </a:defRPr>
            </a:defPPr>
          </a:lstStyle>
          <a:p xmlns:a="http://schemas.openxmlformats.org/drawingml/2006/main">
            <a:pPr>
              <a:buNone/>
              <a:defRPr sz="3450" b="1">
                <a:solidFill>
                  <a:srgbClr val="800000"/>
                </a:solidFill>
                <a:latin typeface="Arial"/>
                <a:ea typeface="Arial"/>
                <a:cs typeface="Arial"/>
              </a:defRPr>
            </a:pPr>
            <a:r>
              <a:rPr sz="3450" b="1">
                <a:solidFill>
                  <a:srgbClr val="800000"/>
                </a:solidFill>
                <a:latin typeface="Arial"/>
                <a:ea typeface="Arial"/>
                <a:cs typeface="Arial"/>
              </a:rPr>
              <a:t>0 / 743</a:t>
            </a:r>
            <a:endParaRPr sz="3450" b="1">
              <a:solidFill>
                <a:srgbClr val="800000"/>
              </a:solidFill>
              <a:latin typeface="Arial"/>
              <a:ea typeface="Arial"/>
              <a:cs typeface="Arial"/>
            </a:endParaRPr>
          </a:p>
        </p:txBody>
      </p:sp>
      <p:sp>
        <p:nvSpPr>
          <p:cNvPr id="11" name="Rectangle 10">
            <a:extLst xmlns:a="http://schemas.openxmlformats.org/drawingml/2006/main">
              <a:ext uri="{FF2B5EF4-FFF2-40B4-BE49-F238E27FC236}">
                <a16:creationId xmlns:a16="http://schemas.microsoft.com/office/drawing/2014/main" id="{C11D47D6-892E-4F82-9084-C162123714A2}"/>
              </a:ext>
            </a:extLst>
          </p:cNvPr>
          <p:cNvSpPr>
            <a:spLocks xmlns:a="http://schemas.openxmlformats.org/drawingml/2006/main" noGrp="1"/>
          </p:cNvSpPr>
          <p:nvPr/>
        </p:nvSpPr>
        <p:spPr>
          <a:xfrm xmlns:a="http://schemas.openxmlformats.org/drawingml/2006/main">
            <a:off x="523875" y="3286125"/>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buNone/>
              <a:defRPr sz="2325" b="0">
                <a:solidFill>
                  <a:srgbClr val="151515"/>
                </a:solidFill>
                <a:latin typeface="Arial"/>
                <a:ea typeface="Arial"/>
                <a:cs typeface="Arial"/>
              </a:defRPr>
            </a:pPr>
            <a:r>
              <a:rPr sz="2325" b="0">
                <a:solidFill>
                  <a:srgbClr val="151515"/>
                </a:solidFill>
                <a:latin typeface="Arial"/>
                <a:ea typeface="Arial"/>
                <a:cs typeface="Arial"/>
              </a:rPr>
              <a:t>Violating accepted tasks</a:t>
            </a:r>
            <a:endParaRPr sz="2325" b="0">
              <a:solidFill>
                <a:srgbClr val="151515"/>
              </a:solidFill>
              <a:latin typeface="Arial"/>
              <a:ea typeface="Arial"/>
              <a:cs typeface="Arial"/>
            </a:endParaRPr>
          </a:p>
          <a:p xmlns:a="http://schemas.openxmlformats.org/drawingml/2006/main">
            <a:pPr>
              <a:buNone/>
              <a:defRPr sz="2325" b="0">
                <a:solidFill>
                  <a:srgbClr val="151515"/>
                </a:solidFill>
                <a:latin typeface="Arial"/>
                <a:ea typeface="Arial"/>
                <a:cs typeface="Arial"/>
              </a:defRPr>
            </a:pPr>
            <a:r>
              <a:rPr sz="2325" b="0">
                <a:solidFill>
                  <a:srgbClr val="151515"/>
                </a:solidFill>
                <a:latin typeface="Arial"/>
                <a:ea typeface="Arial"/>
                <a:cs typeface="Arial"/>
              </a:rPr>
              <a:t>Post-hoc SVR: 0.0000</a:t>
            </a:r>
            <a:endParaRPr sz="2325" b="0">
              <a:solidFill>
                <a:srgbClr val="151515"/>
              </a:solidFill>
              <a:latin typeface="Arial"/>
              <a:ea typeface="Arial"/>
              <a:cs typeface="Arial"/>
            </a:endParaRPr>
          </a:p>
        </p:txBody>
      </p:sp>
      <p:sp>
        <p:nvSpPr>
          <p:cNvPr id="12" name="Rectangle 11">
            <a:extLst xmlns:a="http://schemas.openxmlformats.org/drawingml/2006/main">
              <a:ext uri="{FF2B5EF4-FFF2-40B4-BE49-F238E27FC236}">
                <a16:creationId xmlns:a16="http://schemas.microsoft.com/office/drawing/2014/main" id="{93D69D0D-092C-447C-9049-6832108848A5}"/>
              </a:ext>
            </a:extLst>
          </p:cNvPr>
          <p:cNvSpPr>
            <a:spLocks xmlns:a="http://schemas.openxmlformats.org/drawingml/2006/main" noGrp="1"/>
          </p:cNvSpPr>
          <p:nvPr/>
        </p:nvSpPr>
        <p:spPr>
          <a:xfrm xmlns:a="http://schemas.openxmlformats.org/drawingml/2006/main">
            <a:off x="6572250" y="1190625"/>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0000CC"/>
                </a:solidFill>
                <a:latin typeface="Arial"/>
                <a:ea typeface="Arial"/>
                <a:cs typeface="Arial"/>
              </a:defRPr>
            </a:defPPr>
          </a:lstStyle>
          <a:p xmlns:a="http://schemas.openxmlformats.org/drawingml/2006/main">
            <a:pPr>
              <a:buNone/>
              <a:defRPr sz="2625" b="1">
                <a:solidFill>
                  <a:srgbClr val="0000CC"/>
                </a:solidFill>
                <a:latin typeface="Arial"/>
                <a:ea typeface="Arial"/>
                <a:cs typeface="Arial"/>
              </a:defRPr>
            </a:pPr>
            <a:r>
              <a:rPr sz="2625" b="1">
                <a:solidFill>
                  <a:srgbClr val="0000CC"/>
                </a:solidFill>
                <a:latin typeface="Arial"/>
                <a:ea typeface="Arial"/>
                <a:cs typeface="Arial"/>
              </a:rPr>
              <a:t>LinUCB without Safety</a:t>
            </a:r>
            <a:endParaRPr sz="2625" b="1">
              <a:solidFill>
                <a:srgbClr val="0000CC"/>
              </a:solidFill>
              <a:latin typeface="Arial"/>
              <a:ea typeface="Arial"/>
              <a:cs typeface="Arial"/>
            </a:endParaRPr>
          </a:p>
        </p:txBody>
      </p:sp>
      <p:sp>
        <p:nvSpPr>
          <p:cNvPr id="13" name="Rectangle 12">
            <a:extLst xmlns:a="http://schemas.openxmlformats.org/drawingml/2006/main">
              <a:ext uri="{FF2B5EF4-FFF2-40B4-BE49-F238E27FC236}">
                <a16:creationId xmlns:a16="http://schemas.microsoft.com/office/drawing/2014/main" id="{01680364-861F-4CB6-8175-F3A5CBE7645D}"/>
              </a:ext>
            </a:extLst>
          </p:cNvPr>
          <p:cNvSpPr>
            <a:spLocks xmlns:a="http://schemas.openxmlformats.org/drawingml/2006/main" noGrp="1"/>
          </p:cNvSpPr>
          <p:nvPr/>
        </p:nvSpPr>
        <p:spPr>
          <a:xfrm xmlns:a="http://schemas.openxmlformats.org/drawingml/2006/main">
            <a:off x="6572250" y="2190750"/>
            <a:ext cx="5143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800000"/>
                </a:solidFill>
                <a:latin typeface="Arial"/>
                <a:ea typeface="Arial"/>
                <a:cs typeface="Arial"/>
              </a:defRPr>
            </a:defPPr>
          </a:lstStyle>
          <a:p xmlns:a="http://schemas.openxmlformats.org/drawingml/2006/main">
            <a:pPr>
              <a:buNone/>
              <a:defRPr sz="3450" b="1">
                <a:solidFill>
                  <a:srgbClr val="800000"/>
                </a:solidFill>
                <a:latin typeface="Arial"/>
                <a:ea typeface="Arial"/>
                <a:cs typeface="Arial"/>
              </a:defRPr>
            </a:pPr>
            <a:r>
              <a:rPr sz="3450" b="1">
                <a:solidFill>
                  <a:srgbClr val="800000"/>
                </a:solidFill>
                <a:latin typeface="Arial"/>
                <a:ea typeface="Arial"/>
                <a:cs typeface="Arial"/>
              </a:rPr>
              <a:t>171 / 772</a:t>
            </a:r>
            <a:endParaRPr sz="3450" b="1">
              <a:solidFill>
                <a:srgbClr val="800000"/>
              </a:solidFill>
              <a:latin typeface="Arial"/>
              <a:ea typeface="Arial"/>
              <a:cs typeface="Arial"/>
            </a:endParaRPr>
          </a:p>
        </p:txBody>
      </p:sp>
      <p:sp>
        <p:nvSpPr>
          <p:cNvPr id="14" name="Rectangle 13">
            <a:extLst xmlns:a="http://schemas.openxmlformats.org/drawingml/2006/main">
              <a:ext uri="{FF2B5EF4-FFF2-40B4-BE49-F238E27FC236}">
                <a16:creationId xmlns:a16="http://schemas.microsoft.com/office/drawing/2014/main" id="{AF423A3E-CDD3-49CF-B580-FCF12F0779E2}"/>
              </a:ext>
            </a:extLst>
          </p:cNvPr>
          <p:cNvSpPr>
            <a:spLocks xmlns:a="http://schemas.openxmlformats.org/drawingml/2006/main" noGrp="1"/>
          </p:cNvSpPr>
          <p:nvPr/>
        </p:nvSpPr>
        <p:spPr>
          <a:xfrm xmlns:a="http://schemas.openxmlformats.org/drawingml/2006/main">
            <a:off x="6572250" y="3286125"/>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buNone/>
              <a:defRPr sz="2325" b="0">
                <a:solidFill>
                  <a:srgbClr val="151515"/>
                </a:solidFill>
                <a:latin typeface="Arial"/>
                <a:ea typeface="Arial"/>
                <a:cs typeface="Arial"/>
              </a:defRPr>
            </a:pPr>
            <a:r>
              <a:rPr sz="2325" b="0">
                <a:solidFill>
                  <a:srgbClr val="151515"/>
                </a:solidFill>
                <a:latin typeface="Arial"/>
                <a:ea typeface="Arial"/>
                <a:cs typeface="Arial"/>
              </a:rPr>
              <a:t>Violating accepted tasks</a:t>
            </a:r>
            <a:endParaRPr sz="2325" b="0">
              <a:solidFill>
                <a:srgbClr val="151515"/>
              </a:solidFill>
              <a:latin typeface="Arial"/>
              <a:ea typeface="Arial"/>
              <a:cs typeface="Arial"/>
            </a:endParaRPr>
          </a:p>
          <a:p xmlns:a="http://schemas.openxmlformats.org/drawingml/2006/main">
            <a:pPr>
              <a:buNone/>
              <a:defRPr sz="2325" b="0">
                <a:solidFill>
                  <a:srgbClr val="151515"/>
                </a:solidFill>
                <a:latin typeface="Arial"/>
                <a:ea typeface="Arial"/>
                <a:cs typeface="Arial"/>
              </a:defRPr>
            </a:pPr>
            <a:r>
              <a:rPr sz="2325" b="0">
                <a:solidFill>
                  <a:srgbClr val="151515"/>
                </a:solidFill>
                <a:latin typeface="Arial"/>
                <a:ea typeface="Arial"/>
                <a:cs typeface="Arial"/>
              </a:rPr>
              <a:t>Post-hoc SVR: 0.2215</a:t>
            </a:r>
            <a:endParaRPr sz="2325" b="0">
              <a:solidFill>
                <a:srgbClr val="151515"/>
              </a:solidFill>
              <a:latin typeface="Arial"/>
              <a:ea typeface="Arial"/>
              <a:cs typeface="Arial"/>
            </a:endParaRPr>
          </a:p>
        </p:txBody>
      </p:sp>
      <p:sp>
        <p:nvSpPr>
          <p:cNvPr id="15" name="Rectangle 14">
            <a:extLst xmlns:a="http://schemas.openxmlformats.org/drawingml/2006/main">
              <a:ext uri="{FF2B5EF4-FFF2-40B4-BE49-F238E27FC236}">
                <a16:creationId xmlns:a16="http://schemas.microsoft.com/office/drawing/2014/main" id="{667C6F01-C83E-4079-A5F6-1716F004859D}"/>
              </a:ext>
            </a:extLst>
          </p:cNvPr>
          <p:cNvSpPr>
            <a:spLocks xmlns:a="http://schemas.openxmlformats.org/drawingml/2006/main" noGrp="1"/>
          </p:cNvSpPr>
          <p:nvPr/>
        </p:nvSpPr>
        <p:spPr>
          <a:xfrm xmlns:a="http://schemas.openxmlformats.org/drawingml/2006/main">
            <a:off x="523875" y="5238750"/>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800000"/>
                </a:solidFill>
                <a:latin typeface="Arial"/>
                <a:ea typeface="Arial"/>
                <a:cs typeface="Arial"/>
              </a:defRPr>
            </a:defPPr>
          </a:lstStyle>
          <a:p xmlns:a="http://schemas.openxmlformats.org/drawingml/2006/main">
            <a:pPr>
              <a:buNone/>
              <a:defRPr sz="2175" b="1">
                <a:solidFill>
                  <a:srgbClr val="800000"/>
                </a:solidFill>
                <a:latin typeface="Arial"/>
                <a:ea typeface="Arial"/>
                <a:cs typeface="Arial"/>
              </a:defRPr>
            </a:pPr>
            <a:r>
              <a:rPr sz="2175" b="1">
                <a:solidFill>
                  <a:srgbClr val="800000"/>
                </a:solidFill>
                <a:latin typeface="Arial"/>
                <a:ea typeface="Arial"/>
                <a:cs typeface="Arial"/>
              </a:rPr>
              <a:t>Five runtime predicates. This does not establish clinical safety</a:t>
            </a:r>
            <a:endParaRPr sz="2175" b="1">
              <a:solidFill>
                <a:srgbClr val="800000"/>
              </a:solidFill>
              <a:latin typeface="Arial"/>
              <a:ea typeface="Arial"/>
              <a:cs typeface="Arial"/>
            </a:endParaRPr>
          </a:p>
        </p:txBody>
      </p:sp>
    </p:spTree>
    <p:extLst>
      <p:ext uri="{BB962C8B-B14F-4D97-AF65-F5344CB8AC3E}">
        <p14:creationId xmlns:p14="http://schemas.microsoft.com/office/powerpoint/2010/main" val="1753467895"/>
      </p:ext>
    </p:extLst>
  </p:cSld>
</p:sld>
</file>

<file path=ppt/slides/slide9.xml><?xml version="1.0" encoding="utf-8"?>
<p:sld xmlns:p="http://schemas.openxmlformats.org/presentationml/2006/main">
  <p:cSld>
    <p:bg>
      <p:bgPr>
        <a:blipFill xmlns:a="http://schemas.openxmlformats.org/drawingml/2006/main" rotWithShape="1">
          <a:blip xmlns:r="http://schemas.openxmlformats.org/officeDocument/2006/relationships" r:embed="R82a6055494be4765">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9E491C-2A8F-4233-A88B-FF965C74818D}"/>
              </a:ext>
            </a:extLst>
          </p:cNvPr>
          <p:cNvSpPr>
            <a:spLocks xmlns:a="http://schemas.openxmlformats.org/drawingml/2006/main" noGrp="1"/>
          </p:cNvSpPr>
          <p:nvPr>
            <p:ph type="ctrTitle" idx="0"/>
          </p:nvPr>
        </p:nvSpPr>
        <p:spPr>
          <a:xfrm xmlns:a="http://schemas.openxmlformats.org/drawingml/2006/main">
            <a:off x="190500" y="0"/>
            <a:ext cx="11811000" cy="723900"/>
          </a:xfrm>
        </p:spPr>
        <p:txBody>
          <a:bodyPr xmlns:a="http://schemas.openxmlformats.org/drawingml/2006/main" lIns="288000" anchor="ctr">
            <a:noAutofit/>
          </a:bodyPr>
          <a:lstStyle xmlns:a="http://schemas.openxmlformats.org/drawingml/2006/main">
            <a:defPPr algn="l">
              <a:defRPr sz="3000" b="1">
                <a:solidFill>
                  <a:srgbClr val="800000"/>
                </a:solidFill>
                <a:latin typeface="Arial"/>
                <a:ea typeface="Arial"/>
                <a:cs typeface="Arial"/>
              </a:defRPr>
            </a:defPPr>
          </a:lstStyle>
          <a:p xmlns:a="http://schemas.openxmlformats.org/drawingml/2006/main">
            <a:pPr algn="l">
              <a:buNone/>
              <a:defRPr sz="3000" b="1">
                <a:solidFill>
                  <a:srgbClr val="800000"/>
                </a:solidFill>
                <a:latin typeface="Arial"/>
                <a:ea typeface="Arial"/>
                <a:cs typeface="Arial"/>
              </a:defRPr>
            </a:pPr>
            <a:r>
              <a:rPr sz="3000" b="1">
                <a:solidFill>
                  <a:srgbClr val="800000"/>
                </a:solidFill>
                <a:latin typeface="Arial"/>
                <a:ea typeface="Arial"/>
                <a:cs typeface="Arial"/>
              </a:rPr>
              <a:t>Backup: implemented agent and its limits</a:t>
            </a:r>
            <a:endParaRPr sz="3200" b="1">
              <a:solidFill>
                <a:srgbClr val="800000"/>
              </a:solidFill>
              <a:latin typeface="Arial"/>
              <a:ea typeface="Arial"/>
              <a:cs typeface="Arial"/>
            </a:endParaRPr>
          </a:p>
        </p:txBody>
      </p:sp>
      <p:sp>
        <p:nvSpPr>
          <p:cNvPr id="5" name="Slide Number Placeholder 4">
            <a:extLst xmlns:a="http://schemas.openxmlformats.org/drawingml/2006/main">
              <a:ext uri="{FF2B5EF4-FFF2-40B4-BE49-F238E27FC236}">
                <a16:creationId xmlns:a16="http://schemas.microsoft.com/office/drawing/2014/main" id="{8453A8D4-9A83-4E2B-94E7-7BDC30E0FF49}"/>
              </a:ext>
            </a:extLst>
          </p:cNvPr>
          <p:cNvSpPr>
            <a:spLocks xmlns:a="http://schemas.openxmlformats.org/drawingml/2006/main" noGrp="1"/>
          </p:cNvSpPr>
          <p:nvPr>
            <p:ph type="sldNum" idx="12"/>
          </p:nvPr>
        </p:nvSpPr>
        <p:spPr>
          <a:xfrm xmlns:a="http://schemas.openxmlformats.org/drawingml/2006/main">
            <a:off x="11561522" y="6356350"/>
            <a:ext cx="518786" cy="362485"/>
          </a:xfrm>
        </p:spPr>
        <p:txBody>
          <a:bodyPr xmlns:a="http://schemas.openxmlformats.org/drawingml/2006/main"/>
          <a:lstStyle xmlns:a="http://schemas.openxmlformats.org/drawingml/2006/main"/>
          <a:p xmlns:a="http://schemas.openxmlformats.org/drawingml/2006/main">
            <a:pPr marL="0" marR="0" lvl="0" indent="0" algn="r" defTabSz="914400">
              <a:lnSpc>
                <a:spcPct val="100000"/>
              </a:lnSpc>
              <a:spcBef>
                <a:spcPts val="0"/>
              </a:spcBef>
              <a:spcAft>
                <a:spcPts val="0"/>
              </a:spcAft>
              <a:buClrTx/>
              <a:buSzTx/>
              <a:buFontTx/>
              <a:buNone/>
            </a:pPr>
            <a:endParaRPr sz="2000" b="0" i="0" u="none" strike="noStrike" kern="1200" cap="none" spc="0" baseline="0">
              <a:ln>
                <a:noFill/>
              </a:ln>
              <a:solidFill>
                <a:prstClr val="black">
                  <a:tint val="75000"/>
                </a:prstClr>
              </a:solidFill>
              <a:latin typeface="Arial Narrow"/>
              <a:ea typeface="Arial Narrow"/>
              <a:cs typeface="Arial Narrow"/>
            </a:endParaRPr>
          </a:p>
        </p:txBody>
      </p:sp>
      <p:sp>
        <p:nvSpPr>
          <p:cNvPr id="6" name="Rectangle 5">
            <a:extLst xmlns:a="http://schemas.openxmlformats.org/drawingml/2006/main">
              <a:ext uri="{FF2B5EF4-FFF2-40B4-BE49-F238E27FC236}">
                <a16:creationId xmlns:a16="http://schemas.microsoft.com/office/drawing/2014/main" id="{A7CDC042-F2E2-4C68-8166-54DC0AD16777}"/>
              </a:ext>
            </a:extLst>
          </p:cNvPr>
          <p:cNvSpPr>
            <a:spLocks xmlns:a="http://schemas.openxmlformats.org/drawingml/2006/main" noGrp="1"/>
          </p:cNvSpPr>
          <p:nvPr/>
        </p:nvSpPr>
        <p:spPr>
          <a:xfrm xmlns:a="http://schemas.openxmlformats.org/drawingml/2006/main">
            <a:off x="2000250" y="6315075"/>
            <a:ext cx="923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00" b="1">
                <a:solidFill>
                  <a:srgbClr val="151515"/>
                </a:solidFill>
                <a:latin typeface="Arial"/>
                <a:ea typeface="Arial"/>
                <a:cs typeface="Arial"/>
              </a:defRPr>
            </a:defPPr>
          </a:lstStyle>
          <a:p xmlns:a="http://schemas.openxmlformats.org/drawingml/2006/main">
            <a:pPr>
              <a:buNone/>
              <a:defRPr sz="1500" b="1">
                <a:solidFill>
                  <a:srgbClr val="151515"/>
                </a:solidFill>
                <a:latin typeface="Arial"/>
                <a:ea typeface="Arial"/>
                <a:cs typeface="Arial"/>
              </a:defRPr>
            </a:pPr>
            <a:r>
              <a:rPr sz="1500" b="1">
                <a:solidFill>
                  <a:srgbClr val="151515"/>
                </a:solidFill>
                <a:latin typeface="Arial"/>
                <a:ea typeface="Arial"/>
                <a:cs typeface="Arial"/>
              </a:rPr>
              <a:t>NarraCare    CA6124 Group Project</a:t>
            </a:r>
            <a:endParaRPr sz="1875" b="1">
              <a:solidFill>
                <a:srgbClr val="151515"/>
              </a:solidFill>
              <a:latin typeface="Arial"/>
              <a:ea typeface="Arial"/>
              <a:cs typeface="Arial"/>
            </a:endParaRPr>
          </a:p>
        </p:txBody>
      </p:sp>
      <p:sp>
        <p:nvSpPr>
          <p:cNvPr id="7" name="Rectangle 6">
            <a:extLst xmlns:a="http://schemas.openxmlformats.org/drawingml/2006/main">
              <a:ext uri="{FF2B5EF4-FFF2-40B4-BE49-F238E27FC236}">
                <a16:creationId xmlns:a16="http://schemas.microsoft.com/office/drawing/2014/main" id="{B0A31E5A-3E34-4E48-BDFC-FBDEE91429C1}"/>
              </a:ext>
            </a:extLst>
          </p:cNvPr>
          <p:cNvSpPr>
            <a:spLocks xmlns:a="http://schemas.openxmlformats.org/drawingml/2006/main" noGrp="1"/>
          </p:cNvSpPr>
          <p:nvPr/>
        </p:nvSpPr>
        <p:spPr>
          <a:xfrm xmlns:a="http://schemas.openxmlformats.org/drawingml/2006/main">
            <a:off x="457200" y="10572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1">
                <a:solidFill>
                  <a:srgbClr val="0000CC"/>
                </a:solidFill>
                <a:latin typeface="Arial"/>
                <a:ea typeface="Arial"/>
                <a:cs typeface="Arial"/>
              </a:defRPr>
            </a:defPPr>
          </a:lstStyle>
          <a:p xmlns:a="http://schemas.openxmlformats.org/drawingml/2006/main">
            <a:pPr>
              <a:buNone/>
              <a:defRPr sz="2475" b="1">
                <a:solidFill>
                  <a:srgbClr val="0000CC"/>
                </a:solidFill>
                <a:latin typeface="Arial"/>
                <a:ea typeface="Arial"/>
                <a:cs typeface="Arial"/>
              </a:defRPr>
            </a:pPr>
            <a:r>
              <a:rPr sz="2475" b="1">
                <a:solidFill>
                  <a:srgbClr val="0000CC"/>
                </a:solidFill>
                <a:latin typeface="Arial"/>
                <a:ea typeface="Arial"/>
                <a:cs typeface="Arial"/>
              </a:rPr>
              <a:t>Observed tool workflow</a:t>
            </a:r>
            <a:endParaRPr sz="2550" b="1">
              <a:solidFill>
                <a:srgbClr val="0000CC"/>
              </a:solidFill>
              <a:latin typeface="Arial"/>
              <a:ea typeface="Arial"/>
              <a:cs typeface="Arial"/>
            </a:endParaRPr>
          </a:p>
        </p:txBody>
      </p:sp>
      <p:sp>
        <p:nvSpPr>
          <p:cNvPr id="8" name="Rectangle 7">
            <a:extLst xmlns:a="http://schemas.openxmlformats.org/drawingml/2006/main">
              <a:ext uri="{FF2B5EF4-FFF2-40B4-BE49-F238E27FC236}">
                <a16:creationId xmlns:a16="http://schemas.microsoft.com/office/drawing/2014/main" id="{B6D278A5-627E-4DE2-8ECD-73553C5E4B39}"/>
              </a:ext>
            </a:extLst>
          </p:cNvPr>
          <p:cNvSpPr>
            <a:spLocks xmlns:a="http://schemas.openxmlformats.org/drawingml/2006/main" noGrp="1"/>
          </p:cNvSpPr>
          <p:nvPr/>
        </p:nvSpPr>
        <p:spPr>
          <a:xfrm xmlns:a="http://schemas.openxmlformats.org/drawingml/2006/main">
            <a:off x="457200" y="1666875"/>
            <a:ext cx="5286375"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51515"/>
                </a:solidFill>
                <a:latin typeface="Arial"/>
                <a:ea typeface="Arial"/>
                <a:cs typeface="Arial"/>
              </a:defRPr>
            </a:defPPr>
          </a:lstStyle>
          <a:p xmlns:a="http://schemas.openxmlformats.org/drawingml/2006/main">
            <a:pPr>
              <a:buNone/>
              <a:defRPr sz="2025" b="0">
                <a:solidFill>
                  <a:srgbClr val="151515"/>
                </a:solidFill>
                <a:latin typeface="Arial"/>
                <a:ea typeface="Arial"/>
                <a:cs typeface="Arial"/>
              </a:defRPr>
            </a:pPr>
            <a:r>
              <a:rPr sz="2025" b="0">
                <a:solidFill>
                  <a:srgbClr val="151515"/>
                </a:solidFill>
                <a:latin typeface="Arial"/>
                <a:ea typeface="Arial"/>
                <a:cs typeface="Arial"/>
              </a:rPr>
              <a:t>Clarify missing symptoms</a:t>
            </a:r>
            <a:endParaRPr sz="2325" b="0">
              <a:solidFill>
                <a:srgbClr val="151515"/>
              </a:solidFill>
              <a:latin typeface="Arial"/>
              <a:ea typeface="Arial"/>
              <a:cs typeface="Arial"/>
            </a:endParaRPr>
          </a:p>
          <a:p xmlns:a="http://schemas.openxmlformats.org/drawingml/2006/main">
            <a:pPr>
              <a:buNone/>
              <a:defRPr sz="2025" b="0">
                <a:solidFill>
                  <a:srgbClr val="151515"/>
                </a:solidFill>
                <a:latin typeface="Arial"/>
                <a:ea typeface="Arial"/>
                <a:cs typeface="Arial"/>
              </a:defRPr>
            </a:pPr>
            <a:r>
              <a:rPr sz="2025" b="0">
                <a:solidFill>
                  <a:srgbClr val="151515"/>
                </a:solidFill>
                <a:latin typeface="Arial"/>
                <a:ea typeface="Arial"/>
                <a:cs typeface="Arial"/>
              </a:rPr>
              <a:t>Retrieve and rank safe candidates</a:t>
            </a:r>
            <a:endParaRPr sz="2325" b="0">
              <a:solidFill>
                <a:srgbClr val="151515"/>
              </a:solidFill>
              <a:latin typeface="Arial"/>
              <a:ea typeface="Arial"/>
              <a:cs typeface="Arial"/>
            </a:endParaRPr>
          </a:p>
          <a:p xmlns:a="http://schemas.openxmlformats.org/drawingml/2006/main">
            <a:pPr>
              <a:buNone/>
              <a:defRPr sz="2025" b="0">
                <a:solidFill>
                  <a:srgbClr val="151515"/>
                </a:solidFill>
                <a:latin typeface="Arial"/>
                <a:ea typeface="Arial"/>
                <a:cs typeface="Arial"/>
              </a:defRPr>
            </a:pPr>
            <a:r>
              <a:rPr sz="2025" b="0">
                <a:solidFill>
                  <a:srgbClr val="151515"/>
                </a:solidFill>
                <a:latin typeface="Arial"/>
                <a:ea typeface="Arial"/>
                <a:cs typeface="Arial"/>
              </a:rPr>
              <a:t>Explain the actual selection path</a:t>
            </a:r>
            <a:endParaRPr sz="2325" b="0">
              <a:solidFill>
                <a:srgbClr val="151515"/>
              </a:solidFill>
              <a:latin typeface="Arial"/>
              <a:ea typeface="Arial"/>
              <a:cs typeface="Arial"/>
            </a:endParaRPr>
          </a:p>
          <a:p xmlns:a="http://schemas.openxmlformats.org/drawingml/2006/main">
            <a:pPr>
              <a:buNone/>
              <a:defRPr sz="2025" b="0">
                <a:solidFill>
                  <a:srgbClr val="151515"/>
                </a:solidFill>
                <a:latin typeface="Arial"/>
                <a:ea typeface="Arial"/>
                <a:cs typeface="Arial"/>
              </a:defRPr>
            </a:pPr>
            <a:r>
              <a:rPr sz="2025" b="0">
                <a:solidFill>
                  <a:srgbClr val="151515"/>
                </a:solidFill>
                <a:latin typeface="Arial"/>
                <a:ea typeface="Arial"/>
                <a:cs typeface="Arial"/>
              </a:rPr>
              <a:t>Revise preferences before feedback</a:t>
            </a:r>
            <a:endParaRPr sz="2325" b="0">
              <a:solidFill>
                <a:srgbClr val="151515"/>
              </a:solidFill>
              <a:latin typeface="Arial"/>
              <a:ea typeface="Arial"/>
              <a:cs typeface="Arial"/>
            </a:endParaRPr>
          </a:p>
          <a:p xmlns:a="http://schemas.openxmlformats.org/drawingml/2006/main">
            <a:pPr>
              <a:buNone/>
              <a:defRPr sz="2025" b="0">
                <a:solidFill>
                  <a:srgbClr val="151515"/>
                </a:solidFill>
                <a:latin typeface="Arial"/>
                <a:ea typeface="Arial"/>
                <a:cs typeface="Arial"/>
              </a:defRPr>
            </a:pPr>
            <a:r>
              <a:rPr sz="2025" b="0">
                <a:solidFill>
                  <a:srgbClr val="151515"/>
                </a:solidFill>
                <a:latin typeface="Arial"/>
                <a:ea typeface="Arial"/>
                <a:cs typeface="Arial"/>
              </a:rPr>
              <a:t>Record reported outcomes or camp</a:t>
            </a:r>
            <a:endParaRPr sz="2325" b="0">
              <a:solidFill>
                <a:srgbClr val="151515"/>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9295A1E4-D88A-4F5E-9984-0299F9E06262}"/>
              </a:ext>
            </a:extLst>
          </p:cNvPr>
          <p:cNvSpPr>
            <a:spLocks xmlns:a="http://schemas.openxmlformats.org/drawingml/2006/main" noGrp="1"/>
          </p:cNvSpPr>
          <p:nvPr/>
        </p:nvSpPr>
        <p:spPr>
          <a:xfrm xmlns:a="http://schemas.openxmlformats.org/drawingml/2006/main">
            <a:off x="6267450" y="1057275"/>
            <a:ext cx="552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1">
                <a:solidFill>
                  <a:srgbClr val="0000CC"/>
                </a:solidFill>
                <a:latin typeface="Arial"/>
                <a:ea typeface="Arial"/>
                <a:cs typeface="Arial"/>
              </a:defRPr>
            </a:defPPr>
          </a:lstStyle>
          <a:p xmlns:a="http://schemas.openxmlformats.org/drawingml/2006/main">
            <a:pPr>
              <a:buNone/>
              <a:defRPr sz="2475" b="1">
                <a:solidFill>
                  <a:srgbClr val="0000CC"/>
                </a:solidFill>
                <a:latin typeface="Arial"/>
                <a:ea typeface="Arial"/>
                <a:cs typeface="Arial"/>
              </a:defRPr>
            </a:pPr>
            <a:r>
              <a:rPr sz="2475" b="1">
                <a:solidFill>
                  <a:srgbClr val="0000CC"/>
                </a:solidFill>
                <a:latin typeface="Arial"/>
                <a:ea typeface="Arial"/>
                <a:cs typeface="Arial"/>
              </a:rPr>
              <a:t>Engineering evidence</a:t>
            </a:r>
            <a:endParaRPr sz="2550" b="1">
              <a:solidFill>
                <a:srgbClr val="0000CC"/>
              </a:solidFill>
              <a:latin typeface="Arial"/>
              <a:ea typeface="Arial"/>
              <a:cs typeface="Arial"/>
            </a:endParaRPr>
          </a:p>
        </p:txBody>
      </p:sp>
      <p:sp>
        <p:nvSpPr>
          <p:cNvPr id="10" name="Rectangle 9">
            <a:extLst xmlns:a="http://schemas.openxmlformats.org/drawingml/2006/main">
              <a:ext uri="{FF2B5EF4-FFF2-40B4-BE49-F238E27FC236}">
                <a16:creationId xmlns:a16="http://schemas.microsoft.com/office/drawing/2014/main" id="{5C7FE6C7-4770-4001-AB6F-E52B55AE1F5B}"/>
              </a:ext>
            </a:extLst>
          </p:cNvPr>
          <p:cNvSpPr>
            <a:spLocks xmlns:a="http://schemas.openxmlformats.org/drawingml/2006/main" noGrp="1"/>
          </p:cNvSpPr>
          <p:nvPr/>
        </p:nvSpPr>
        <p:spPr>
          <a:xfrm xmlns:a="http://schemas.openxmlformats.org/drawingml/2006/main">
            <a:off x="6267450" y="1666875"/>
            <a:ext cx="5476875"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51515"/>
                </a:solidFill>
                <a:latin typeface="Arial"/>
                <a:ea typeface="Arial"/>
                <a:cs typeface="Arial"/>
              </a:defRPr>
            </a:defPPr>
          </a:lstStyle>
          <a:p xmlns:a="http://schemas.openxmlformats.org/drawingml/2006/main">
            <a:pPr>
              <a:buNone/>
              <a:defRPr sz="2025" b="0">
                <a:solidFill>
                  <a:srgbClr val="151515"/>
                </a:solidFill>
                <a:latin typeface="Arial"/>
                <a:ea typeface="Arial"/>
                <a:cs typeface="Arial"/>
              </a:defRPr>
            </a:pPr>
            <a:r>
              <a:rPr sz="2025" b="0">
                <a:solidFill>
                  <a:srgbClr val="151515"/>
                </a:solidFill>
                <a:latin typeface="Arial"/>
                <a:ea typeface="Arial"/>
                <a:cs typeface="Arial"/>
              </a:rPr>
              <a:t>8 real-provider smoke cases</a:t>
            </a:r>
            <a:endParaRPr sz="2250" b="0">
              <a:solidFill>
                <a:srgbClr val="151515"/>
              </a:solidFill>
              <a:latin typeface="Arial"/>
              <a:ea typeface="Arial"/>
              <a:cs typeface="Arial"/>
            </a:endParaRPr>
          </a:p>
          <a:p xmlns:a="http://schemas.openxmlformats.org/drawingml/2006/main">
            <a:pPr>
              <a:buNone/>
              <a:defRPr sz="2025" b="0">
                <a:solidFill>
                  <a:srgbClr val="151515"/>
                </a:solidFill>
                <a:latin typeface="Arial"/>
                <a:ea typeface="Arial"/>
                <a:cs typeface="Arial"/>
              </a:defRPr>
            </a:pPr>
            <a:r>
              <a:rPr sz="2025" b="0">
                <a:solidFill>
                  <a:srgbClr val="151515"/>
                </a:solidFill>
                <a:latin typeface="Arial"/>
                <a:ea typeface="Arial"/>
                <a:cs typeface="Arial"/>
              </a:rPr>
              <a:t>67 regression tests</a:t>
            </a:r>
            <a:endParaRPr sz="2250" b="0">
              <a:solidFill>
                <a:srgbClr val="151515"/>
              </a:solidFill>
              <a:latin typeface="Arial"/>
              <a:ea typeface="Arial"/>
              <a:cs typeface="Arial"/>
            </a:endParaRPr>
          </a:p>
          <a:p xmlns:a="http://schemas.openxmlformats.org/drawingml/2006/main">
            <a:pPr>
              <a:buNone/>
              <a:defRPr sz="2025" b="0">
                <a:solidFill>
                  <a:srgbClr val="151515"/>
                </a:solidFill>
                <a:latin typeface="Arial"/>
                <a:ea typeface="Arial"/>
                <a:cs typeface="Arial"/>
              </a:defRPr>
            </a:pPr>
            <a:r>
              <a:rPr sz="2025" b="0">
                <a:solidFill>
                  <a:srgbClr val="151515"/>
                </a:solidFill>
                <a:latin typeface="Arial"/>
                <a:ea typeface="Arial"/>
                <a:cs typeface="Arial"/>
              </a:rPr>
              <a:t>Real Gradio preference and feedback</a:t>
            </a:r>
            <a:endParaRPr sz="2250" b="0">
              <a:solidFill>
                <a:srgbClr val="151515"/>
              </a:solidFill>
              <a:latin typeface="Arial"/>
              <a:ea typeface="Arial"/>
              <a:cs typeface="Arial"/>
            </a:endParaRPr>
          </a:p>
          <a:p xmlns:a="http://schemas.openxmlformats.org/drawingml/2006/main">
            <a:pPr>
              <a:buNone/>
              <a:defRPr sz="2025" b="0">
                <a:solidFill>
                  <a:srgbClr val="151515"/>
                </a:solidFill>
                <a:latin typeface="Arial"/>
                <a:ea typeface="Arial"/>
                <a:cs typeface="Arial"/>
              </a:defRPr>
            </a:pPr>
            <a:r>
              <a:rPr sz="2025" b="0">
                <a:solidFill>
                  <a:srgbClr val="151515"/>
                </a:solidFill>
                <a:latin typeface="Arial"/>
                <a:ea typeface="Arial"/>
                <a:cs typeface="Arial"/>
              </a:rPr>
              <a:t>36 frozen result files unchanged</a:t>
            </a:r>
            <a:endParaRPr sz="2250" b="0">
              <a:solidFill>
                <a:srgbClr val="151515"/>
              </a:solidFill>
              <a:latin typeface="Arial"/>
              <a:ea typeface="Arial"/>
              <a:cs typeface="Arial"/>
            </a:endParaRPr>
          </a:p>
          <a:p xmlns:a="http://schemas.openxmlformats.org/drawingml/2006/main">
            <a:pPr>
              <a:buNone/>
              <a:defRPr sz="2025" b="0">
                <a:solidFill>
                  <a:srgbClr val="151515"/>
                </a:solidFill>
                <a:latin typeface="Arial"/>
                <a:ea typeface="Arial"/>
                <a:cs typeface="Arial"/>
              </a:defRPr>
            </a:pPr>
            <a:r>
              <a:rPr sz="2025" b="0">
                <a:solidFill>
                  <a:srgbClr val="151515"/>
                </a:solidFill>
                <a:latin typeface="Arial"/>
                <a:ea typeface="Arial"/>
                <a:cs typeface="Arial"/>
              </a:rPr>
              <a:t>No conversational quality study yet</a:t>
            </a:r>
            <a:endParaRPr sz="2250" b="0">
              <a:solidFill>
                <a:srgbClr val="151515"/>
              </a:solidFill>
              <a:latin typeface="Arial"/>
              <a:ea typeface="Arial"/>
              <a:cs typeface="Arial"/>
            </a:endParaRPr>
          </a:p>
        </p:txBody>
      </p:sp>
      <p:sp>
        <p:nvSpPr>
          <p:cNvPr id="11" name="Rectangle 10">
            <a:extLst xmlns:a="http://schemas.openxmlformats.org/drawingml/2006/main">
              <a:ext uri="{FF2B5EF4-FFF2-40B4-BE49-F238E27FC236}">
                <a16:creationId xmlns:a16="http://schemas.microsoft.com/office/drawing/2014/main" id="{7230BEEF-74A2-4047-BE56-1CFA3376019E}"/>
              </a:ext>
            </a:extLst>
          </p:cNvPr>
          <p:cNvSpPr>
            <a:spLocks xmlns:a="http://schemas.openxmlformats.org/drawingml/2006/main" noGrp="1"/>
          </p:cNvSpPr>
          <p:nvPr/>
        </p:nvSpPr>
        <p:spPr>
          <a:xfrm xmlns:a="http://schemas.openxmlformats.org/drawingml/2006/main">
            <a:off x="333375" y="4895850"/>
            <a:ext cx="11525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800000"/>
                </a:solidFill>
                <a:latin typeface="Arial"/>
                <a:ea typeface="Arial"/>
                <a:cs typeface="Arial"/>
              </a:defRPr>
            </a:defPPr>
          </a:lstStyle>
          <a:p xmlns:a="http://schemas.openxmlformats.org/drawingml/2006/main">
            <a:pPr>
              <a:buNone/>
              <a:defRPr sz="2025" b="1">
                <a:solidFill>
                  <a:srgbClr val="800000"/>
                </a:solidFill>
                <a:latin typeface="Arial"/>
                <a:ea typeface="Arial"/>
                <a:cs typeface="Arial"/>
              </a:defRPr>
            </a:pPr>
            <a:r>
              <a:rPr sz="2025" b="1">
                <a:solidFill>
                  <a:srgbClr val="800000"/>
                </a:solidFill>
                <a:latin typeface="Arial"/>
                <a:ea typeface="Arial"/>
                <a:cs typeface="Arial"/>
              </a:rPr>
              <a:t>LLM chooses tools. Safety and feedback guards remain authoritative</a:t>
            </a:r>
            <a:endParaRPr sz="2175" b="1">
              <a:solidFill>
                <a:srgbClr val="800000"/>
              </a:solidFill>
              <a:latin typeface="Arial"/>
              <a:ea typeface="Arial"/>
              <a:cs typeface="Arial"/>
            </a:endParaRPr>
          </a:p>
        </p:txBody>
      </p:sp>
      <p:sp>
        <p:nvSpPr>
          <p:cNvPr id="12" name="Rectangle 11">
            <a:extLst xmlns:a="http://schemas.openxmlformats.org/drawingml/2006/main">
              <a:ext uri="{FF2B5EF4-FFF2-40B4-BE49-F238E27FC236}">
                <a16:creationId xmlns:a16="http://schemas.microsoft.com/office/drawing/2014/main" id="{235F6EFE-A9E0-4D97-BCD3-E5EEAF5264A5}"/>
              </a:ext>
            </a:extLst>
          </p:cNvPr>
          <p:cNvSpPr>
            <a:spLocks xmlns:a="http://schemas.openxmlformats.org/drawingml/2006/main" noGrp="1"/>
          </p:cNvSpPr>
          <p:nvPr/>
        </p:nvSpPr>
        <p:spPr>
          <a:xfrm xmlns:a="http://schemas.openxmlformats.org/drawingml/2006/main">
            <a:off x="457200" y="5715000"/>
            <a:ext cx="1123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66666"/>
                </a:solidFill>
                <a:latin typeface="Arial"/>
                <a:ea typeface="Arial"/>
                <a:cs typeface="Arial"/>
              </a:defRPr>
            </a:defPPr>
          </a:lstStyle>
          <a:p xmlns:a="http://schemas.openxmlformats.org/drawingml/2006/main">
            <a:pPr>
              <a:buNone/>
              <a:defRPr sz="1650" b="0">
                <a:solidFill>
                  <a:srgbClr val="666666"/>
                </a:solidFill>
                <a:latin typeface="Arial"/>
                <a:ea typeface="Arial"/>
                <a:cs typeface="Arial"/>
              </a:defRPr>
            </a:pPr>
            <a:r>
              <a:rPr sz="1650" b="0">
                <a:solidFill>
                  <a:srgbClr val="666666"/>
                </a:solidFill>
                <a:latin typeface="Arial"/>
                <a:ea typeface="Arial"/>
                <a:cs typeface="Arial"/>
              </a:rPr>
              <a:t>Agent needs a key and network. Offline HTML is a separate recorded replay</a:t>
            </a:r>
            <a:endParaRPr sz="1575" b="0">
              <a:solidFill>
                <a:srgbClr val="666666"/>
              </a:solidFill>
              <a:latin typeface="Arial"/>
              <a:ea typeface="Arial"/>
              <a:cs typeface="Arial"/>
            </a:endParaRPr>
          </a:p>
        </p:txBody>
      </p:sp>
    </p:spTree>
    <p:extLst>
      <p:ext uri="{BB962C8B-B14F-4D97-AF65-F5344CB8AC3E}">
        <p14:creationId xmlns:p14="http://schemas.microsoft.com/office/powerpoint/2010/main" val="137069812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2026-10-16T17:08:18.8330000Z</dcterms:created>
  <dcterms:modified xsi:type="dcterms:W3CDTF">2026-10-16T17:08:18.8330000Z</dcterms:modified>
</coreProperties>
</file>